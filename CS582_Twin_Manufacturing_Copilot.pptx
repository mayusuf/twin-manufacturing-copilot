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295"/>
  </p:normalViewPr>
  <p:slideViewPr>
    <p:cSldViewPr snapToGrid="0" snapToObjects="1">
      <p:cViewPr varScale="1">
        <p:scale>
          <a:sx n="113" d="100"/>
          <a:sy n="113" d="100"/>
        </p:scale>
        <p:origin x="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800" b="1">
                <a:solidFill>
                  <a:srgbClr val="142A4A"/>
                </a:solidFill>
                <a:latin typeface="Calibri"/>
                <a:ea typeface="Calibri"/>
                <a:cs typeface="Calibri"/>
              </a:rPr>
              <a:t>Failure rate by product quality</a:t>
            </a:r>
          </a:p>
        </c:rich>
      </c:tx>
      <c:overlay val="0"/>
    </c:title>
    <c:autoTitleDeleted val="0"/>
    <c:plotArea>
      <c:layout/>
      <c:barChart>
        <c:barDir val="col"/>
        <c:grouping val="clustered"/>
        <c:varyColors val="0"/>
        <c:ser>
          <c:idx val="0"/>
          <c:order val="0"/>
          <c:tx>
            <c:v>Failure rate</c:v>
          </c:tx>
          <c:spPr>
            <a:solidFill>
              <a:srgbClr val="2F66AD"/>
            </a:solidFill>
          </c:spPr>
          <c:invertIfNegative val="1"/>
          <c:dLbls>
            <c:numFmt formatCode="0.0%" sourceLinked="0"/>
            <c:spPr>
              <a:noFill/>
              <a:ln>
                <a:noFill/>
              </a:ln>
              <a:effectLst/>
            </c:spPr>
            <c:txPr>
              <a:bodyPr anchorCtr="1"/>
              <a:lstStyle/>
              <a:p>
                <a:pPr>
                  <a:defRPr sz="1350" b="1">
                    <a:solidFill>
                      <a:srgbClr val="142A4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c:v>
                </c:pt>
                <c:pt idx="1">
                  <c:v>M</c:v>
                </c:pt>
                <c:pt idx="2">
                  <c:v>H</c:v>
                </c:pt>
              </c:strCache>
            </c:strRef>
          </c:cat>
          <c:val>
            <c:numRef>
              <c:f>'Chart Data'!$B$2:$B$4</c:f>
              <c:numCache>
                <c:formatCode>0.0%</c:formatCode>
                <c:ptCount val="3"/>
                <c:pt idx="0">
                  <c:v>3.9166666699999998E-2</c:v>
                </c:pt>
                <c:pt idx="1">
                  <c:v>2.7694361000000001E-2</c:v>
                </c:pt>
                <c:pt idx="2">
                  <c:v>2.0937188400000001E-2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268-E949-A2CF-6264C5E7A1A3}"/>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D2DCE6"/>
            </a:solidFill>
          </a:ln>
        </c:spPr>
        <c:txPr>
          <a:bodyPr anchorCtr="1"/>
          <a:lstStyle/>
          <a:p>
            <a:pPr>
              <a:defRPr sz="1275">
                <a:solidFill>
                  <a:srgbClr val="232323"/>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0.05"/>
          <c:min val="0"/>
        </c:scaling>
        <c:delete val="0"/>
        <c:axPos val="l"/>
        <c:majorGridlines>
          <c:spPr>
            <a:ln w="5715">
              <a:solidFill>
                <a:srgbClr val="D2DCE6"/>
              </a:solidFill>
            </a:ln>
          </c:spPr>
        </c:majorGridlines>
        <c:numFmt formatCode="0.0%" sourceLinked="1"/>
        <c:majorTickMark val="none"/>
        <c:minorTickMark val="none"/>
        <c:tickLblPos val="nextTo"/>
        <c:spPr>
          <a:ln w="0">
            <a:noFill/>
          </a:ln>
        </c:spPr>
        <c:txPr>
          <a:bodyPr anchorCtr="1"/>
          <a:lstStyle/>
          <a:p>
            <a:pPr>
              <a:defRPr sz="1200">
                <a:solidFill>
                  <a:srgbClr val="64696E"/>
                </a:solidFill>
                <a:latin typeface="Calibri"/>
                <a:ea typeface="Calibri"/>
                <a:cs typeface="Calibri"/>
              </a:defRPr>
            </a:pPr>
            <a:endParaRPr lang="en-US"/>
          </a:p>
        </c:txPr>
        <c:crossAx val="48650112"/>
        <c:crosses val="autoZero"/>
        <c:crossBetween val="between"/>
        <c:majorUnit val="0.01"/>
      </c:valAx>
      <c:spPr>
        <a:solidFill>
          <a:srgbClr val="F2F6FA"/>
        </a:solidFill>
      </c:spPr>
    </c:plotArea>
    <c:plotVisOnly val="1"/>
    <c:dispBlanksAs val="zero"/>
    <c:showDLblsOverMax val="1"/>
  </c:chart>
  <c:spPr>
    <a:solidFill>
      <a:srgbClr val="F2F6FA"/>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800" b="1">
                <a:solidFill>
                  <a:srgbClr val="142A4A"/>
                </a:solidFill>
                <a:latin typeface="Calibri"/>
                <a:ea typeface="Calibri"/>
                <a:cs typeface="Calibri"/>
              </a:rPr>
              <a:t>Failure detection trade-off</a:t>
            </a:r>
          </a:p>
        </c:rich>
      </c:tx>
      <c:overlay val="0"/>
    </c:title>
    <c:autoTitleDeleted val="0"/>
    <c:plotArea>
      <c:layout/>
      <c:barChart>
        <c:barDir val="col"/>
        <c:grouping val="clustered"/>
        <c:varyColors val="0"/>
        <c:ser>
          <c:idx val="0"/>
          <c:order val="0"/>
          <c:tx>
            <c:v>Random Forest</c:v>
          </c:tx>
          <c:spPr>
            <a:solidFill>
              <a:srgbClr val="2F66AD"/>
            </a:solidFill>
          </c:spPr>
          <c:invertIfNegative val="1"/>
          <c:dLbls>
            <c:numFmt formatCode="0%" sourceLinked="0"/>
            <c:spPr>
              <a:noFill/>
              <a:ln>
                <a:noFill/>
              </a:ln>
              <a:effectLst/>
            </c:spPr>
            <c:txPr>
              <a:bodyPr anchorCtr="1"/>
              <a:lstStyle/>
              <a:p>
                <a:pPr>
                  <a:defRPr sz="1350" b="1">
                    <a:solidFill>
                      <a:srgbClr val="142A4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Precision</c:v>
                </c:pt>
                <c:pt idx="1">
                  <c:v>Recall</c:v>
                </c:pt>
                <c:pt idx="2">
                  <c:v>F1</c:v>
                </c:pt>
              </c:strCache>
            </c:strRef>
          </c:cat>
          <c:val>
            <c:numRef>
              <c:f>'Chart Data'!$B$2:$B$4</c:f>
              <c:numCache>
                <c:formatCode>0%</c:formatCode>
                <c:ptCount val="3"/>
                <c:pt idx="0">
                  <c:v>0.91666666669999997</c:v>
                </c:pt>
                <c:pt idx="1">
                  <c:v>0.80882352940000002</c:v>
                </c:pt>
                <c:pt idx="2">
                  <c:v>0.859375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6C3-A643-AD0D-6951E240DA86}"/>
            </c:ext>
          </c:extLst>
        </c:ser>
        <c:ser>
          <c:idx val="1"/>
          <c:order val="1"/>
          <c:tx>
            <c:v>XGBoost</c:v>
          </c:tx>
          <c:spPr>
            <a:solidFill>
              <a:srgbClr val="142A4A"/>
            </a:solidFill>
          </c:spPr>
          <c:invertIfNegative val="1"/>
          <c:dLbls>
            <c:numFmt formatCode="0%" sourceLinked="0"/>
            <c:spPr>
              <a:noFill/>
              <a:ln>
                <a:noFill/>
              </a:ln>
              <a:effectLst/>
            </c:spPr>
            <c:txPr>
              <a:bodyPr anchorCtr="1"/>
              <a:lstStyle/>
              <a:p>
                <a:pPr>
                  <a:defRPr sz="1350" b="1">
                    <a:solidFill>
                      <a:srgbClr val="142A4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Precision</c:v>
                </c:pt>
                <c:pt idx="1">
                  <c:v>Recall</c:v>
                </c:pt>
                <c:pt idx="2">
                  <c:v>F1</c:v>
                </c:pt>
              </c:strCache>
            </c:strRef>
          </c:cat>
          <c:val>
            <c:numRef>
              <c:f>'Chart Data'!$D$2:$D$4</c:f>
              <c:numCache>
                <c:formatCode>0%</c:formatCode>
                <c:ptCount val="3"/>
                <c:pt idx="0">
                  <c:v>0.75</c:v>
                </c:pt>
                <c:pt idx="1">
                  <c:v>0.83823529409999997</c:v>
                </c:pt>
                <c:pt idx="2">
                  <c:v>0.79166666669999997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6C3-A643-AD0D-6951E240DA86}"/>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D2DCE6"/>
            </a:solidFill>
          </a:ln>
        </c:spPr>
        <c:txPr>
          <a:bodyPr anchorCtr="1"/>
          <a:lstStyle/>
          <a:p>
            <a:pPr>
              <a:defRPr sz="1275">
                <a:solidFill>
                  <a:srgbClr val="232323"/>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5715">
              <a:solidFill>
                <a:srgbClr val="D2DCE6"/>
              </a:solidFill>
            </a:ln>
          </c:spPr>
        </c:majorGridlines>
        <c:numFmt formatCode="0%" sourceLinked="1"/>
        <c:majorTickMark val="none"/>
        <c:minorTickMark val="none"/>
        <c:tickLblPos val="nextTo"/>
        <c:spPr>
          <a:ln w="0">
            <a:noFill/>
          </a:ln>
        </c:spPr>
        <c:txPr>
          <a:bodyPr anchorCtr="1"/>
          <a:lstStyle/>
          <a:p>
            <a:pPr>
              <a:defRPr sz="1200">
                <a:solidFill>
                  <a:srgbClr val="64696E"/>
                </a:solidFill>
                <a:latin typeface="Calibri"/>
                <a:ea typeface="Calibri"/>
                <a:cs typeface="Calibri"/>
              </a:defRPr>
            </a:pPr>
            <a:endParaRPr lang="en-US"/>
          </a:p>
        </c:txPr>
        <c:crossAx val="48650112"/>
        <c:crosses val="autoZero"/>
        <c:crossBetween val="between"/>
        <c:majorUnit val="0.2"/>
      </c:valAx>
      <c:spPr>
        <a:solidFill>
          <a:srgbClr val="F2F6FA"/>
        </a:solidFill>
      </c:spPr>
    </c:plotArea>
    <c:legend>
      <c:legendPos val="b"/>
      <c:overlay val="0"/>
      <c:txPr>
        <a:bodyPr anchorCtr="1"/>
        <a:lstStyle/>
        <a:p>
          <a:pPr>
            <a:defRPr sz="1275">
              <a:solidFill>
                <a:srgbClr val="232323"/>
              </a:solidFill>
              <a:latin typeface="Calibri"/>
              <a:ea typeface="Calibri"/>
              <a:cs typeface="Calibri"/>
            </a:defRPr>
          </a:pPr>
          <a:endParaRPr lang="en-US"/>
        </a:p>
      </c:txPr>
    </c:legend>
    <c:plotVisOnly val="1"/>
    <c:dispBlanksAs val="zero"/>
    <c:showDLblsOverMax val="1"/>
  </c:chart>
  <c:spPr>
    <a:solidFill>
      <a:srgbClr val="F2F6FA"/>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implemented Twin Manufacturing Copilot. This presentation reports the saved Random Forest and XGBoost experiment plus the GPT-4.1 mini tool/state evaluation completed on October 17, 2026. Keep the predictive model and LLM results separate. Team 15 and course details come from the supplied template.</a:t>
            </a:r>
          </a:p>
          <a:p>
            <a:endParaRPr/>
          </a:p>
          <a:p>
            <a:r>
              <a:t>Sources:</a:t>
            </a:r>
          </a:p>
          <a:p>
            <a:r>
              <a:t>/Users/yusuf/MIU/courses/DE/ML/Project/CS582_Agentic_Digital_Twin_Primary_Presentation.pptx</a:t>
            </a:r>
          </a:p>
          <a:p>
            <a:r>
              <a:t>/Users/yusuf/MIU/courses/DE/ML/Project/Twin-Manufacturing-Copilot/README.md</a:t>
            </a:r>
          </a:p>
          <a:p>
            <a:r>
              <a:t>/Users/yusuf/MIU/courses/DE/ML/Project/Twin-Manufacturing-Copilot/reports/copilot_evaluation/20261017T173307Z_evaluation/manifest.json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system is a course prototype. Discuss downtime and maintenance support as motivation and potential benefits, not measured outcomes. The dataset does not supply a prospective failure horizon, so avoid claiming that the prototype predicts how many hours remain before failure.</a:t>
            </a:r>
          </a:p>
          <a:p>
            <a:endParaRPr/>
          </a:p>
          <a:p>
            <a:r>
              <a:t>Sources:</a:t>
            </a:r>
          </a:p>
          <a:p>
            <a:r>
              <a:t>/Users/yusuf/MIU/courses/DE/ML/Project/Twin-Manufacturing-Copilot/README.md</a:t>
            </a:r>
          </a:p>
          <a:p>
            <a:r>
              <a:t>/Users/yusuf/MIU/courses/DE/ML/Project/Twin-Manufacturing-Copilot/src/digital_twin/twin.py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AI4I is a synthetic dataset. The repository contains 10,000 records and 339 failures. The held-out test set contains 2,000 records, including 68 failures. Source-row failure labels describe the observation, not failure within a future time interval. The paper reports the existing fixed split with random_state=42.</a:t>
            </a:r>
          </a:p>
          <a:p>
            <a:endParaRPr/>
          </a:p>
          <a:p>
            <a:r>
              <a:t>Sources:</a:t>
            </a:r>
          </a:p>
          <a:p>
            <a:r>
              <a:t>https://archive.ics.uci.edu/dataset/601/ai4i+2020+predictive+maintenance+dataset</a:t>
            </a:r>
          </a:p>
          <a:p>
            <a:r>
              <a:t>https://doi.org/10.24432/C5HS5C</a:t>
            </a:r>
          </a:p>
          <a:p>
            <a:r>
              <a:t>/Users/yusuf/MIU/courses/DE/ML/Project/Twin-Manufacturing-Copilot/reports/tables/target_class_distribution.csv</a:t>
            </a:r>
          </a:p>
          <a:p>
            <a:r>
              <a:t>/Users/yusuf/MIU/courses/DE/ML/Project/Twin-Manufacturing-Copilot/src/prediction/split_data.py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descriptive associations across the full synthetic dataset. They do not establish the effect of changing an individual machine input. Quality L has 235/6,000 failures, M has 83/2,997, and H has 21/1,003. Full-dataset EDA preceded the current final evaluation and should be disclosed when discussing experimental independence.</a:t>
            </a:r>
          </a:p>
          <a:p>
            <a:endParaRPr/>
          </a:p>
          <a:p>
            <a:r>
              <a:t>Sources:</a:t>
            </a:r>
          </a:p>
          <a:p>
            <a:r>
              <a:t>/Users/yusuf/MIU/courses/DE/ML/Project/Twin-Manufacturing-Copilot/reports/eda_slide_notes.md</a:t>
            </a:r>
          </a:p>
          <a:p>
            <a:r>
              <a:t>/Users/yusuf/MIU/courses/DE/ML/Project/Twin-Manufacturing-Copilot/reports/tables/failure_rate_by_product_quality.csv</a:t>
            </a:r>
          </a:p>
          <a:p>
            <a:r>
              <a:t>/Users/yusuf/MIU/courses/DE/ML/Project/Twin-Manufacturing-Copilot/reports/tables/feature_summary_by_failure.csv</a:t>
            </a:r>
          </a:p>
          <a:p>
            <a:r>
              <a:t>https://archive.ics.uci.edu/dataset/601/ai4i+2020+predictive+maintenance+dataset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14 features comprise five original numeric measurements, six engineered numeric features, and three fixed-category quality indicators. IDs UDI and Product ID and target-derived TWF/HDF/PWF/OSF/RNF are excluded. Features are target-independent formulas. No resampling or learned scaling is applied. XGBoost uses 7,729/271=28.5203 for scale_pos_weight. No prospective validation or hyperparameter-search advantage is claimed.</a:t>
            </a:r>
          </a:p>
          <a:p>
            <a:endParaRPr/>
          </a:p>
          <a:p>
            <a:r>
              <a:t>Sources:</a:t>
            </a:r>
          </a:p>
          <a:p>
            <a:r>
              <a:t>/Users/yusuf/MIU/courses/DE/ML/Project/Twin-Manufacturing-Copilot/src/prediction/preprocess_data.py</a:t>
            </a:r>
          </a:p>
          <a:p>
            <a:r>
              <a:t>/Users/yusuf/MIU/courses/DE/ML/Project/Twin-Manufacturing-Copilot/src/prediction/feature_engineering.py</a:t>
            </a:r>
          </a:p>
          <a:p>
            <a:r>
              <a:t>/Users/yusuf/MIU/courses/DE/ML/Project/Twin-Manufacturing-Copilot/src/prediction/train_model.py</a:t>
            </a:r>
          </a:p>
          <a:p>
            <a:r>
              <a:t>/Users/yusuf/MIU/courses/DE/ML/Project/Twin-Manufacturing-Copilot/models/random_forest_metadata.json</a:t>
            </a:r>
          </a:p>
          <a:p>
            <a:r>
              <a:t>/Users/yusuf/MIU/courses/DE/ML/Project/Twin-Manufacturing-Copilot/models/xgboost_metadata.json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metrics come from saved model metadata with a fixed threshold of 0.5. Random Forest is the active twin model. XGBoost has higher recall, ROC-AUC and average precision. Do not say that Random Forest wins every metric. Selection reflects the reported precision/F1 trade-off and has not been independently validated against a maintenance cost function. Average precision is the sklearn precision-recall summary, not trapezoidal PR-AUC.</a:t>
            </a:r>
          </a:p>
          <a:p>
            <a:endParaRPr/>
          </a:p>
          <a:p>
            <a:r>
              <a:t>Sources:</a:t>
            </a:r>
          </a:p>
          <a:p>
            <a:r>
              <a:t>/Users/yusuf/MIU/courses/DE/ML/Project/Twin-Manufacturing-Copilot/reports/tables/model_comparison.csv</a:t>
            </a:r>
          </a:p>
          <a:p>
            <a:r>
              <a:t>/Users/yusuf/MIU/courses/DE/ML/Project/Twin-Manufacturing-Copilot/models/random_forest_metadata.json</a:t>
            </a:r>
          </a:p>
          <a:p>
            <a:r>
              <a:t>/Users/yusuf/MIU/courses/DE/ML/Project/Twin-Manufacturing-Copilot/models/xgboost_metadata.json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show actual labels and columns show predicted labels. Both models evaluate 1,932 actual normal cases and 68 actual failures. Random Forest failure recall is 55/68 and XGBoost recall is 57/68. The appropriate operational trade-off depends on costs that the project has not measured.</a:t>
            </a:r>
          </a:p>
          <a:p>
            <a:endParaRPr/>
          </a:p>
          <a:p>
            <a:r>
              <a:t>Sources:</a:t>
            </a:r>
          </a:p>
          <a:p>
            <a:r>
              <a:t>/Users/yusuf/MIU/courses/DE/ML/Project/Twin-Manufacturing-Copilot/reports/tables/model_comparison.csv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updates the architecture supplied in the template. The current system uses entered or dataset-derived inputs, not a connected live sensor feed. The twin uses Random Forest. XGBoost remains a saved comparator. The graph injects fresh twin context at the start of each question, allows bounded tool calls, and returns explanations. What-if simulation preserves the baseline. No physical machine control is implemented.</a:t>
            </a:r>
          </a:p>
          <a:p>
            <a:endParaRPr/>
          </a:p>
          <a:p>
            <a:r>
              <a:t>Sources:</a:t>
            </a:r>
          </a:p>
          <a:p>
            <a:r>
              <a:t>/Users/yusuf/MIU/courses/DE/ML/Project/Twin-Manufacturing-Copilot/app.py</a:t>
            </a:r>
          </a:p>
          <a:p>
            <a:r>
              <a:t>/Users/yusuf/MIU/courses/DE/ML/Project/Twin-Manufacturing-Copilot/src/digital_twin/twin.py</a:t>
            </a:r>
          </a:p>
          <a:p>
            <a:r>
              <a:t>/Users/yusuf/MIU/courses/DE/ML/Project/Twin-Manufacturing-Copilot/src/copilot/agent.py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UpdateState evaluates a candidate before committing, leaving the prior state intact after invalid updates. PredictFailure reuses the saved snapshot rather than re-running inference. Simulate creates an independent scenario with timestamped baseline/scenario snapshots. Risk is an uncalibrated model score and the health indicator is 100 minus risk, not an independently measured health quantity or remaining useful life.</a:t>
            </a:r>
          </a:p>
          <a:p>
            <a:endParaRPr/>
          </a:p>
          <a:p>
            <a:r>
              <a:t>Sources:</a:t>
            </a:r>
          </a:p>
          <a:p>
            <a:r>
              <a:t>/Users/yusuf/MIU/courses/DE/ML/Project/Twin-Manufacturing-Copilot/src/digital_twin/twin.py</a:t>
            </a:r>
          </a:p>
          <a:p>
            <a:r>
              <a:t>/Users/yusuf/MIU/courses/DE/ML/Project/Twin-Manufacturing-Copilot/tests/test_digital_twin.py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Tools are get_current_state, get_machine_history, simulate_scenario, get_latest_simulation and get_model_results. The current snapshot is already injected into each system context, so current-state questions do not require a redundant tool call. The agent uses the Responses API, a maximum of six tool rounds, and up to ten completed conversational turns. Ordinary machine questions should reuse existing inference. There is no SHAP, maintenance-manual retrieval or automatic machine control.</a:t>
            </a:r>
          </a:p>
          <a:p>
            <a:endParaRPr/>
          </a:p>
          <a:p>
            <a:r>
              <a:t>Sources:</a:t>
            </a:r>
          </a:p>
          <a:p>
            <a:r>
              <a:t>/Users/yusuf/MIU/courses/DE/ML/Project/Twin-Manufacturing-Copilot/src/copilot/agent.py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is actual project UI provided by the user. It shows a separate dashboard demonstration, not evaluation case EVAL-what_if-01 shown later. In this screenshot, the baseline score is 0 and scenario score is 1.33. Changes include process temperature, RPM, torque and wear. The four app tabs are Machine state, What-if simulation, Model results and Copilot. Describe the dashboard as a single-session prototype.</a:t>
            </a:r>
          </a:p>
          <a:p>
            <a:endParaRPr/>
          </a:p>
          <a:p>
            <a:r>
              <a:t>Sources:</a:t>
            </a:r>
          </a:p>
          <a:p>
            <a:r>
              <a:t>/Users/yusuf/MIU/courses/DE/ML/Project/Twin-Manufacturing-Copilot/app.py</a:t>
            </a:r>
          </a:p>
          <a:p>
            <a:r>
              <a:t>User-provided screenshot, codex-clipboard-5a4b19b3-43b7-4c50-beca-776ef0fb54af.png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newly authored suite contains six categories with ten final tasks each. Development has twelve different tasks with distinct base source rows. Selection covers observed failures, low-score normal records and records nearest the model threshold. This balanced stress test does not estimate real-world task prevalence. Labels select coverage and never enter agent prompts. Each case gets three independent trials; the ten history cases add a warm-up turn, giving 210 turns. Numerical outputs are referenced to direct twin calls. This adapts outcome-based repeated-trial evaluation, not the tau-bench dataset itself. Final language-quality grading remains pending.</a:t>
            </a:r>
          </a:p>
          <a:p>
            <a:endParaRPr/>
          </a:p>
          <a:p>
            <a:r>
              <a:t>Sources:</a:t>
            </a:r>
          </a:p>
          <a:p>
            <a:r>
              <a:t>/Users/yusuf/MIU/courses/DE/ML/Project/Twin-Manufacturing-Copilot/evaluation/copilot_v1/README.md</a:t>
            </a:r>
          </a:p>
          <a:p>
            <a:r>
              <a:t>/Users/yusuf/MIU/courses/DE/ML/Project/Twin-Manufacturing-Copilot/evaluation/copilot_v1/scenarios.json</a:t>
            </a:r>
          </a:p>
          <a:p>
            <a:r>
              <a:t>/Users/yusuf/MIU/courses/DE/ML/Project/Twin-Manufacturing-Copilot/reports/copilot_evaluation/20261017T173307Z_evaluation/manifest.json</a:t>
            </a:r>
          </a:p>
          <a:p>
            <a:r>
              <a:t>https://arxiv.org/abs/2406.12045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strict automatic execution checks, not overall Copilot accuracy. All 180 trials completed without execution errors. A task-trial must pass every turn. Forty-six of sixty tasks passed the checks in all three repeats, 76.67%. The mean latency is per completed turn, excluding agent initialization. Category counts total 145 passes from 180 trials. No human-review result column appears on this slide as requested. Human review has not yet established explanation quality or unsupported-claim rate. Exact-argument scoring counts redundant unchanged fields as violations even when numerical outputs agree.</a:t>
            </a:r>
          </a:p>
          <a:p>
            <a:endParaRPr/>
          </a:p>
          <a:p>
            <a:r>
              <a:t>Sources:</a:t>
            </a:r>
          </a:p>
          <a:p>
            <a:r>
              <a:t>/Users/yusuf/MIU/courses/DE/ML/Project/Twin-Manufacturing-Copilot/reports/copilot_evaluation/20261017T173307Z_evaluation/summary.json</a:t>
            </a:r>
          </a:p>
          <a:p>
            <a:r>
              <a:t>/Users/yusuf/MIU/courses/DE/ML/Project/Twin-Manufacturing-Copilot/reports/copilot_evaluation/20261017T173307Z_evaluation/results_table.csv</a:t>
            </a:r>
          </a:p>
          <a:p>
            <a:r>
              <a:t>/Users/yusuf/MIU/courses/DE/ML/Project/Twin-Manufacturing-Copilot/reports/copilot_evaluation/20261017T173307Z_evaluation/interpretation_notes.md</a:t>
            </a:r>
          </a:p>
          <a:p>
            <a:r>
              <a:t>/Users/yusuf/MIU/courses/DE/ML/Project/Twin-Manufacturing-Copilot/reports/copilot_evaluation/20261017T173307Z_evaluation/trials.jsonl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Case EVAL-what_if-01 uses AI4I test row 502, zero-based. Initial inputs: quality L, air 302.6 K, process 310.9 K, speed 1,331 rpm, torque 52 Nm and wear 154 min. Replacing the tool sets wear to zero. Scores are 98.3333 and 80.3333, difference -18. All three trials called the correct tool, preserved baseline and matched the output. Latencies: 3.074747709, 2.925330333 and 2.639545209 s. Actual responses still require independent review for appropriate causal wording. This scenario does not prove a real physical benefit.</a:t>
            </a:r>
          </a:p>
          <a:p>
            <a:endParaRPr/>
          </a:p>
          <a:p>
            <a:r>
              <a:t>Sources:</a:t>
            </a:r>
          </a:p>
          <a:p>
            <a:r>
              <a:t>/Users/yusuf/MIU/courses/DE/ML/Project/Twin-Manufacturing-Copilot/reports/copilot_evaluation/20261017T173307Z_evaluation/EVAL-what_if-01.json</a:t>
            </a:r>
          </a:p>
          <a:p>
            <a:r>
              <a:t>/Users/yusuf/MIU/courses/DE/ML/Project/Twin-Manufacturing-Copilot/reports/copilot_evaluation/20261017T173307Z_evaluation/EVAL-what_if-01.md</a:t>
            </a:r>
          </a:p>
          <a:p>
            <a:r>
              <a:t>/Users/yusuf/MIU/courses/DE/ML/Project/Twin-Manufacturing-Copilot/reports/copilot_evaluation/20261017T173307Z_evaluation/trials.jsonl, lines 31–33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twin is a virtual state model, not a synchronized physics-based digital replica. Session history can include manually entered scenarios and is not a live sensor stream. Health is an inverse-risk indicator, not measured condition. The study has not calibrated scores, estimated remaining useful life, demonstrated causal intervention effects, or measured maintenance outcomes. The 60-task suite is balanced for stress coverage and is small at the category level. Human answer grading and a dashboard-only operator comparison remain future work.</a:t>
            </a:r>
          </a:p>
          <a:p>
            <a:endParaRPr/>
          </a:p>
          <a:p>
            <a:r>
              <a:t>Sources:</a:t>
            </a:r>
          </a:p>
          <a:p>
            <a:r>
              <a:t>/Users/yusuf/MIU/courses/DE/ML/Project/Twin-Manufacturing-Copilot/README.md</a:t>
            </a:r>
          </a:p>
          <a:p>
            <a:r>
              <a:t>/Users/yusuf/MIU/courses/DE/ML/Project/Twin-Manufacturing-Copilot/src/digital_twin/twin.py</a:t>
            </a:r>
          </a:p>
          <a:p>
            <a:r>
              <a:t>/Users/yusuf/MIU/courses/DE/ML/Project/Twin-Manufacturing-Copilot/evaluation/copilot_v1/README.md</a:t>
            </a:r>
          </a:p>
          <a:p>
            <a:r>
              <a:t>https://archive.ics.uci.edu/dataset/601/ai4i+2020+predictive+maintenance+dataset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project contribution as an implemented integration and a measured execution benchmark. The deck does not establish first-of-its-kind novelty. Practical next work includes enforcing explicit requested changes at the application boundary, improving clarification on development cases, comparing models without overwriting the GPT-4.1 mini baseline, calibrating scores on validation data, and obtaining real or prospective operational data. Any model change requires separate results. A fresh final set is needed if the current held-out tasks guide tuning.</a:t>
            </a:r>
          </a:p>
          <a:p>
            <a:endParaRPr/>
          </a:p>
          <a:p>
            <a:r>
              <a:t>Sources:</a:t>
            </a:r>
          </a:p>
          <a:p>
            <a:r>
              <a:t>/Users/yusuf/MIU/courses/DE/ML/Project/Twin-Manufacturing-Copilot/README.md</a:t>
            </a:r>
          </a:p>
          <a:p>
            <a:r>
              <a:t>/Users/yusuf/MIU/courses/DE/ML/Project/Twin-Manufacturing-Copilot/reports/copilot_evaluation/20261017T173307Z_evaluation/summary.json</a:t>
            </a:r>
          </a:p>
          <a:p>
            <a:r>
              <a:t>/Users/yusuf/MIU/courses/DE/ML/Project/Twin-Manufacturing-Copilot/models/random_forest_metadata.json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source: https://archive.ics.uci.edu/dataset/601/ai4i+2020+predictive+maintenance+dataset</a:t>
            </a:r>
          </a:p>
          <a:p>
            <a:r>
              <a:t>Dataset DOI: https://doi.org/10.24432/C5HS5C</a:t>
            </a:r>
          </a:p>
          <a:p>
            <a:r>
              <a:t>Evaluation methodology reference: https://arxiv.org/abs/2406.12045</a:t>
            </a:r>
          </a:p>
          <a:p>
            <a:r>
              <a:t>Tau-bench motivates verifiable outcomes and reliability across repeats; this is a custom manufacturing task suite and does not reproduce tau-bench. Primary project evidence is the saved metadata, scenarios, manifests, traces, summaries and interpretation notes. All screenshots come from the user’s actual project UI.</a:t>
            </a:r>
          </a:p>
          <a:p>
            <a:endParaRPr/>
          </a:p>
          <a:p>
            <a:r>
              <a:t>Sources:</a:t>
            </a:r>
          </a:p>
          <a:p>
            <a:r>
              <a:t>https://archive.ics.uci.edu/dataset/601/ai4i+2020+predictive+maintenance+dataset</a:t>
            </a:r>
          </a:p>
          <a:p>
            <a:r>
              <a:t>https://arxiv.org/abs/2406.12045</a:t>
            </a:r>
          </a:p>
          <a:p>
            <a:r>
              <a:t>/Users/yusuf/MIU/courses/DE/ML/Project/Twin-Manufacturing-Copilot/models/random_forest_metadata.json</a:t>
            </a:r>
          </a:p>
          <a:p>
            <a:r>
              <a:t>/Users/yusuf/MIU/courses/DE/ML/Project/Twin-Manufacturing-Copilot/models/xgboost_metadata.json</a:t>
            </a:r>
          </a:p>
          <a:p>
            <a:r>
              <a:t>/Users/yusuf/MIU/courses/DE/ML/Project/Twin-Manufacturing-Copilot/reports/copilot_evaluation/20261017T173307Z_evaluation/manifest.json</a:t>
            </a:r>
          </a:p>
          <a:p>
            <a:r>
              <a:t>/Users/yusuf/MIU/courses/DE/ML/Project/Twin-Manufacturing-Copilot/reports/copilot_evaluation/20261017T173307Z_evaluation/trials.jsonl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4067-C87B-444D-ABAF-CD13B1F9883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C08C3546-765B-4413-9C60-DBE9E0426194}"/>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EF9910FC-C311-4C34-B2D0-85108083B99B}"/>
              </a:ext>
            </a:extLst>
          </p:cNvPr>
          <p:cNvSpPr>
            <a:spLocks noGrp="1"/>
          </p:cNvSpPr>
          <p:nvPr>
            <p:ph type="dt" idx="10"/>
          </p:nvPr>
        </p:nvSpPr>
        <p:spPr/>
        <p:txBody>
          <a:bodyPr/>
          <a:lstStyle/>
          <a:p>
            <a:fld id="{5BCAD085-E8A6-8845-BD4E-CB4CCA059FC4}" type="datetimeFigureOut">
              <a:t>10/18/26</a:t>
            </a:fld>
            <a:endParaRPr/>
          </a:p>
        </p:txBody>
      </p:sp>
      <p:sp>
        <p:nvSpPr>
          <p:cNvPr id="5" name="Footer Placeholder 4">
            <a:extLst>
              <a:ext uri="{FF2B5EF4-FFF2-40B4-BE49-F238E27FC236}">
                <a16:creationId xmlns:a16="http://schemas.microsoft.com/office/drawing/2014/main" id="{10853B9C-B247-4A4D-AE86-C3F709377A8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AF600F8-851C-4C8D-8922-3F948B1B0EC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39E94-65DC-42B5-B327-CCECC4B4B9A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A2B82FF-435B-4D5B-87B7-D70AD2DBB482}"/>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49293CF-7D41-4713-96D2-4642EB665612}"/>
              </a:ext>
            </a:extLst>
          </p:cNvPr>
          <p:cNvSpPr>
            <a:spLocks noGrp="1"/>
          </p:cNvSpPr>
          <p:nvPr>
            <p:ph type="dt" idx="10"/>
          </p:nvPr>
        </p:nvSpPr>
        <p:spPr/>
        <p:txBody>
          <a:bodyPr/>
          <a:lstStyle/>
          <a:p>
            <a:fld id="{5BCAD085-E8A6-8845-BD4E-CB4CCA059FC4}" type="datetimeFigureOut">
              <a:t>10/18/26</a:t>
            </a:fld>
            <a:endParaRPr/>
          </a:p>
        </p:txBody>
      </p:sp>
      <p:sp>
        <p:nvSpPr>
          <p:cNvPr id="5" name="Footer Placeholder 4">
            <a:extLst>
              <a:ext uri="{FF2B5EF4-FFF2-40B4-BE49-F238E27FC236}">
                <a16:creationId xmlns:a16="http://schemas.microsoft.com/office/drawing/2014/main" id="{3DB0A739-7107-4A2F-AA2F-220FE2FDFC7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5A87539-6A2A-43C3-A493-B9032741CE6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BBF95-A34F-498A-8BBD-84AA7A3B3FF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B65313A-5931-49D0-BB82-EAFE2680236C}"/>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EC1C19E-EF2F-463D-BD90-59A1506CC052}"/>
              </a:ext>
            </a:extLst>
          </p:cNvPr>
          <p:cNvSpPr>
            <a:spLocks noGrp="1"/>
          </p:cNvSpPr>
          <p:nvPr>
            <p:ph type="dt" idx="10"/>
          </p:nvPr>
        </p:nvSpPr>
        <p:spPr/>
        <p:txBody>
          <a:bodyPr/>
          <a:lstStyle/>
          <a:p>
            <a:fld id="{5BCAD085-E8A6-8845-BD4E-CB4CCA059FC4}" type="datetimeFigureOut">
              <a:t>10/18/26</a:t>
            </a:fld>
            <a:endParaRPr/>
          </a:p>
        </p:txBody>
      </p:sp>
      <p:sp>
        <p:nvSpPr>
          <p:cNvPr id="5" name="Footer Placeholder 4">
            <a:extLst>
              <a:ext uri="{FF2B5EF4-FFF2-40B4-BE49-F238E27FC236}">
                <a16:creationId xmlns:a16="http://schemas.microsoft.com/office/drawing/2014/main" id="{26D2E69A-C62C-47FB-B7D2-E506F844576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6CAF8D2-1934-4902-82B6-67AD60C3D05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5884B-CE27-4A2F-BD7E-52E46044A64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0CB69C7-FD0F-4129-B461-EAAC6E0D967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D91CCBF6-C0A9-4794-8E45-A317009DAE6A}"/>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DEE8AE9-D4BB-4FA8-84E9-95CE1495BA60}"/>
              </a:ext>
            </a:extLst>
          </p:cNvPr>
          <p:cNvSpPr>
            <a:spLocks noGrp="1"/>
          </p:cNvSpPr>
          <p:nvPr>
            <p:ph type="dt" idx="10"/>
          </p:nvPr>
        </p:nvSpPr>
        <p:spPr/>
        <p:txBody>
          <a:bodyPr/>
          <a:lstStyle/>
          <a:p>
            <a:fld id="{5BCAD085-E8A6-8845-BD4E-CB4CCA059FC4}" type="datetimeFigureOut">
              <a:t>10/18/26</a:t>
            </a:fld>
            <a:endParaRPr/>
          </a:p>
        </p:txBody>
      </p:sp>
      <p:sp>
        <p:nvSpPr>
          <p:cNvPr id="6" name="Footer Placeholder 5">
            <a:extLst>
              <a:ext uri="{FF2B5EF4-FFF2-40B4-BE49-F238E27FC236}">
                <a16:creationId xmlns:a16="http://schemas.microsoft.com/office/drawing/2014/main" id="{BC423C5B-F608-463C-8CDE-4D456A2486C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807FC91-A1F9-4C64-9ACF-7AE721E21A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92957-1F66-4D8F-936E-20DA8A094199}"/>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56E92224-FEBE-4B2D-A960-BEFA7A50457E}"/>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ACB59C3E-1B74-4CFC-8EF8-FC8C7CCA8E77}"/>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D9A25ED-7538-46B2-B093-5446FD00455D}"/>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304B9CC8-9AA0-463E-BC28-D918C417304E}"/>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F7B61B1-5B0A-471F-B3E1-50DF21394CF0}"/>
              </a:ext>
            </a:extLst>
          </p:cNvPr>
          <p:cNvSpPr>
            <a:spLocks noGrp="1"/>
          </p:cNvSpPr>
          <p:nvPr>
            <p:ph type="dt" idx="10"/>
          </p:nvPr>
        </p:nvSpPr>
        <p:spPr/>
        <p:txBody>
          <a:bodyPr/>
          <a:lstStyle/>
          <a:p>
            <a:fld id="{5BCAD085-E8A6-8845-BD4E-CB4CCA059FC4}" type="datetimeFigureOut">
              <a:t>10/18/26</a:t>
            </a:fld>
            <a:endParaRPr/>
          </a:p>
        </p:txBody>
      </p:sp>
      <p:sp>
        <p:nvSpPr>
          <p:cNvPr id="8" name="Footer Placeholder 7">
            <a:extLst>
              <a:ext uri="{FF2B5EF4-FFF2-40B4-BE49-F238E27FC236}">
                <a16:creationId xmlns:a16="http://schemas.microsoft.com/office/drawing/2014/main" id="{11B45B5A-B255-4B8F-A355-626599215E1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BEE1ECC9-C826-4EB9-893E-DAE0234D3CF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E3D6-25AE-4A03-8D80-533A719EEC77}"/>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5EDD0BA-0544-45C8-ABF7-E96FAD2C8DA4}"/>
              </a:ext>
            </a:extLst>
          </p:cNvPr>
          <p:cNvSpPr>
            <a:spLocks noGrp="1"/>
          </p:cNvSpPr>
          <p:nvPr>
            <p:ph type="dt" idx="10"/>
          </p:nvPr>
        </p:nvSpPr>
        <p:spPr/>
        <p:txBody>
          <a:bodyPr/>
          <a:lstStyle/>
          <a:p>
            <a:fld id="{5BCAD085-E8A6-8845-BD4E-CB4CCA059FC4}" type="datetimeFigureOut">
              <a:t>10/18/26</a:t>
            </a:fld>
            <a:endParaRPr/>
          </a:p>
        </p:txBody>
      </p:sp>
      <p:sp>
        <p:nvSpPr>
          <p:cNvPr id="4" name="Footer Placeholder 3">
            <a:extLst>
              <a:ext uri="{FF2B5EF4-FFF2-40B4-BE49-F238E27FC236}">
                <a16:creationId xmlns:a16="http://schemas.microsoft.com/office/drawing/2014/main" id="{97A17936-A7FD-44C6-B1BC-6E9FEAAE04A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F6F74F2-2DCB-41B5-8A5C-C0BD99BE0D6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284312-D777-47F4-AC9E-E451D3448D3D}"/>
              </a:ext>
            </a:extLst>
          </p:cNvPr>
          <p:cNvSpPr>
            <a:spLocks noGrp="1"/>
          </p:cNvSpPr>
          <p:nvPr>
            <p:ph type="dt" idx="10"/>
          </p:nvPr>
        </p:nvSpPr>
        <p:spPr/>
        <p:txBody>
          <a:bodyPr/>
          <a:lstStyle/>
          <a:p>
            <a:fld id="{5BCAD085-E8A6-8845-BD4E-CB4CCA059FC4}" type="datetimeFigureOut">
              <a:t>10/18/26</a:t>
            </a:fld>
            <a:endParaRPr/>
          </a:p>
        </p:txBody>
      </p:sp>
      <p:sp>
        <p:nvSpPr>
          <p:cNvPr id="3" name="Footer Placeholder 2">
            <a:extLst>
              <a:ext uri="{FF2B5EF4-FFF2-40B4-BE49-F238E27FC236}">
                <a16:creationId xmlns:a16="http://schemas.microsoft.com/office/drawing/2014/main" id="{EE475B8B-8739-4235-BC70-5A5C780D477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D75001C4-9F31-4C41-821D-BF109F8D9D8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A8A7-A3CE-4869-965F-F277B2B943E2}"/>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55F086C-250D-438A-9308-352BE31C11BD}"/>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CF165E6A-CB6C-47F7-9E85-B28B0228B3BB}"/>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A51D800-0C77-4EF3-8F0C-65A2D8EBE839}"/>
              </a:ext>
            </a:extLst>
          </p:cNvPr>
          <p:cNvSpPr>
            <a:spLocks noGrp="1"/>
          </p:cNvSpPr>
          <p:nvPr>
            <p:ph type="dt" idx="10"/>
          </p:nvPr>
        </p:nvSpPr>
        <p:spPr/>
        <p:txBody>
          <a:bodyPr/>
          <a:lstStyle/>
          <a:p>
            <a:fld id="{5BCAD085-E8A6-8845-BD4E-CB4CCA059FC4}" type="datetimeFigureOut">
              <a:t>10/18/26</a:t>
            </a:fld>
            <a:endParaRPr/>
          </a:p>
        </p:txBody>
      </p:sp>
      <p:sp>
        <p:nvSpPr>
          <p:cNvPr id="6" name="Footer Placeholder 5">
            <a:extLst>
              <a:ext uri="{FF2B5EF4-FFF2-40B4-BE49-F238E27FC236}">
                <a16:creationId xmlns:a16="http://schemas.microsoft.com/office/drawing/2014/main" id="{64A3DA4D-DBB8-43E2-B794-3CADA255086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FF85DEF-7969-4DC1-B4E1-F14907D6878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358F4-EFDE-4F54-B9A7-7F2E523BCC56}"/>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865661F-0BB7-4040-843F-8B8C5869D469}"/>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66B9464-EB17-49C8-B53A-C87826FE116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12F8B05F-B43D-4E8C-A90C-61781E47F12F}"/>
              </a:ext>
            </a:extLst>
          </p:cNvPr>
          <p:cNvSpPr>
            <a:spLocks noGrp="1"/>
          </p:cNvSpPr>
          <p:nvPr>
            <p:ph type="dt" idx="10"/>
          </p:nvPr>
        </p:nvSpPr>
        <p:spPr/>
        <p:txBody>
          <a:bodyPr/>
          <a:lstStyle/>
          <a:p>
            <a:fld id="{5BCAD085-E8A6-8845-BD4E-CB4CCA059FC4}" type="datetimeFigureOut">
              <a:t>10/18/26</a:t>
            </a:fld>
            <a:endParaRPr/>
          </a:p>
        </p:txBody>
      </p:sp>
      <p:sp>
        <p:nvSpPr>
          <p:cNvPr id="6" name="Footer Placeholder 5">
            <a:extLst>
              <a:ext uri="{FF2B5EF4-FFF2-40B4-BE49-F238E27FC236}">
                <a16:creationId xmlns:a16="http://schemas.microsoft.com/office/drawing/2014/main" id="{4388880F-DF4E-43F2-A418-9D1E24E42E6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725E15B-2396-4564-B450-469755E5AC6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0754-8C08-4D42-857C-275CE6DAAB21}"/>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9F20872-0D4E-4616-9563-EAA99DAC4A8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906999C-4227-4AF7-89A7-52889CE37F43}"/>
              </a:ext>
            </a:extLst>
          </p:cNvPr>
          <p:cNvSpPr>
            <a:spLocks noGrp="1"/>
          </p:cNvSpPr>
          <p:nvPr>
            <p:ph type="dt" idx="10"/>
          </p:nvPr>
        </p:nvSpPr>
        <p:spPr/>
        <p:txBody>
          <a:bodyPr/>
          <a:lstStyle/>
          <a:p>
            <a:fld id="{5BCAD085-E8A6-8845-BD4E-CB4CCA059FC4}" type="datetimeFigureOut">
              <a:t>10/18/26</a:t>
            </a:fld>
            <a:endParaRPr/>
          </a:p>
        </p:txBody>
      </p:sp>
      <p:sp>
        <p:nvSpPr>
          <p:cNvPr id="5" name="Footer Placeholder 4">
            <a:extLst>
              <a:ext uri="{FF2B5EF4-FFF2-40B4-BE49-F238E27FC236}">
                <a16:creationId xmlns:a16="http://schemas.microsoft.com/office/drawing/2014/main" id="{7C78DDDB-1DEC-4ED4-B04F-895FC7457FE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1416226-B2C4-4F1E-B131-5BF32B2AC96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8CFC96-8DC4-4097-9972-4849740ADE1C}"/>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7CBA68A-D64F-4A65-98E1-99D922024368}"/>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D03C354-6261-4AF7-9018-BD03284976A9}"/>
              </a:ext>
            </a:extLst>
          </p:cNvPr>
          <p:cNvSpPr>
            <a:spLocks noGrp="1"/>
          </p:cNvSpPr>
          <p:nvPr>
            <p:ph type="dt" idx="10"/>
          </p:nvPr>
        </p:nvSpPr>
        <p:spPr/>
        <p:txBody>
          <a:bodyPr/>
          <a:lstStyle/>
          <a:p>
            <a:fld id="{5BCAD085-E8A6-8845-BD4E-CB4CCA059FC4}" type="datetimeFigureOut">
              <a:t>10/18/26</a:t>
            </a:fld>
            <a:endParaRPr/>
          </a:p>
        </p:txBody>
      </p:sp>
      <p:sp>
        <p:nvSpPr>
          <p:cNvPr id="5" name="Footer Placeholder 4">
            <a:extLst>
              <a:ext uri="{FF2B5EF4-FFF2-40B4-BE49-F238E27FC236}">
                <a16:creationId xmlns:a16="http://schemas.microsoft.com/office/drawing/2014/main" id="{25DA0FF0-CF48-47BB-9A09-3F514AE8149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53DF9C0-19EB-4541-94BD-3941FF7A800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763632-94C6-459C-AFF0-98FC7B7AB50A}"/>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4A07F08B-FC91-4E32-8588-2E8A9737738F}"/>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B965A18-BF8E-4F06-9982-A97701BFA359}"/>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10/18/26</a:t>
            </a:fld>
            <a:endParaRPr/>
          </a:p>
        </p:txBody>
      </p:sp>
      <p:sp>
        <p:nvSpPr>
          <p:cNvPr id="5" name="Footer Placeholder 4">
            <a:extLst>
              <a:ext uri="{FF2B5EF4-FFF2-40B4-BE49-F238E27FC236}">
                <a16:creationId xmlns:a16="http://schemas.microsoft.com/office/drawing/2014/main" id="{4E0666EB-8347-4DB0-9E34-84CAFB07408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46578A19-3A55-4E50-BB6E-93BE8A6165AA}"/>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4E5CAB-4B01-4CFD-AD85-00EC81E4A1B2}"/>
              </a:ext>
            </a:extLst>
          </p:cNvPr>
          <p:cNvSpPr>
            <a:spLocks noGrp="1"/>
          </p:cNvSpPr>
          <p:nvPr/>
        </p:nvSpPr>
        <p:spPr>
          <a:xfrm>
            <a:off x="0" y="0"/>
            <a:ext cx="12191695" cy="6858000"/>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78C19E4-FDAA-4518-9357-D49395E93FBF}"/>
              </a:ext>
            </a:extLst>
          </p:cNvPr>
          <p:cNvSpPr>
            <a:spLocks noGrp="1"/>
          </p:cNvSpPr>
          <p:nvPr/>
        </p:nvSpPr>
        <p:spPr>
          <a:xfrm>
            <a:off x="914400" y="1463040"/>
            <a:ext cx="8777467" cy="4642296"/>
          </a:xfrm>
          <a:prstGeom prst="rect">
            <a:avLst/>
          </a:prstGeom>
          <a:noFill/>
        </p:spPr>
        <p:txBody>
          <a:bodyPr wrap="none">
            <a:spAutoFit/>
          </a:bodyPr>
          <a:lstStyle/>
          <a:p>
            <a:pPr>
              <a:buNone/>
              <a:defRPr sz="3400" b="1">
                <a:solidFill>
                  <a:srgbClr val="FFFFFF"/>
                </a:solidFill>
              </a:defRPr>
            </a:pPr>
            <a:r>
              <a:rPr dirty="0"/>
              <a:t>Agentic Digital Twin for Predictive Maintenance</a:t>
            </a:r>
          </a:p>
          <a:p>
            <a:pPr>
              <a:buNone/>
              <a:defRPr sz="2500">
                <a:solidFill>
                  <a:srgbClr val="FFFFFF"/>
                </a:solidFill>
              </a:defRPr>
            </a:pPr>
            <a:r>
              <a:rPr dirty="0"/>
              <a:t>in Manufacturing Using Machine Learning and Generative AI</a:t>
            </a:r>
          </a:p>
          <a:p>
            <a:pPr>
              <a:spcBef>
                <a:spcPts val="2000"/>
              </a:spcBef>
              <a:defRPr sz="1700">
                <a:solidFill>
                  <a:srgbClr val="D2E1F0"/>
                </a:solidFill>
              </a:defRPr>
            </a:pPr>
            <a:r>
              <a:rPr dirty="0"/>
              <a:t>CS 582 Machine Learning </a:t>
            </a:r>
            <a:br>
              <a:rPr lang="en-US" dirty="0"/>
            </a:br>
            <a:r>
              <a:rPr lang="en-US" dirty="0"/>
              <a:t>Instructor: Professor Dr. </a:t>
            </a:r>
            <a:r>
              <a:rPr lang="en-US" dirty="0" err="1"/>
              <a:t>Emdad</a:t>
            </a:r>
            <a:r>
              <a:rPr lang="en-US" dirty="0"/>
              <a:t> Khan</a:t>
            </a:r>
            <a:endParaRPr dirty="0"/>
          </a:p>
          <a:p>
            <a:pPr>
              <a:buNone/>
              <a:defRPr sz="1500">
                <a:solidFill>
                  <a:srgbClr val="D2E1F0"/>
                </a:solidFill>
              </a:defRPr>
            </a:pPr>
            <a:r>
              <a:rPr dirty="0"/>
              <a:t>Dataset: AI4I 2020 Predictive Maintenance Dataset (UCI)</a:t>
            </a:r>
          </a:p>
          <a:p>
            <a:pPr>
              <a:buNone/>
              <a:defRPr sz="1500">
                <a:solidFill>
                  <a:srgbClr val="D2E1F0"/>
                </a:solidFill>
              </a:defRPr>
            </a:pPr>
            <a:endParaRPr dirty="0"/>
          </a:p>
          <a:p>
            <a:pPr>
              <a:buNone/>
              <a:defRPr sz="1500">
                <a:solidFill>
                  <a:srgbClr val="D2E1F0"/>
                </a:solidFill>
              </a:defRPr>
            </a:pPr>
            <a:r>
              <a:rPr sz="2400" dirty="0"/>
              <a:t>Team 15</a:t>
            </a:r>
            <a:endParaRPr lang="en-US" sz="2400" dirty="0"/>
          </a:p>
          <a:p>
            <a:pPr>
              <a:buNone/>
              <a:defRPr sz="1500">
                <a:solidFill>
                  <a:srgbClr val="D2E1F0"/>
                </a:solidFill>
              </a:defRPr>
            </a:pPr>
            <a:r>
              <a:rPr lang="en-US" sz="2400" dirty="0"/>
              <a:t>Md Abu Yusuf</a:t>
            </a:r>
          </a:p>
          <a:p>
            <a:r>
              <a:rPr lang="en-US" sz="2400" dirty="0">
                <a:solidFill>
                  <a:schemeClr val="bg1"/>
                </a:solidFill>
              </a:rPr>
              <a:t>Vu Quynh Dinh</a:t>
            </a:r>
            <a:br>
              <a:rPr lang="en-US" dirty="0">
                <a:solidFill>
                  <a:schemeClr val="bg1"/>
                </a:solidFill>
              </a:rPr>
            </a:br>
            <a:br>
              <a:rPr lang="en-US" dirty="0">
                <a:solidFill>
                  <a:schemeClr val="bg1"/>
                </a:solidFill>
              </a:rPr>
            </a:br>
            <a:endParaRPr lang="en-US" dirty="0">
              <a:solidFill>
                <a:schemeClr val="bg1"/>
              </a:solidFill>
            </a:endParaRPr>
          </a:p>
          <a:p>
            <a:br>
              <a:rPr lang="en-US" sz="2400" dirty="0"/>
            </a:br>
            <a:endParaRPr lang="en-US" sz="2400" dirty="0"/>
          </a:p>
        </p:txBody>
      </p:sp>
    </p:spTree>
    <p:extLst>
      <p:ext uri="{BB962C8B-B14F-4D97-AF65-F5344CB8AC3E}">
        <p14:creationId xmlns:p14="http://schemas.microsoft.com/office/powerpoint/2010/main" val="1722304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9133D2-A487-482F-BE42-D2594541439C}"/>
              </a:ext>
            </a:extLst>
          </p:cNvPr>
          <p:cNvSpPr>
            <a:spLocks noGrp="1"/>
          </p:cNvSpPr>
          <p:nvPr/>
        </p:nvSpPr>
        <p:spPr>
          <a:xfrm>
            <a:off x="640080" y="411480"/>
            <a:ext cx="7559993"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Maintenance problem and project objective</a:t>
            </a:r>
          </a:p>
        </p:txBody>
      </p:sp>
      <p:sp>
        <p:nvSpPr>
          <p:cNvPr id="3" name="Rounded Rectangle 2">
            <a:extLst>
              <a:ext uri="{FF2B5EF4-FFF2-40B4-BE49-F238E27FC236}">
                <a16:creationId xmlns:a16="http://schemas.microsoft.com/office/drawing/2014/main" id="{5EE02329-3BE5-43A5-AE4A-C8C9BFC6FBD2}"/>
              </a:ext>
            </a:extLst>
          </p:cNvPr>
          <p:cNvSpPr>
            <a:spLocks noGrp="1"/>
          </p:cNvSpPr>
          <p:nvPr/>
        </p:nvSpPr>
        <p:spPr>
          <a:xfrm>
            <a:off x="640080" y="1325880"/>
            <a:ext cx="3474720" cy="18288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4DF9013-1D74-4834-B79E-B2FB0AAED69C}"/>
              </a:ext>
            </a:extLst>
          </p:cNvPr>
          <p:cNvSpPr>
            <a:spLocks noGrp="1"/>
          </p:cNvSpPr>
          <p:nvPr/>
        </p:nvSpPr>
        <p:spPr>
          <a:xfrm>
            <a:off x="822959" y="1463039"/>
            <a:ext cx="2359343"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Unexpected failures</a:t>
            </a:r>
          </a:p>
        </p:txBody>
      </p:sp>
      <p:sp>
        <p:nvSpPr>
          <p:cNvPr id="5" name="TextBox 4">
            <a:extLst>
              <a:ext uri="{FF2B5EF4-FFF2-40B4-BE49-F238E27FC236}">
                <a16:creationId xmlns:a16="http://schemas.microsoft.com/office/drawing/2014/main" id="{C105A2B5-BECE-4F87-B563-51B9C40587F7}"/>
              </a:ext>
            </a:extLst>
          </p:cNvPr>
          <p:cNvSpPr>
            <a:spLocks noGrp="1"/>
          </p:cNvSpPr>
          <p:nvPr/>
        </p:nvSpPr>
        <p:spPr>
          <a:xfrm>
            <a:off x="822959" y="1965960"/>
            <a:ext cx="3108960" cy="10477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Machine failures can disrupt production. Operators need support interpreting operating conditions.</a:t>
            </a:r>
            <a:endParaRPr/>
          </a:p>
        </p:txBody>
      </p:sp>
      <p:sp>
        <p:nvSpPr>
          <p:cNvPr id="6" name="Rounded Rectangle 5">
            <a:extLst>
              <a:ext uri="{FF2B5EF4-FFF2-40B4-BE49-F238E27FC236}">
                <a16:creationId xmlns:a16="http://schemas.microsoft.com/office/drawing/2014/main" id="{639BA3B7-C144-4BD5-A0DF-D329B0E805B9}"/>
              </a:ext>
            </a:extLst>
          </p:cNvPr>
          <p:cNvSpPr>
            <a:spLocks noGrp="1"/>
          </p:cNvSpPr>
          <p:nvPr/>
        </p:nvSpPr>
        <p:spPr>
          <a:xfrm>
            <a:off x="4343400" y="1325880"/>
            <a:ext cx="3474720" cy="18288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CCBC4E0-CBAF-4EF0-AFE4-6E057F0A60AC}"/>
              </a:ext>
            </a:extLst>
          </p:cNvPr>
          <p:cNvSpPr>
            <a:spLocks noGrp="1"/>
          </p:cNvSpPr>
          <p:nvPr/>
        </p:nvSpPr>
        <p:spPr>
          <a:xfrm>
            <a:off x="4526280" y="1463039"/>
            <a:ext cx="2626043"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Reading interpretation</a:t>
            </a:r>
          </a:p>
        </p:txBody>
      </p:sp>
      <p:sp>
        <p:nvSpPr>
          <p:cNvPr id="8" name="TextBox 7">
            <a:extLst>
              <a:ext uri="{FF2B5EF4-FFF2-40B4-BE49-F238E27FC236}">
                <a16:creationId xmlns:a16="http://schemas.microsoft.com/office/drawing/2014/main" id="{C30B20A4-57A8-4648-A0DF-FA8DD855DB2E}"/>
              </a:ext>
            </a:extLst>
          </p:cNvPr>
          <p:cNvSpPr>
            <a:spLocks noGrp="1"/>
          </p:cNvSpPr>
          <p:nvPr/>
        </p:nvSpPr>
        <p:spPr>
          <a:xfrm>
            <a:off x="4526280" y="1965960"/>
            <a:ext cx="3108960" cy="10477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A prediction alone does not explain the evaluated readings or a requested operating scenario.</a:t>
            </a:r>
            <a:endParaRPr/>
          </a:p>
        </p:txBody>
      </p:sp>
      <p:sp>
        <p:nvSpPr>
          <p:cNvPr id="9" name="Rounded Rectangle 8">
            <a:extLst>
              <a:ext uri="{FF2B5EF4-FFF2-40B4-BE49-F238E27FC236}">
                <a16:creationId xmlns:a16="http://schemas.microsoft.com/office/drawing/2014/main" id="{1EC84C2B-7955-4772-BB79-802BE4E51BD4}"/>
              </a:ext>
            </a:extLst>
          </p:cNvPr>
          <p:cNvSpPr>
            <a:spLocks noGrp="1"/>
          </p:cNvSpPr>
          <p:nvPr/>
        </p:nvSpPr>
        <p:spPr>
          <a:xfrm>
            <a:off x="8046720" y="1325880"/>
            <a:ext cx="3474720" cy="18288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A1629C3D-DF21-431E-982A-B48CD2248F5E}"/>
              </a:ext>
            </a:extLst>
          </p:cNvPr>
          <p:cNvSpPr>
            <a:spLocks noGrp="1"/>
          </p:cNvSpPr>
          <p:nvPr/>
        </p:nvSpPr>
        <p:spPr>
          <a:xfrm>
            <a:off x="8229600" y="1463039"/>
            <a:ext cx="2506980"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Scenario comparison</a:t>
            </a:r>
          </a:p>
        </p:txBody>
      </p:sp>
      <p:sp>
        <p:nvSpPr>
          <p:cNvPr id="11" name="TextBox 10">
            <a:extLst>
              <a:ext uri="{FF2B5EF4-FFF2-40B4-BE49-F238E27FC236}">
                <a16:creationId xmlns:a16="http://schemas.microsoft.com/office/drawing/2014/main" id="{71CEDB39-2756-43FB-9979-F71EB95E8946}"/>
              </a:ext>
            </a:extLst>
          </p:cNvPr>
          <p:cNvSpPr>
            <a:spLocks noGrp="1"/>
          </p:cNvSpPr>
          <p:nvPr/>
        </p:nvSpPr>
        <p:spPr>
          <a:xfrm>
            <a:off x="8229600" y="1965960"/>
            <a:ext cx="3108960" cy="10477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Engineers need a way to compare hypothetical inputs while preserving the original machine state.</a:t>
            </a:r>
            <a:endParaRPr/>
          </a:p>
        </p:txBody>
      </p:sp>
      <p:sp>
        <p:nvSpPr>
          <p:cNvPr id="12" name="TextBox 11">
            <a:extLst>
              <a:ext uri="{FF2B5EF4-FFF2-40B4-BE49-F238E27FC236}">
                <a16:creationId xmlns:a16="http://schemas.microsoft.com/office/drawing/2014/main" id="{812F3B2C-E0BC-428A-9EDA-6D860C1037F2}"/>
              </a:ext>
            </a:extLst>
          </p:cNvPr>
          <p:cNvSpPr>
            <a:spLocks noGrp="1"/>
          </p:cNvSpPr>
          <p:nvPr/>
        </p:nvSpPr>
        <p:spPr>
          <a:xfrm>
            <a:off x="822960" y="3794760"/>
            <a:ext cx="10477500" cy="1619250"/>
          </a:xfrm>
          <a:prstGeom prst="rect">
            <a:avLst/>
          </a:prstGeom>
          <a:noFill/>
        </p:spPr>
        <p:txBody>
          <a:bodyPr wrap="square" lIns="0" tIns="0" rIns="0" bIns="0" anchor="t">
            <a:noAutofit/>
          </a:bodyPr>
          <a:lstStyle>
            <a:defPPr algn="l">
              <a:defRPr sz="2000" b="0">
                <a:solidFill>
                  <a:srgbClr val="142A4A"/>
                </a:solidFill>
                <a:latin typeface="Calibri"/>
                <a:ea typeface="Calibri"/>
                <a:cs typeface="Calibri"/>
              </a:defRPr>
            </a:defPPr>
          </a:lstStyle>
          <a:p>
            <a:pPr algn="l">
              <a:spcAft>
                <a:spcPts val="1000"/>
              </a:spcAft>
              <a:buNone/>
              <a:defRPr sz="2000" b="0">
                <a:solidFill>
                  <a:srgbClr val="142A4A"/>
                </a:solidFill>
                <a:latin typeface="Calibri"/>
                <a:ea typeface="Calibri"/>
                <a:cs typeface="Calibri"/>
              </a:defRPr>
            </a:pPr>
            <a:r>
              <a:rPr sz="2000" b="0">
                <a:solidFill>
                  <a:srgbClr val="142A4A"/>
                </a:solidFill>
                <a:latin typeface="Calibri"/>
                <a:ea typeface="Calibri"/>
                <a:cs typeface="Calibri"/>
              </a:rPr>
              <a:t>Project objective</a:t>
            </a:r>
          </a:p>
          <a:p>
            <a:pPr algn="l">
              <a:spcAft>
                <a:spcPts val="1000"/>
              </a:spcAft>
              <a:buNone/>
              <a:defRPr sz="2000" b="0">
                <a:solidFill>
                  <a:srgbClr val="142A4A"/>
                </a:solidFill>
                <a:latin typeface="Calibri"/>
                <a:ea typeface="Calibri"/>
                <a:cs typeface="Calibri"/>
              </a:defRPr>
            </a:pPr>
            <a:r>
              <a:rPr sz="2000" b="0">
                <a:solidFill>
                  <a:srgbClr val="142A4A"/>
                </a:solidFill>
                <a:latin typeface="Calibri"/>
                <a:ea typeface="Calibri"/>
                <a:cs typeface="Calibri"/>
              </a:rPr>
              <a:t>Connect a failure classifier to a virtual machine state and a tool-using copilot for evidence-based questions and scenario comparisons.</a:t>
            </a:r>
          </a:p>
        </p:txBody>
      </p:sp>
      <p:sp>
        <p:nvSpPr>
          <p:cNvPr id="13" name="Rectangle 12">
            <a:extLst>
              <a:ext uri="{FF2B5EF4-FFF2-40B4-BE49-F238E27FC236}">
                <a16:creationId xmlns:a16="http://schemas.microsoft.com/office/drawing/2014/main" id="{CCFDE763-CC30-42D6-8732-7A4BB8CC2B87}"/>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F3715F67-1EF9-4160-BDE1-5F4DED833A07}"/>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2</a:t>
            </a:r>
          </a:p>
        </p:txBody>
      </p:sp>
    </p:spTree>
    <p:extLst>
      <p:ext uri="{BB962C8B-B14F-4D97-AF65-F5344CB8AC3E}">
        <p14:creationId xmlns:p14="http://schemas.microsoft.com/office/powerpoint/2010/main" val="1795471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8EEE2F-962F-4768-A040-8AD167439A55}"/>
              </a:ext>
            </a:extLst>
          </p:cNvPr>
          <p:cNvSpPr>
            <a:spLocks noGrp="1"/>
          </p:cNvSpPr>
          <p:nvPr/>
        </p:nvSpPr>
        <p:spPr>
          <a:xfrm>
            <a:off x="640080" y="411480"/>
            <a:ext cx="6742430"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AI4I 2020 dataset and prediction target</a:t>
            </a:r>
          </a:p>
        </p:txBody>
      </p:sp>
      <p:sp>
        <p:nvSpPr>
          <p:cNvPr id="4" name="Rounded Rectangle 3">
            <a:extLst>
              <a:ext uri="{FF2B5EF4-FFF2-40B4-BE49-F238E27FC236}">
                <a16:creationId xmlns:a16="http://schemas.microsoft.com/office/drawing/2014/main" id="{3E763294-75C9-4451-B00B-B2A8F267D6FA}"/>
              </a:ext>
            </a:extLst>
          </p:cNvPr>
          <p:cNvSpPr>
            <a:spLocks noGrp="1"/>
          </p:cNvSpPr>
          <p:nvPr/>
        </p:nvSpPr>
        <p:spPr>
          <a:xfrm>
            <a:off x="594360" y="1417320"/>
            <a:ext cx="5212080" cy="448056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ounded Rectangle 16">
            <a:extLst>
              <a:ext uri="{FF2B5EF4-FFF2-40B4-BE49-F238E27FC236}">
                <a16:creationId xmlns:a16="http://schemas.microsoft.com/office/drawing/2014/main" id="{C0D3394F-C844-4432-8091-A5858FA25F7A}"/>
              </a:ext>
            </a:extLst>
          </p:cNvPr>
          <p:cNvSpPr>
            <a:spLocks noGrp="1"/>
          </p:cNvSpPr>
          <p:nvPr/>
        </p:nvSpPr>
        <p:spPr>
          <a:xfrm>
            <a:off x="6080760" y="1417320"/>
            <a:ext cx="5486400" cy="205740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ounded Rectangle 27">
            <a:extLst>
              <a:ext uri="{FF2B5EF4-FFF2-40B4-BE49-F238E27FC236}">
                <a16:creationId xmlns:a16="http://schemas.microsoft.com/office/drawing/2014/main" id="{6AD84EB8-74FF-4049-A87C-8C5FC0CB5FF5}"/>
              </a:ext>
            </a:extLst>
          </p:cNvPr>
          <p:cNvSpPr>
            <a:spLocks noGrp="1"/>
          </p:cNvSpPr>
          <p:nvPr/>
        </p:nvSpPr>
        <p:spPr>
          <a:xfrm>
            <a:off x="6080760" y="3703320"/>
            <a:ext cx="5486400" cy="2194560"/>
          </a:xfrm>
          <a:prstGeom prst="roundRect">
            <a:avLst/>
          </a:prstGeom>
          <a:solidFill>
            <a:srgbClr val="F2F6FA"/>
          </a:solidFill>
          <a:ln>
            <a:solidFill>
              <a:srgbClr val="D7E1E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C1144C59-1DBE-4E3B-92B3-0E9478A8D6CD}"/>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Synthetic manufacturing observations">
            <a:extLst>
              <a:ext uri="{FF2B5EF4-FFF2-40B4-BE49-F238E27FC236}">
                <a16:creationId xmlns:a16="http://schemas.microsoft.com/office/drawing/2014/main" id="{C5FABD80-B831-4B09-B0BE-C1664AD1039A}"/>
              </a:ext>
            </a:extLst>
          </p:cNvPr>
          <p:cNvSpPr>
            <a:spLocks noGrp="1"/>
          </p:cNvSpPr>
          <p:nvPr/>
        </p:nvSpPr>
        <p:spPr>
          <a:xfrm>
            <a:off x="640080" y="1028700"/>
            <a:ext cx="10477500" cy="304800"/>
          </a:xfrm>
          <a:prstGeom prst="rect">
            <a:avLst/>
          </a:prstGeom>
          <a:noFill/>
          <a:ln w="0">
            <a:noFill/>
          </a:ln>
        </p:spPr>
        <p:txBody>
          <a:bodyPr wrap="square" lIns="0" tIns="0" rIns="0" bIns="0" anchor="t">
            <a:noAutofit/>
          </a:bodyPr>
          <a:lstStyle>
            <a:defPPr algn="l">
              <a:defRPr sz="1500" b="0">
                <a:solidFill>
                  <a:srgbClr val="64696E"/>
                </a:solidFill>
                <a:latin typeface="Calibri"/>
                <a:ea typeface="Calibri"/>
                <a:cs typeface="Calibri"/>
              </a:defRPr>
            </a:defPPr>
          </a:lstStyle>
          <a:p>
            <a:pPr algn="l">
              <a:defRPr sz="1500" b="0">
                <a:solidFill>
                  <a:srgbClr val="64696E"/>
                </a:solidFill>
                <a:latin typeface="Calibri"/>
                <a:ea typeface="Calibri"/>
                <a:cs typeface="Calibri"/>
              </a:defRPr>
            </a:pPr>
            <a:r>
              <a:rPr sz="1500" b="0">
                <a:solidFill>
                  <a:srgbClr val="64696E"/>
                </a:solidFill>
                <a:latin typeface="Calibri"/>
                <a:ea typeface="Calibri"/>
                <a:cs typeface="Calibri"/>
              </a:rPr>
              <a:t>Synthetic manufacturing observations</a:t>
            </a:r>
          </a:p>
        </p:txBody>
      </p:sp>
      <p:sp>
        <p:nvSpPr>
          <p:cNvPr id="42" name="Dataset statistics">
            <a:extLst>
              <a:ext uri="{FF2B5EF4-FFF2-40B4-BE49-F238E27FC236}">
                <a16:creationId xmlns:a16="http://schemas.microsoft.com/office/drawing/2014/main" id="{2B079E1B-262F-4FB1-BF71-4CCAC411BDA2}"/>
              </a:ext>
            </a:extLst>
          </p:cNvPr>
          <p:cNvSpPr>
            <a:spLocks noGrp="1"/>
          </p:cNvSpPr>
          <p:nvPr/>
        </p:nvSpPr>
        <p:spPr>
          <a:xfrm>
            <a:off x="822960" y="1628775"/>
            <a:ext cx="4714875" cy="409575"/>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Dataset statistics</a:t>
            </a:r>
          </a:p>
        </p:txBody>
      </p:sp>
      <p:graphicFrame>
        <p:nvGraphicFramePr>
          <p:cNvPr id="43" name="Table 42">
            <a:extLst>
              <a:ext uri="{FF2B5EF4-FFF2-40B4-BE49-F238E27FC236}">
                <a16:creationId xmlns:a16="http://schemas.microsoft.com/office/drawing/2014/main" id="{113D7FAA-7A7D-442D-90FC-7A39DCDB3D4B}"/>
              </a:ext>
            </a:extLst>
          </p:cNvPr>
          <p:cNvGraphicFramePr/>
          <p:nvPr/>
        </p:nvGraphicFramePr>
        <p:xfrm>
          <a:off x="857250" y="2143125"/>
          <a:ext cx="4667250" cy="2514600"/>
        </p:xfrm>
        <a:graphic>
          <a:graphicData uri="http://schemas.openxmlformats.org/drawingml/2006/table">
            <a:tbl>
              <a:tblPr/>
              <a:tblGrid>
                <a:gridCol w="2857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419100">
                <a:tc>
                  <a:txBody>
                    <a:bodyPr/>
                    <a:lstStyle/>
                    <a:p>
                      <a:pPr algn="l"/>
                      <a:r>
                        <a:rPr sz="1500" b="1">
                          <a:solidFill>
                            <a:srgbClr val="FFFFFF"/>
                          </a:solidFill>
                          <a:latin typeface="Calibri"/>
                          <a:ea typeface="Calibri"/>
                          <a:cs typeface="Calibri"/>
                        </a:rPr>
                        <a:t>Measure</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Value</a:t>
                      </a:r>
                    </a:p>
                  </a:txBody>
                  <a:tcPr marL="95250" marR="95250" marT="76200" marB="76200" anchor="ctr">
                    <a:solidFill>
                      <a:srgbClr val="142A4A"/>
                    </a:solidFill>
                  </a:tcPr>
                </a:tc>
                <a:extLst>
                  <a:ext uri="{0D108BD9-81ED-4DB2-BD59-A6C34878D82A}">
                    <a16:rowId xmlns:a16="http://schemas.microsoft.com/office/drawing/2014/main" val="10000"/>
                  </a:ext>
                </a:extLst>
              </a:tr>
              <a:tr h="419100">
                <a:tc>
                  <a:txBody>
                    <a:bodyPr/>
                    <a:lstStyle/>
                    <a:p>
                      <a:pPr algn="l"/>
                      <a:r>
                        <a:rPr sz="1500" b="0">
                          <a:solidFill>
                            <a:srgbClr val="232323"/>
                          </a:solidFill>
                          <a:latin typeface="Calibri"/>
                          <a:ea typeface="Calibri"/>
                          <a:cs typeface="Calibri"/>
                        </a:rPr>
                        <a:t>Observations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10,000</a:t>
                      </a:r>
                    </a:p>
                  </a:txBody>
                  <a:tcPr marL="95250" marR="95250" marT="76200" marB="76200" anchor="ctr">
                    <a:solidFill>
                      <a:srgbClr val="FFFFFF"/>
                    </a:solidFill>
                  </a:tcPr>
                </a:tc>
                <a:extLst>
                  <a:ext uri="{0D108BD9-81ED-4DB2-BD59-A6C34878D82A}">
                    <a16:rowId xmlns:a16="http://schemas.microsoft.com/office/drawing/2014/main" val="10001"/>
                  </a:ext>
                </a:extLst>
              </a:tr>
              <a:tr h="419100">
                <a:tc>
                  <a:txBody>
                    <a:bodyPr/>
                    <a:lstStyle/>
                    <a:p>
                      <a:pPr algn="l"/>
                      <a:r>
                        <a:rPr sz="1500" b="0">
                          <a:solidFill>
                            <a:srgbClr val="232323"/>
                          </a:solidFill>
                          <a:latin typeface="Calibri"/>
                          <a:ea typeface="Calibri"/>
                          <a:cs typeface="Calibri"/>
                        </a:rPr>
                        <a:t>Normal records</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9,661</a:t>
                      </a:r>
                    </a:p>
                  </a:txBody>
                  <a:tcPr marL="95250" marR="95250" marT="76200" marB="76200" anchor="ctr">
                    <a:solidFill>
                      <a:srgbClr val="F2F6FA"/>
                    </a:solidFill>
                  </a:tcPr>
                </a:tc>
                <a:extLst>
                  <a:ext uri="{0D108BD9-81ED-4DB2-BD59-A6C34878D82A}">
                    <a16:rowId xmlns:a16="http://schemas.microsoft.com/office/drawing/2014/main" val="10002"/>
                  </a:ext>
                </a:extLst>
              </a:tr>
              <a:tr h="419100">
                <a:tc>
                  <a:txBody>
                    <a:bodyPr/>
                    <a:lstStyle/>
                    <a:p>
                      <a:pPr algn="l"/>
                      <a:r>
                        <a:rPr sz="1500" b="0">
                          <a:solidFill>
                            <a:srgbClr val="232323"/>
                          </a:solidFill>
                          <a:latin typeface="Calibri"/>
                          <a:ea typeface="Calibri"/>
                          <a:cs typeface="Calibri"/>
                        </a:rPr>
                        <a:t>Failure records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339</a:t>
                      </a:r>
                    </a:p>
                  </a:txBody>
                  <a:tcPr marL="95250" marR="95250" marT="76200" marB="76200" anchor="ctr">
                    <a:solidFill>
                      <a:srgbClr val="FFFFFF"/>
                    </a:solidFill>
                  </a:tcPr>
                </a:tc>
                <a:extLst>
                  <a:ext uri="{0D108BD9-81ED-4DB2-BD59-A6C34878D82A}">
                    <a16:rowId xmlns:a16="http://schemas.microsoft.com/office/drawing/2014/main" val="10003"/>
                  </a:ext>
                </a:extLst>
              </a:tr>
              <a:tr h="419100">
                <a:tc>
                  <a:txBody>
                    <a:bodyPr/>
                    <a:lstStyle/>
                    <a:p>
                      <a:pPr algn="l"/>
                      <a:r>
                        <a:rPr sz="1500" b="0">
                          <a:solidFill>
                            <a:srgbClr val="232323"/>
                          </a:solidFill>
                          <a:latin typeface="Calibri"/>
                          <a:ea typeface="Calibri"/>
                          <a:cs typeface="Calibri"/>
                        </a:rPr>
                        <a:t>Failure prevalence</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3.39%</a:t>
                      </a:r>
                    </a:p>
                  </a:txBody>
                  <a:tcPr marL="95250" marR="95250" marT="76200" marB="76200" anchor="ctr">
                    <a:solidFill>
                      <a:srgbClr val="F2F6FA"/>
                    </a:solidFill>
                  </a:tcPr>
                </a:tc>
                <a:extLst>
                  <a:ext uri="{0D108BD9-81ED-4DB2-BD59-A6C34878D82A}">
                    <a16:rowId xmlns:a16="http://schemas.microsoft.com/office/drawing/2014/main" val="10004"/>
                  </a:ext>
                </a:extLst>
              </a:tr>
              <a:tr h="419100">
                <a:tc>
                  <a:txBody>
                    <a:bodyPr/>
                    <a:lstStyle/>
                    <a:p>
                      <a:pPr algn="l"/>
                      <a:r>
                        <a:rPr sz="1500" b="0">
                          <a:solidFill>
                            <a:srgbClr val="232323"/>
                          </a:solidFill>
                          <a:latin typeface="Calibri"/>
                          <a:ea typeface="Calibri"/>
                          <a:cs typeface="Calibri"/>
                        </a:rPr>
                        <a:t>Missing values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None</a:t>
                      </a:r>
                    </a:p>
                  </a:txBody>
                  <a:tcPr marL="95250" marR="9525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44" name="Target: machine_failure (0 or 1)">
            <a:extLst>
              <a:ext uri="{FF2B5EF4-FFF2-40B4-BE49-F238E27FC236}">
                <a16:creationId xmlns:a16="http://schemas.microsoft.com/office/drawing/2014/main" id="{0DFD6B1F-BC31-4FD6-853A-B51FC6CB0917}"/>
              </a:ext>
            </a:extLst>
          </p:cNvPr>
          <p:cNvSpPr>
            <a:spLocks noGrp="1"/>
          </p:cNvSpPr>
          <p:nvPr/>
        </p:nvSpPr>
        <p:spPr>
          <a:xfrm>
            <a:off x="914400" y="4905375"/>
            <a:ext cx="4572000" cy="333375"/>
          </a:xfrm>
          <a:prstGeom prst="rect">
            <a:avLst/>
          </a:prstGeom>
          <a:noFill/>
          <a:ln w="0">
            <a:noFill/>
          </a:ln>
        </p:spPr>
        <p:txBody>
          <a:bodyPr wrap="square" lIns="0" tIns="0" rIns="0" bIns="0" anchor="t">
            <a:noAutofit/>
          </a:bodyPr>
          <a:lstStyle>
            <a:defPPr algn="l">
              <a:defRPr sz="1500" b="1">
                <a:solidFill>
                  <a:srgbClr val="142A4A"/>
                </a:solidFill>
                <a:latin typeface="Calibri"/>
                <a:ea typeface="Calibri"/>
                <a:cs typeface="Calibri"/>
              </a:defRPr>
            </a:defPPr>
          </a:lstStyle>
          <a:p>
            <a:pPr algn="l">
              <a:defRPr sz="1500" b="1">
                <a:solidFill>
                  <a:srgbClr val="142A4A"/>
                </a:solidFill>
                <a:latin typeface="Calibri"/>
                <a:ea typeface="Calibri"/>
                <a:cs typeface="Calibri"/>
              </a:defRPr>
            </a:pPr>
            <a:r>
              <a:rPr sz="1500" b="1">
                <a:solidFill>
                  <a:srgbClr val="142A4A"/>
                </a:solidFill>
                <a:latin typeface="Calibri"/>
                <a:ea typeface="Calibri"/>
                <a:cs typeface="Calibri"/>
              </a:rPr>
              <a:t>Target: machine_failure (0 or 1)</a:t>
            </a:r>
          </a:p>
        </p:txBody>
      </p:sp>
      <p:sp>
        <p:nvSpPr>
          <p:cNvPr id="45" name="Stratified split">
            <a:extLst>
              <a:ext uri="{FF2B5EF4-FFF2-40B4-BE49-F238E27FC236}">
                <a16:creationId xmlns:a16="http://schemas.microsoft.com/office/drawing/2014/main" id="{71EC9132-3CAF-4CEC-A7D5-68BB04B09132}"/>
              </a:ext>
            </a:extLst>
          </p:cNvPr>
          <p:cNvSpPr>
            <a:spLocks noGrp="1"/>
          </p:cNvSpPr>
          <p:nvPr/>
        </p:nvSpPr>
        <p:spPr>
          <a:xfrm>
            <a:off x="6353175" y="1628775"/>
            <a:ext cx="47148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Stratified split</a:t>
            </a:r>
          </a:p>
        </p:txBody>
      </p:sp>
      <p:graphicFrame>
        <p:nvGraphicFramePr>
          <p:cNvPr id="46" name="Table 45">
            <a:extLst>
              <a:ext uri="{FF2B5EF4-FFF2-40B4-BE49-F238E27FC236}">
                <a16:creationId xmlns:a16="http://schemas.microsoft.com/office/drawing/2014/main" id="{D74FCD4B-1D1D-41E4-8F12-1EF92FEFBB50}"/>
              </a:ext>
            </a:extLst>
          </p:cNvPr>
          <p:cNvGraphicFramePr/>
          <p:nvPr/>
        </p:nvGraphicFramePr>
        <p:xfrm>
          <a:off x="6362700" y="2114550"/>
          <a:ext cx="4857750" cy="1108710"/>
        </p:xfrm>
        <a:graphic>
          <a:graphicData uri="http://schemas.openxmlformats.org/drawingml/2006/table">
            <a:tbl>
              <a:tblPr/>
              <a:tblGrid>
                <a:gridCol w="31432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42900">
                <a:tc>
                  <a:txBody>
                    <a:bodyPr/>
                    <a:lstStyle/>
                    <a:p>
                      <a:pPr algn="l"/>
                      <a:r>
                        <a:rPr sz="1425" b="1">
                          <a:solidFill>
                            <a:srgbClr val="FFFFFF"/>
                          </a:solidFill>
                          <a:latin typeface="Calibri"/>
                          <a:ea typeface="Calibri"/>
                          <a:cs typeface="Calibri"/>
                        </a:rPr>
                        <a:t>Partition</a:t>
                      </a:r>
                    </a:p>
                  </a:txBody>
                  <a:tcPr marL="95250" marR="95250" marT="76200" marB="76200" anchor="ctr">
                    <a:solidFill>
                      <a:srgbClr val="142A4A"/>
                    </a:solidFill>
                  </a:tcPr>
                </a:tc>
                <a:tc>
                  <a:txBody>
                    <a:bodyPr/>
                    <a:lstStyle/>
                    <a:p>
                      <a:pPr algn="ctr"/>
                      <a:r>
                        <a:rPr sz="1425" b="1">
                          <a:solidFill>
                            <a:srgbClr val="FFFFFF"/>
                          </a:solidFill>
                          <a:latin typeface="Calibri"/>
                          <a:ea typeface="Calibri"/>
                          <a:cs typeface="Calibri"/>
                        </a:rPr>
                        <a:t>Rows</a:t>
                      </a:r>
                    </a:p>
                  </a:txBody>
                  <a:tcPr marL="95250" marR="95250" marT="76200" marB="76200" anchor="ctr">
                    <a:solidFill>
                      <a:srgbClr val="142A4A"/>
                    </a:solidFill>
                  </a:tcPr>
                </a:tc>
                <a:extLst>
                  <a:ext uri="{0D108BD9-81ED-4DB2-BD59-A6C34878D82A}">
                    <a16:rowId xmlns:a16="http://schemas.microsoft.com/office/drawing/2014/main" val="10000"/>
                  </a:ext>
                </a:extLst>
              </a:tr>
              <a:tr h="342900">
                <a:tc>
                  <a:txBody>
                    <a:bodyPr/>
                    <a:lstStyle/>
                    <a:p>
                      <a:pPr algn="l"/>
                      <a:r>
                        <a:rPr sz="1425" b="0">
                          <a:solidFill>
                            <a:srgbClr val="232323"/>
                          </a:solidFill>
                          <a:latin typeface="Calibri"/>
                          <a:ea typeface="Calibri"/>
                          <a:cs typeface="Calibri"/>
                        </a:rPr>
                        <a:t>Training</a:t>
                      </a:r>
                    </a:p>
                  </a:txBody>
                  <a:tcPr marL="95250" marR="95250" marT="76200" marB="76200" anchor="ctr">
                    <a:solidFill>
                      <a:srgbClr val="FFFFFF"/>
                    </a:solidFill>
                  </a:tcPr>
                </a:tc>
                <a:tc>
                  <a:txBody>
                    <a:bodyPr/>
                    <a:lstStyle/>
                    <a:p>
                      <a:pPr algn="ctr"/>
                      <a:r>
                        <a:rPr sz="1425" b="0">
                          <a:solidFill>
                            <a:srgbClr val="232323"/>
                          </a:solidFill>
                          <a:latin typeface="Calibri"/>
                          <a:ea typeface="Calibri"/>
                          <a:cs typeface="Calibri"/>
                        </a:rPr>
                        <a:t>8,000</a:t>
                      </a:r>
                    </a:p>
                  </a:txBody>
                  <a:tcPr marL="95250" marR="95250" marT="76200" marB="76200" anchor="ctr">
                    <a:solidFill>
                      <a:srgbClr val="FFFFFF"/>
                    </a:solidFill>
                  </a:tcPr>
                </a:tc>
                <a:extLst>
                  <a:ext uri="{0D108BD9-81ED-4DB2-BD59-A6C34878D82A}">
                    <a16:rowId xmlns:a16="http://schemas.microsoft.com/office/drawing/2014/main" val="10001"/>
                  </a:ext>
                </a:extLst>
              </a:tr>
              <a:tr h="342900">
                <a:tc>
                  <a:txBody>
                    <a:bodyPr/>
                    <a:lstStyle/>
                    <a:p>
                      <a:pPr algn="l"/>
                      <a:r>
                        <a:rPr sz="1425" b="0">
                          <a:solidFill>
                            <a:srgbClr val="232323"/>
                          </a:solidFill>
                          <a:latin typeface="Calibri"/>
                          <a:ea typeface="Calibri"/>
                          <a:cs typeface="Calibri"/>
                        </a:rPr>
                        <a:t>Test</a:t>
                      </a:r>
                    </a:p>
                  </a:txBody>
                  <a:tcPr marL="95250" marR="95250" marT="76200" marB="76200" anchor="ctr">
                    <a:solidFill>
                      <a:srgbClr val="F2F6FA"/>
                    </a:solidFill>
                  </a:tcPr>
                </a:tc>
                <a:tc>
                  <a:txBody>
                    <a:bodyPr/>
                    <a:lstStyle/>
                    <a:p>
                      <a:pPr algn="ctr"/>
                      <a:r>
                        <a:rPr sz="1425" b="0">
                          <a:solidFill>
                            <a:srgbClr val="232323"/>
                          </a:solidFill>
                          <a:latin typeface="Calibri"/>
                          <a:ea typeface="Calibri"/>
                          <a:cs typeface="Calibri"/>
                        </a:rPr>
                        <a:t>2,000</a:t>
                      </a:r>
                    </a:p>
                  </a:txBody>
                  <a:tcPr marL="95250" marR="95250" marT="76200" marB="76200" anchor="ctr">
                    <a:solidFill>
                      <a:srgbClr val="F2F6FA"/>
                    </a:solidFill>
                  </a:tcPr>
                </a:tc>
                <a:extLst>
                  <a:ext uri="{0D108BD9-81ED-4DB2-BD59-A6C34878D82A}">
                    <a16:rowId xmlns:a16="http://schemas.microsoft.com/office/drawing/2014/main" val="10002"/>
                  </a:ext>
                </a:extLst>
              </a:tr>
            </a:tbl>
          </a:graphicData>
        </a:graphic>
      </p:graphicFrame>
      <p:sp>
        <p:nvSpPr>
          <p:cNvPr id="47" name="Six machine inputs">
            <a:extLst>
              <a:ext uri="{FF2B5EF4-FFF2-40B4-BE49-F238E27FC236}">
                <a16:creationId xmlns:a16="http://schemas.microsoft.com/office/drawing/2014/main" id="{9EA6FD8F-5FB8-459B-93F4-464426698F28}"/>
              </a:ext>
            </a:extLst>
          </p:cNvPr>
          <p:cNvSpPr>
            <a:spLocks noGrp="1"/>
          </p:cNvSpPr>
          <p:nvPr/>
        </p:nvSpPr>
        <p:spPr>
          <a:xfrm>
            <a:off x="6353175" y="3905250"/>
            <a:ext cx="47148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Six machine inputs</a:t>
            </a:r>
          </a:p>
        </p:txBody>
      </p:sp>
      <p:sp>
        <p:nvSpPr>
          <p:cNvPr id="48" name="Product quality (L, M, H)&#10;Air and process temperat">
            <a:extLst>
              <a:ext uri="{FF2B5EF4-FFF2-40B4-BE49-F238E27FC236}">
                <a16:creationId xmlns:a16="http://schemas.microsoft.com/office/drawing/2014/main" id="{AE1BC6D1-5F61-4B82-ABBD-2935DFC8E0F8}"/>
              </a:ext>
            </a:extLst>
          </p:cNvPr>
          <p:cNvSpPr>
            <a:spLocks noGrp="1"/>
          </p:cNvSpPr>
          <p:nvPr/>
        </p:nvSpPr>
        <p:spPr>
          <a:xfrm>
            <a:off x="6486525" y="4400550"/>
            <a:ext cx="4667250" cy="1123950"/>
          </a:xfrm>
          <a:prstGeom prst="rect">
            <a:avLst/>
          </a:prstGeom>
          <a:noFill/>
          <a:ln w="0">
            <a:noFill/>
          </a:ln>
        </p:spPr>
        <p:txBody>
          <a:bodyPr wrap="square" lIns="0" tIns="0" rIns="0" bIns="0" anchor="t">
            <a:noAutofit/>
          </a:bodyPr>
          <a:lstStyle>
            <a:defPPr algn="l">
              <a:defRPr sz="1500" b="0">
                <a:solidFill>
                  <a:srgbClr val="232323"/>
                </a:solidFill>
                <a:latin typeface="Calibri"/>
                <a:ea typeface="Calibri"/>
                <a:cs typeface="Calibri"/>
              </a:defRPr>
            </a:defPPr>
          </a:lstStyle>
          <a:p>
            <a:pPr algn="l">
              <a:defRPr sz="1500" b="0">
                <a:solidFill>
                  <a:srgbClr val="232323"/>
                </a:solidFill>
                <a:latin typeface="Calibri"/>
                <a:ea typeface="Calibri"/>
                <a:cs typeface="Calibri"/>
              </a:defRPr>
            </a:pPr>
            <a:r>
              <a:rPr sz="1500" b="0">
                <a:solidFill>
                  <a:srgbClr val="232323"/>
                </a:solidFill>
                <a:latin typeface="Calibri"/>
                <a:ea typeface="Calibri"/>
                <a:cs typeface="Calibri"/>
              </a:rPr>
              <a:t>Product quality (L, M, H)</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Air and process temperature (K)</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Rotational speed (rpm)</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Torque (Nm) and tool wear (min)</a:t>
            </a:r>
          </a:p>
        </p:txBody>
      </p:sp>
      <p:sp>
        <p:nvSpPr>
          <p:cNvPr id="49" name="An always-normal classifier reaches 96.61% accurac">
            <a:extLst>
              <a:ext uri="{FF2B5EF4-FFF2-40B4-BE49-F238E27FC236}">
                <a16:creationId xmlns:a16="http://schemas.microsoft.com/office/drawing/2014/main" id="{D19B2F55-F02B-4ECB-A393-AAB844CCC514}"/>
              </a:ext>
            </a:extLst>
          </p:cNvPr>
          <p:cNvSpPr>
            <a:spLocks noGrp="1"/>
          </p:cNvSpPr>
          <p:nvPr/>
        </p:nvSpPr>
        <p:spPr>
          <a:xfrm>
            <a:off x="822960" y="6115050"/>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dirty="0">
                <a:solidFill>
                  <a:srgbClr val="2F66AD"/>
                </a:solidFill>
                <a:latin typeface="Calibri"/>
                <a:ea typeface="Calibri"/>
                <a:cs typeface="Calibri"/>
              </a:rPr>
              <a:t>An always-normal classifier reaches 96.61% accuracy and 0% failure recall.</a:t>
            </a:r>
          </a:p>
        </p:txBody>
      </p:sp>
      <p:sp>
        <p:nvSpPr>
          <p:cNvPr id="50" name="3">
            <a:extLst>
              <a:ext uri="{FF2B5EF4-FFF2-40B4-BE49-F238E27FC236}">
                <a16:creationId xmlns:a16="http://schemas.microsoft.com/office/drawing/2014/main" id="{9FFDFB69-6793-412B-8707-B26D14B21736}"/>
              </a:ext>
            </a:extLst>
          </p:cNvPr>
          <p:cNvSpPr>
            <a:spLocks noGrp="1"/>
          </p:cNvSpPr>
          <p:nvPr/>
        </p:nvSpPr>
        <p:spPr>
          <a:xfrm>
            <a:off x="11247120" y="6400800"/>
            <a:ext cx="457200" cy="228600"/>
          </a:xfrm>
          <a:prstGeom prst="rect">
            <a:avLst/>
          </a:prstGeom>
          <a:noFill/>
          <a:ln w="0">
            <a:noFill/>
          </a:ln>
        </p:spPr>
        <p:txBody>
          <a:bodyPr wrap="square" lIns="0" tIns="0" rIns="0" bIns="0" anchor="t">
            <a:noAutofit/>
          </a:bodyPr>
          <a:lstStyle>
            <a:defPPr algn="l">
              <a:defRPr sz="1000" b="0">
                <a:solidFill>
                  <a:srgbClr val="5F6973"/>
                </a:solidFill>
                <a:latin typeface="Calibri"/>
                <a:ea typeface="Calibri"/>
                <a:cs typeface="Calibri"/>
              </a:defRPr>
            </a:defPPr>
          </a:lstStyle>
          <a:p>
            <a:pPr algn="l">
              <a:defRPr sz="1000" b="0">
                <a:solidFill>
                  <a:srgbClr val="5F6973"/>
                </a:solidFill>
                <a:latin typeface="Calibri"/>
                <a:ea typeface="Calibri"/>
                <a:cs typeface="Calibri"/>
              </a:defRPr>
            </a:pPr>
            <a:r>
              <a:rPr sz="1000" b="0">
                <a:solidFill>
                  <a:srgbClr val="5F6973"/>
                </a:solidFill>
                <a:latin typeface="Calibri"/>
                <a:ea typeface="Calibri"/>
                <a:cs typeface="Calibri"/>
              </a:rPr>
              <a:t>3</a:t>
            </a:r>
          </a:p>
        </p:txBody>
      </p:sp>
    </p:spTree>
    <p:extLst>
      <p:ext uri="{BB962C8B-B14F-4D97-AF65-F5344CB8AC3E}">
        <p14:creationId xmlns:p14="http://schemas.microsoft.com/office/powerpoint/2010/main" val="1703449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29351-CA31-48BA-946C-08DA052037E8}"/>
              </a:ext>
            </a:extLst>
          </p:cNvPr>
          <p:cNvSpPr>
            <a:spLocks noGrp="1"/>
          </p:cNvSpPr>
          <p:nvPr/>
        </p:nvSpPr>
        <p:spPr>
          <a:xfrm>
            <a:off x="640080" y="411480"/>
            <a:ext cx="4458017"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Exploratory data analysis</a:t>
            </a:r>
          </a:p>
        </p:txBody>
      </p:sp>
      <p:sp>
        <p:nvSpPr>
          <p:cNvPr id="3" name="Rounded Rectangle 2">
            <a:extLst>
              <a:ext uri="{FF2B5EF4-FFF2-40B4-BE49-F238E27FC236}">
                <a16:creationId xmlns:a16="http://schemas.microsoft.com/office/drawing/2014/main" id="{912FE116-D9BA-45D9-BB02-C812BB63E51E}"/>
              </a:ext>
            </a:extLst>
          </p:cNvPr>
          <p:cNvSpPr>
            <a:spLocks noGrp="1"/>
          </p:cNvSpPr>
          <p:nvPr/>
        </p:nvSpPr>
        <p:spPr>
          <a:xfrm>
            <a:off x="73152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7400F4C7-F36D-4588-841E-E2A55C196436}"/>
              </a:ext>
            </a:extLst>
          </p:cNvPr>
          <p:cNvSpPr>
            <a:spLocks noGrp="1"/>
          </p:cNvSpPr>
          <p:nvPr/>
        </p:nvSpPr>
        <p:spPr>
          <a:xfrm>
            <a:off x="630936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0F1EB1C-9F39-438F-A8BB-7F5B18843C32}"/>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411640-4599-4A6A-B267-CC3AFDD26E11}"/>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4</a:t>
            </a:r>
          </a:p>
        </p:txBody>
      </p:sp>
      <p:graphicFrame>
        <p:nvGraphicFramePr>
          <p:cNvPr id="11" name="Chart">
            <a:extLst>
              <a:ext uri="{FF2B5EF4-FFF2-40B4-BE49-F238E27FC236}">
                <a16:creationId xmlns:a16="http://schemas.microsoft.com/office/drawing/2014/main" id="{2B232DEB-28C6-4A0A-9F13-37C35D1AB14E}"/>
              </a:ext>
            </a:extLst>
          </p:cNvPr>
          <p:cNvGraphicFramePr/>
          <p:nvPr/>
        </p:nvGraphicFramePr>
        <p:xfrm>
          <a:off x="904875" y="1581150"/>
          <a:ext cx="4762500" cy="3486150"/>
        </p:xfrm>
        <a:graphic>
          <a:graphicData uri="http://schemas.openxmlformats.org/drawingml/2006/chart">
            <c:chart xmlns:c="http://schemas.openxmlformats.org/drawingml/2006/chart" xmlns:r="http://schemas.openxmlformats.org/officeDocument/2006/relationships" r:id="rId3"/>
          </a:graphicData>
        </a:graphic>
      </p:graphicFrame>
      <p:sp>
        <p:nvSpPr>
          <p:cNvPr id="12" name="Feature medians">
            <a:extLst>
              <a:ext uri="{FF2B5EF4-FFF2-40B4-BE49-F238E27FC236}">
                <a16:creationId xmlns:a16="http://schemas.microsoft.com/office/drawing/2014/main" id="{1AAAAC14-217B-4188-8716-758A8C865D32}"/>
              </a:ext>
            </a:extLst>
          </p:cNvPr>
          <p:cNvSpPr>
            <a:spLocks noGrp="1"/>
          </p:cNvSpPr>
          <p:nvPr/>
        </p:nvSpPr>
        <p:spPr>
          <a:xfrm>
            <a:off x="6496050" y="1571625"/>
            <a:ext cx="4667250"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Feature medians</a:t>
            </a:r>
          </a:p>
        </p:txBody>
      </p:sp>
      <p:graphicFrame>
        <p:nvGraphicFramePr>
          <p:cNvPr id="13" name="Table 12">
            <a:extLst>
              <a:ext uri="{FF2B5EF4-FFF2-40B4-BE49-F238E27FC236}">
                <a16:creationId xmlns:a16="http://schemas.microsoft.com/office/drawing/2014/main" id="{034BCFBB-6D84-41CD-B7EC-B6862D3FD56B}"/>
              </a:ext>
            </a:extLst>
          </p:cNvPr>
          <p:cNvGraphicFramePr/>
          <p:nvPr/>
        </p:nvGraphicFramePr>
        <p:xfrm>
          <a:off x="6505575" y="2133600"/>
          <a:ext cx="4714875" cy="2857500"/>
        </p:xfrm>
        <a:graphic>
          <a:graphicData uri="http://schemas.openxmlformats.org/drawingml/2006/table">
            <a:tbl>
              <a:tblPr/>
              <a:tblGrid>
                <a:gridCol w="2524125">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tblGrid>
              <a:tr h="476250">
                <a:tc>
                  <a:txBody>
                    <a:bodyPr/>
                    <a:lstStyle/>
                    <a:p>
                      <a:pPr algn="l"/>
                      <a:r>
                        <a:rPr sz="1400" b="1">
                          <a:solidFill>
                            <a:srgbClr val="FFFFFF"/>
                          </a:solidFill>
                          <a:latin typeface="Calibri"/>
                          <a:ea typeface="Calibri"/>
                          <a:cs typeface="Calibri"/>
                        </a:rPr>
                        <a:t>Feature</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Normal</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Failure</a:t>
                      </a:r>
                    </a:p>
                  </a:txBody>
                  <a:tcPr marL="95250" marR="95250" marT="76200" marB="76200" anchor="ctr">
                    <a:solidFill>
                      <a:srgbClr val="142A4A"/>
                    </a:solidFill>
                  </a:tcPr>
                </a:tc>
                <a:extLst>
                  <a:ext uri="{0D108BD9-81ED-4DB2-BD59-A6C34878D82A}">
                    <a16:rowId xmlns:a16="http://schemas.microsoft.com/office/drawing/2014/main" val="10000"/>
                  </a:ext>
                </a:extLst>
              </a:tr>
              <a:tr h="476250">
                <a:tc>
                  <a:txBody>
                    <a:bodyPr/>
                    <a:lstStyle/>
                    <a:p>
                      <a:pPr algn="l"/>
                      <a:r>
                        <a:rPr sz="1400" b="0">
                          <a:solidFill>
                            <a:srgbClr val="232323"/>
                          </a:solidFill>
                          <a:latin typeface="Calibri"/>
                          <a:ea typeface="Calibri"/>
                          <a:cs typeface="Calibri"/>
                        </a:rPr>
                        <a:t>Air temperature (K)</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300.0</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301.6</a:t>
                      </a:r>
                    </a:p>
                  </a:txBody>
                  <a:tcPr marL="95250" marR="95250" marT="76200" marB="76200" anchor="ctr">
                    <a:solidFill>
                      <a:srgbClr val="FFFFFF"/>
                    </a:solidFill>
                  </a:tcPr>
                </a:tc>
                <a:extLst>
                  <a:ext uri="{0D108BD9-81ED-4DB2-BD59-A6C34878D82A}">
                    <a16:rowId xmlns:a16="http://schemas.microsoft.com/office/drawing/2014/main" val="10001"/>
                  </a:ext>
                </a:extLst>
              </a:tr>
              <a:tr h="476250">
                <a:tc>
                  <a:txBody>
                    <a:bodyPr/>
                    <a:lstStyle/>
                    <a:p>
                      <a:pPr algn="l"/>
                      <a:r>
                        <a:rPr sz="1400" b="0">
                          <a:solidFill>
                            <a:srgbClr val="232323"/>
                          </a:solidFill>
                          <a:latin typeface="Calibri"/>
                          <a:ea typeface="Calibri"/>
                          <a:cs typeface="Calibri"/>
                        </a:rPr>
                        <a:t>Process temp. (K)</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310.0</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310.4</a:t>
                      </a:r>
                    </a:p>
                  </a:txBody>
                  <a:tcPr marL="95250" marR="95250" marT="76200" marB="76200" anchor="ctr">
                    <a:solidFill>
                      <a:srgbClr val="F2F6FA"/>
                    </a:solidFill>
                  </a:tcPr>
                </a:tc>
                <a:extLst>
                  <a:ext uri="{0D108BD9-81ED-4DB2-BD59-A6C34878D82A}">
                    <a16:rowId xmlns:a16="http://schemas.microsoft.com/office/drawing/2014/main" val="10002"/>
                  </a:ext>
                </a:extLst>
              </a:tr>
              <a:tr h="476250">
                <a:tc>
                  <a:txBody>
                    <a:bodyPr/>
                    <a:lstStyle/>
                    <a:p>
                      <a:pPr algn="l"/>
                      <a:r>
                        <a:rPr sz="1400" b="0">
                          <a:solidFill>
                            <a:srgbClr val="232323"/>
                          </a:solidFill>
                          <a:latin typeface="Calibri"/>
                          <a:ea typeface="Calibri"/>
                          <a:cs typeface="Calibri"/>
                        </a:rPr>
                        <a:t>Speed (rpm)</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1,507</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1,365</a:t>
                      </a:r>
                    </a:p>
                  </a:txBody>
                  <a:tcPr marL="95250" marR="95250" marT="76200" marB="76200" anchor="ctr">
                    <a:solidFill>
                      <a:srgbClr val="FFFFFF"/>
                    </a:solidFill>
                  </a:tcPr>
                </a:tc>
                <a:extLst>
                  <a:ext uri="{0D108BD9-81ED-4DB2-BD59-A6C34878D82A}">
                    <a16:rowId xmlns:a16="http://schemas.microsoft.com/office/drawing/2014/main" val="10003"/>
                  </a:ext>
                </a:extLst>
              </a:tr>
              <a:tr h="476250">
                <a:tc>
                  <a:txBody>
                    <a:bodyPr/>
                    <a:lstStyle/>
                    <a:p>
                      <a:pPr algn="l"/>
                      <a:r>
                        <a:rPr sz="1400" b="0">
                          <a:solidFill>
                            <a:srgbClr val="232323"/>
                          </a:solidFill>
                          <a:latin typeface="Calibri"/>
                          <a:ea typeface="Calibri"/>
                          <a:cs typeface="Calibri"/>
                        </a:rPr>
                        <a:t>Torque (Nm)</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39.9</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53.7</a:t>
                      </a:r>
                    </a:p>
                  </a:txBody>
                  <a:tcPr marL="95250" marR="95250" marT="76200" marB="76200" anchor="ctr">
                    <a:solidFill>
                      <a:srgbClr val="F2F6FA"/>
                    </a:solidFill>
                  </a:tcPr>
                </a:tc>
                <a:extLst>
                  <a:ext uri="{0D108BD9-81ED-4DB2-BD59-A6C34878D82A}">
                    <a16:rowId xmlns:a16="http://schemas.microsoft.com/office/drawing/2014/main" val="10004"/>
                  </a:ext>
                </a:extLst>
              </a:tr>
              <a:tr h="476250">
                <a:tc>
                  <a:txBody>
                    <a:bodyPr/>
                    <a:lstStyle/>
                    <a:p>
                      <a:pPr algn="l"/>
                      <a:r>
                        <a:rPr sz="1400" b="0">
                          <a:solidFill>
                            <a:srgbClr val="232323"/>
                          </a:solidFill>
                          <a:latin typeface="Calibri"/>
                          <a:ea typeface="Calibri"/>
                          <a:cs typeface="Calibri"/>
                        </a:rPr>
                        <a:t>Tool wear (min)</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107</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165</a:t>
                      </a:r>
                    </a:p>
                  </a:txBody>
                  <a:tcPr marL="95250" marR="9525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14" name="Failure records show higher median torque and wear">
            <a:extLst>
              <a:ext uri="{FF2B5EF4-FFF2-40B4-BE49-F238E27FC236}">
                <a16:creationId xmlns:a16="http://schemas.microsoft.com/office/drawing/2014/main" id="{92F2C5FF-6247-4E64-8702-EC24E27C79A3}"/>
              </a:ext>
            </a:extLst>
          </p:cNvPr>
          <p:cNvSpPr>
            <a:spLocks noGrp="1"/>
          </p:cNvSpPr>
          <p:nvPr/>
        </p:nvSpPr>
        <p:spPr>
          <a:xfrm>
            <a:off x="822960" y="5876925"/>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a:solidFill>
                  <a:srgbClr val="2F66AD"/>
                </a:solidFill>
                <a:latin typeface="Calibri"/>
                <a:ea typeface="Calibri"/>
                <a:cs typeface="Calibri"/>
              </a:rPr>
              <a:t>Failure records show higher median torque and wear. The feature distributions still overlap.</a:t>
            </a:r>
          </a:p>
        </p:txBody>
      </p:sp>
    </p:spTree>
    <p:extLst>
      <p:ext uri="{BB962C8B-B14F-4D97-AF65-F5344CB8AC3E}">
        <p14:creationId xmlns:p14="http://schemas.microsoft.com/office/powerpoint/2010/main" val="420639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063855-9C61-4225-98A7-32E77CC501DC}"/>
              </a:ext>
            </a:extLst>
          </p:cNvPr>
          <p:cNvSpPr>
            <a:spLocks noGrp="1"/>
          </p:cNvSpPr>
          <p:nvPr/>
        </p:nvSpPr>
        <p:spPr>
          <a:xfrm>
            <a:off x="640080" y="411480"/>
            <a:ext cx="6750367"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Feature engineering and training setup</a:t>
            </a:r>
          </a:p>
        </p:txBody>
      </p:sp>
      <p:sp>
        <p:nvSpPr>
          <p:cNvPr id="3" name="Rounded Rectangle 2">
            <a:extLst>
              <a:ext uri="{FF2B5EF4-FFF2-40B4-BE49-F238E27FC236}">
                <a16:creationId xmlns:a16="http://schemas.microsoft.com/office/drawing/2014/main" id="{30849BD7-ECA1-427E-A97F-7FECC3896711}"/>
              </a:ext>
            </a:extLst>
          </p:cNvPr>
          <p:cNvSpPr>
            <a:spLocks noGrp="1"/>
          </p:cNvSpPr>
          <p:nvPr/>
        </p:nvSpPr>
        <p:spPr>
          <a:xfrm>
            <a:off x="731520" y="1325880"/>
            <a:ext cx="3383280" cy="214884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09E7C-1267-4254-ACED-D3B7080C2844}"/>
              </a:ext>
            </a:extLst>
          </p:cNvPr>
          <p:cNvSpPr>
            <a:spLocks noGrp="1"/>
          </p:cNvSpPr>
          <p:nvPr/>
        </p:nvSpPr>
        <p:spPr>
          <a:xfrm>
            <a:off x="914400" y="1463039"/>
            <a:ext cx="1716405"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Six raw inputs</a:t>
            </a:r>
          </a:p>
        </p:txBody>
      </p:sp>
      <p:sp>
        <p:nvSpPr>
          <p:cNvPr id="5" name="TextBox 4">
            <a:extLst>
              <a:ext uri="{FF2B5EF4-FFF2-40B4-BE49-F238E27FC236}">
                <a16:creationId xmlns:a16="http://schemas.microsoft.com/office/drawing/2014/main" id="{EECEA148-2146-47AA-987C-394B2C2FE92A}"/>
              </a:ext>
            </a:extLst>
          </p:cNvPr>
          <p:cNvSpPr>
            <a:spLocks noGrp="1"/>
          </p:cNvSpPr>
          <p:nvPr/>
        </p:nvSpPr>
        <p:spPr>
          <a:xfrm>
            <a:off x="914400" y="1965960"/>
            <a:ext cx="3017520" cy="152400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Five numeric measurements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Product quality category</a:t>
            </a:r>
          </a:p>
          <a:p>
            <a:pPr>
              <a:buNone/>
              <a:defRPr sz="1500">
                <a:solidFill>
                  <a:srgbClr val="1E1E1E"/>
                </a:solidFill>
              </a:defRPr>
            </a:pPr>
            <a:endParaRPr sz="1500" b="0">
              <a:solidFill>
                <a:srgbClr val="232323"/>
              </a:solidFill>
              <a:latin typeface="Calibri"/>
              <a:ea typeface="Calibri"/>
              <a:cs typeface="Calibri"/>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Remove IDs and the five</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failure-mode target columns.</a:t>
            </a:r>
          </a:p>
        </p:txBody>
      </p:sp>
      <p:sp>
        <p:nvSpPr>
          <p:cNvPr id="6" name="Rounded Rectangle 5">
            <a:extLst>
              <a:ext uri="{FF2B5EF4-FFF2-40B4-BE49-F238E27FC236}">
                <a16:creationId xmlns:a16="http://schemas.microsoft.com/office/drawing/2014/main" id="{088B5FE4-4469-41C3-BC9D-2A2B68F6360B}"/>
              </a:ext>
            </a:extLst>
          </p:cNvPr>
          <p:cNvSpPr>
            <a:spLocks noGrp="1"/>
          </p:cNvSpPr>
          <p:nvPr/>
        </p:nvSpPr>
        <p:spPr>
          <a:xfrm>
            <a:off x="4389120" y="1325880"/>
            <a:ext cx="3383280" cy="214884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8FB6283-F5FF-4183-A644-CB48FA604059}"/>
              </a:ext>
            </a:extLst>
          </p:cNvPr>
          <p:cNvSpPr>
            <a:spLocks noGrp="1"/>
          </p:cNvSpPr>
          <p:nvPr/>
        </p:nvSpPr>
        <p:spPr>
          <a:xfrm>
            <a:off x="4572000" y="1463039"/>
            <a:ext cx="2859405"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Fourteen model features</a:t>
            </a:r>
          </a:p>
        </p:txBody>
      </p:sp>
      <p:sp>
        <p:nvSpPr>
          <p:cNvPr id="8" name="TextBox 7">
            <a:extLst>
              <a:ext uri="{FF2B5EF4-FFF2-40B4-BE49-F238E27FC236}">
                <a16:creationId xmlns:a16="http://schemas.microsoft.com/office/drawing/2014/main" id="{2AB1495C-D5DB-461D-B08F-CB806DA64D29}"/>
              </a:ext>
            </a:extLst>
          </p:cNvPr>
          <p:cNvSpPr>
            <a:spLocks noGrp="1"/>
          </p:cNvSpPr>
          <p:nvPr/>
        </p:nvSpPr>
        <p:spPr>
          <a:xfrm>
            <a:off x="4572000" y="1965960"/>
            <a:ext cx="3017520" cy="152400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Temperature gap and ratio</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Mechanical power</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Torque normalized by speed</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Wear interaction terms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Quality indicators (L, M, H)</a:t>
            </a:r>
          </a:p>
        </p:txBody>
      </p:sp>
      <p:sp>
        <p:nvSpPr>
          <p:cNvPr id="9" name="Rounded Rectangle 8">
            <a:extLst>
              <a:ext uri="{FF2B5EF4-FFF2-40B4-BE49-F238E27FC236}">
                <a16:creationId xmlns:a16="http://schemas.microsoft.com/office/drawing/2014/main" id="{D34A7495-1A63-489E-9089-C03A685BA4CD}"/>
              </a:ext>
            </a:extLst>
          </p:cNvPr>
          <p:cNvSpPr>
            <a:spLocks noGrp="1"/>
          </p:cNvSpPr>
          <p:nvPr/>
        </p:nvSpPr>
        <p:spPr>
          <a:xfrm>
            <a:off x="8046720" y="1325880"/>
            <a:ext cx="3383280" cy="214884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3607889-898D-4B17-B4B2-72BA12D4912E}"/>
              </a:ext>
            </a:extLst>
          </p:cNvPr>
          <p:cNvSpPr>
            <a:spLocks noGrp="1"/>
          </p:cNvSpPr>
          <p:nvPr/>
        </p:nvSpPr>
        <p:spPr>
          <a:xfrm>
            <a:off x="8229600" y="1463039"/>
            <a:ext cx="2629218"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Fixed evaluation setup</a:t>
            </a:r>
          </a:p>
        </p:txBody>
      </p:sp>
      <p:sp>
        <p:nvSpPr>
          <p:cNvPr id="11" name="TextBox 10">
            <a:extLst>
              <a:ext uri="{FF2B5EF4-FFF2-40B4-BE49-F238E27FC236}">
                <a16:creationId xmlns:a16="http://schemas.microsoft.com/office/drawing/2014/main" id="{73A762FB-13B2-4AA2-865F-D3EF97110942}"/>
              </a:ext>
            </a:extLst>
          </p:cNvPr>
          <p:cNvSpPr>
            <a:spLocks noGrp="1"/>
          </p:cNvSpPr>
          <p:nvPr/>
        </p:nvSpPr>
        <p:spPr>
          <a:xfrm>
            <a:off x="8229600" y="1965960"/>
            <a:ext cx="3017520" cy="152400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80% training, 20% test</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Stratification by failure label</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Random seed: 42</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300 trees per model</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Classification threshold: 0.5</a:t>
            </a:r>
          </a:p>
        </p:txBody>
      </p:sp>
      <p:sp>
        <p:nvSpPr>
          <p:cNvPr id="13" name="Rectangle 12">
            <a:extLst>
              <a:ext uri="{FF2B5EF4-FFF2-40B4-BE49-F238E27FC236}">
                <a16:creationId xmlns:a16="http://schemas.microsoft.com/office/drawing/2014/main" id="{6A8F163A-A6AB-41D5-987D-40247729674E}"/>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B6041E5E-9981-4ED6-A08B-8D5A625BF933}"/>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5</a:t>
            </a:r>
          </a:p>
        </p:txBody>
      </p:sp>
      <p:sp>
        <p:nvSpPr>
          <p:cNvPr id="15" name="Imbalanced learning">
            <a:extLst>
              <a:ext uri="{FF2B5EF4-FFF2-40B4-BE49-F238E27FC236}">
                <a16:creationId xmlns:a16="http://schemas.microsoft.com/office/drawing/2014/main" id="{FD6D7F96-99A5-4FB1-AC46-47565438D793}"/>
              </a:ext>
            </a:extLst>
          </p:cNvPr>
          <p:cNvSpPr>
            <a:spLocks noGrp="1"/>
          </p:cNvSpPr>
          <p:nvPr/>
        </p:nvSpPr>
        <p:spPr>
          <a:xfrm>
            <a:off x="914400" y="3981450"/>
            <a:ext cx="10477500"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Imbalanced learning</a:t>
            </a:r>
          </a:p>
        </p:txBody>
      </p:sp>
      <p:sp>
        <p:nvSpPr>
          <p:cNvPr id="16" name="Random Forest uses balanced class weights. XGBoost">
            <a:extLst>
              <a:ext uri="{FF2B5EF4-FFF2-40B4-BE49-F238E27FC236}">
                <a16:creationId xmlns:a16="http://schemas.microsoft.com/office/drawing/2014/main" id="{318A9095-B678-493B-9D49-280A52B17A90}"/>
              </a:ext>
            </a:extLst>
          </p:cNvPr>
          <p:cNvSpPr>
            <a:spLocks noGrp="1"/>
          </p:cNvSpPr>
          <p:nvPr/>
        </p:nvSpPr>
        <p:spPr>
          <a:xfrm>
            <a:off x="914400" y="4533900"/>
            <a:ext cx="10382250" cy="914400"/>
          </a:xfrm>
          <a:prstGeom prst="rect">
            <a:avLst/>
          </a:prstGeom>
          <a:noFill/>
          <a:ln w="0">
            <a:noFill/>
          </a:ln>
        </p:spPr>
        <p:txBody>
          <a:bodyPr wrap="square" lIns="0" tIns="0" rIns="0" bIns="0" anchor="t">
            <a:noAutofit/>
          </a:bodyPr>
          <a:lstStyle>
            <a:defPPr algn="l">
              <a:defRPr sz="1800" b="0">
                <a:solidFill>
                  <a:srgbClr val="232323"/>
                </a:solidFill>
                <a:latin typeface="Calibri"/>
                <a:ea typeface="Calibri"/>
                <a:cs typeface="Calibri"/>
              </a:defRPr>
            </a:defPPr>
          </a:lstStyle>
          <a:p>
            <a:pPr algn="l">
              <a:defRPr sz="1800" b="0">
                <a:solidFill>
                  <a:srgbClr val="232323"/>
                </a:solidFill>
                <a:latin typeface="Calibri"/>
                <a:ea typeface="Calibri"/>
                <a:cs typeface="Calibri"/>
              </a:defRPr>
            </a:pPr>
            <a:r>
              <a:rPr sz="1800" b="0">
                <a:solidFill>
                  <a:srgbClr val="232323"/>
                </a:solidFill>
                <a:latin typeface="Calibri"/>
                <a:ea typeface="Calibri"/>
                <a:cs typeface="Calibri"/>
              </a:rPr>
              <a:t>Random Forest uses balanced class weights. XGBoost uses a training class ratio of 28.52.</a:t>
            </a:r>
          </a:p>
          <a:p>
            <a:pPr algn="l">
              <a:defRPr sz="1800" b="0">
                <a:solidFill>
                  <a:srgbClr val="232323"/>
                </a:solidFill>
                <a:latin typeface="Calibri"/>
                <a:ea typeface="Calibri"/>
                <a:cs typeface="Calibri"/>
              </a:defRPr>
            </a:pPr>
            <a:r>
              <a:rPr sz="1800" b="0">
                <a:solidFill>
                  <a:srgbClr val="232323"/>
                </a:solidFill>
                <a:latin typeface="Calibri"/>
                <a:ea typeface="Calibri"/>
                <a:cs typeface="Calibri"/>
              </a:rPr>
              <a:t>Both models use the same saved split and engineered features.</a:t>
            </a:r>
          </a:p>
        </p:txBody>
      </p:sp>
    </p:spTree>
    <p:extLst>
      <p:ext uri="{BB962C8B-B14F-4D97-AF65-F5344CB8AC3E}">
        <p14:creationId xmlns:p14="http://schemas.microsoft.com/office/powerpoint/2010/main" val="2104048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29351-CA31-48BA-946C-08DA052037E8}"/>
              </a:ext>
            </a:extLst>
          </p:cNvPr>
          <p:cNvSpPr>
            <a:spLocks noGrp="1"/>
          </p:cNvSpPr>
          <p:nvPr/>
        </p:nvSpPr>
        <p:spPr>
          <a:xfrm>
            <a:off x="640080" y="411480"/>
            <a:ext cx="7914005"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Failure prediction on the 2,000-record test set</a:t>
            </a:r>
          </a:p>
        </p:txBody>
      </p:sp>
      <p:sp>
        <p:nvSpPr>
          <p:cNvPr id="3" name="Rounded Rectangle 2">
            <a:extLst>
              <a:ext uri="{FF2B5EF4-FFF2-40B4-BE49-F238E27FC236}">
                <a16:creationId xmlns:a16="http://schemas.microsoft.com/office/drawing/2014/main" id="{912FE116-D9BA-45D9-BB02-C812BB63E51E}"/>
              </a:ext>
            </a:extLst>
          </p:cNvPr>
          <p:cNvSpPr>
            <a:spLocks noGrp="1"/>
          </p:cNvSpPr>
          <p:nvPr/>
        </p:nvSpPr>
        <p:spPr>
          <a:xfrm>
            <a:off x="73152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7400F4C7-F36D-4588-841E-E2A55C196436}"/>
              </a:ext>
            </a:extLst>
          </p:cNvPr>
          <p:cNvSpPr>
            <a:spLocks noGrp="1"/>
          </p:cNvSpPr>
          <p:nvPr/>
        </p:nvSpPr>
        <p:spPr>
          <a:xfrm>
            <a:off x="630936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0F1EB1C-9F39-438F-A8BB-7F5B18843C32}"/>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411640-4599-4A6A-B267-CC3AFDD26E11}"/>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6</a:t>
            </a:r>
          </a:p>
        </p:txBody>
      </p:sp>
      <p:sp>
        <p:nvSpPr>
          <p:cNvPr id="11" name="Saved test metrics">
            <a:extLst>
              <a:ext uri="{FF2B5EF4-FFF2-40B4-BE49-F238E27FC236}">
                <a16:creationId xmlns:a16="http://schemas.microsoft.com/office/drawing/2014/main" id="{728C6B9F-E190-4576-B11F-610C8E0C88E1}"/>
              </a:ext>
            </a:extLst>
          </p:cNvPr>
          <p:cNvSpPr>
            <a:spLocks noGrp="1"/>
          </p:cNvSpPr>
          <p:nvPr/>
        </p:nvSpPr>
        <p:spPr>
          <a:xfrm>
            <a:off x="91440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Saved test metrics</a:t>
            </a:r>
          </a:p>
        </p:txBody>
      </p:sp>
      <p:graphicFrame>
        <p:nvGraphicFramePr>
          <p:cNvPr id="12" name="Table 11">
            <a:extLst>
              <a:ext uri="{FF2B5EF4-FFF2-40B4-BE49-F238E27FC236}">
                <a16:creationId xmlns:a16="http://schemas.microsoft.com/office/drawing/2014/main" id="{DC5BB2B3-A542-4C66-8CB3-2DFD03CD7454}"/>
              </a:ext>
            </a:extLst>
          </p:cNvPr>
          <p:cNvGraphicFramePr/>
          <p:nvPr/>
        </p:nvGraphicFramePr>
        <p:xfrm>
          <a:off x="914400" y="2105025"/>
          <a:ext cx="4752975" cy="3000375"/>
        </p:xfrm>
        <a:graphic>
          <a:graphicData uri="http://schemas.openxmlformats.org/drawingml/2006/table">
            <a:tbl>
              <a:tblPr/>
              <a:tblGrid>
                <a:gridCol w="2143125">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gridCol w="1304925">
                  <a:extLst>
                    <a:ext uri="{9D8B030D-6E8A-4147-A177-3AD203B41FA5}">
                      <a16:colId xmlns:a16="http://schemas.microsoft.com/office/drawing/2014/main" val="20002"/>
                    </a:ext>
                  </a:extLst>
                </a:gridCol>
              </a:tblGrid>
              <a:tr h="428625">
                <a:tc>
                  <a:txBody>
                    <a:bodyPr/>
                    <a:lstStyle/>
                    <a:p>
                      <a:pPr algn="l"/>
                      <a:r>
                        <a:rPr sz="1400" b="1">
                          <a:solidFill>
                            <a:srgbClr val="FFFFFF"/>
                          </a:solidFill>
                          <a:latin typeface="Calibri"/>
                          <a:ea typeface="Calibri"/>
                          <a:cs typeface="Calibri"/>
                        </a:rPr>
                        <a:t>Metric</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Random Forest</a:t>
                      </a:r>
                    </a:p>
                  </a:txBody>
                  <a:tcPr marL="95250" marR="95250" marT="76200" marB="76200" anchor="ctr">
                    <a:solidFill>
                      <a:srgbClr val="142A4A"/>
                    </a:solidFill>
                  </a:tcPr>
                </a:tc>
                <a:tc>
                  <a:txBody>
                    <a:bodyPr/>
                    <a:lstStyle/>
                    <a:p>
                      <a:pPr algn="ctr"/>
                      <a:r>
                        <a:rPr sz="1400" b="1">
                          <a:solidFill>
                            <a:srgbClr val="FFFFFF"/>
                          </a:solidFill>
                          <a:latin typeface="Calibri"/>
                          <a:ea typeface="Calibri"/>
                          <a:cs typeface="Calibri"/>
                        </a:rPr>
                        <a:t>XGBoost</a:t>
                      </a:r>
                    </a:p>
                  </a:txBody>
                  <a:tcPr marL="95250" marR="95250" marT="76200" marB="76200" anchor="ctr">
                    <a:solidFill>
                      <a:srgbClr val="142A4A"/>
                    </a:solidFill>
                  </a:tcPr>
                </a:tc>
                <a:extLst>
                  <a:ext uri="{0D108BD9-81ED-4DB2-BD59-A6C34878D82A}">
                    <a16:rowId xmlns:a16="http://schemas.microsoft.com/office/drawing/2014/main" val="10000"/>
                  </a:ext>
                </a:extLst>
              </a:tr>
              <a:tr h="428625">
                <a:tc>
                  <a:txBody>
                    <a:bodyPr/>
                    <a:lstStyle/>
                    <a:p>
                      <a:pPr algn="l"/>
                      <a:r>
                        <a:rPr sz="1400" b="0">
                          <a:solidFill>
                            <a:srgbClr val="232323"/>
                          </a:solidFill>
                          <a:latin typeface="Calibri"/>
                          <a:ea typeface="Calibri"/>
                          <a:cs typeface="Calibri"/>
                        </a:rPr>
                        <a:t>Accuracy</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99.10%</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98.50%</a:t>
                      </a:r>
                    </a:p>
                  </a:txBody>
                  <a:tcPr marL="95250" marR="95250" marT="76200" marB="76200" anchor="ctr">
                    <a:solidFill>
                      <a:srgbClr val="FFFFFF"/>
                    </a:solidFill>
                  </a:tcPr>
                </a:tc>
                <a:extLst>
                  <a:ext uri="{0D108BD9-81ED-4DB2-BD59-A6C34878D82A}">
                    <a16:rowId xmlns:a16="http://schemas.microsoft.com/office/drawing/2014/main" val="10001"/>
                  </a:ext>
                </a:extLst>
              </a:tr>
              <a:tr h="428625">
                <a:tc>
                  <a:txBody>
                    <a:bodyPr/>
                    <a:lstStyle/>
                    <a:p>
                      <a:pPr algn="l"/>
                      <a:r>
                        <a:rPr sz="1400" b="0">
                          <a:solidFill>
                            <a:srgbClr val="232323"/>
                          </a:solidFill>
                          <a:latin typeface="Calibri"/>
                          <a:ea typeface="Calibri"/>
                          <a:cs typeface="Calibri"/>
                        </a:rPr>
                        <a:t>Precision</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91.67%</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75.00%</a:t>
                      </a:r>
                    </a:p>
                  </a:txBody>
                  <a:tcPr marL="95250" marR="95250" marT="76200" marB="76200" anchor="ctr">
                    <a:solidFill>
                      <a:srgbClr val="F2F6FA"/>
                    </a:solidFill>
                  </a:tcPr>
                </a:tc>
                <a:extLst>
                  <a:ext uri="{0D108BD9-81ED-4DB2-BD59-A6C34878D82A}">
                    <a16:rowId xmlns:a16="http://schemas.microsoft.com/office/drawing/2014/main" val="10002"/>
                  </a:ext>
                </a:extLst>
              </a:tr>
              <a:tr h="428625">
                <a:tc>
                  <a:txBody>
                    <a:bodyPr/>
                    <a:lstStyle/>
                    <a:p>
                      <a:pPr algn="l"/>
                      <a:r>
                        <a:rPr sz="1400" b="0">
                          <a:solidFill>
                            <a:srgbClr val="232323"/>
                          </a:solidFill>
                          <a:latin typeface="Calibri"/>
                          <a:ea typeface="Calibri"/>
                          <a:cs typeface="Calibri"/>
                        </a:rPr>
                        <a:t>Recall</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80.88%</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83.82%</a:t>
                      </a:r>
                    </a:p>
                  </a:txBody>
                  <a:tcPr marL="95250" marR="95250" marT="76200" marB="76200" anchor="ctr">
                    <a:solidFill>
                      <a:srgbClr val="FFFFFF"/>
                    </a:solidFill>
                  </a:tcPr>
                </a:tc>
                <a:extLst>
                  <a:ext uri="{0D108BD9-81ED-4DB2-BD59-A6C34878D82A}">
                    <a16:rowId xmlns:a16="http://schemas.microsoft.com/office/drawing/2014/main" val="10003"/>
                  </a:ext>
                </a:extLst>
              </a:tr>
              <a:tr h="428625">
                <a:tc>
                  <a:txBody>
                    <a:bodyPr/>
                    <a:lstStyle/>
                    <a:p>
                      <a:pPr algn="l"/>
                      <a:r>
                        <a:rPr sz="1400" b="0">
                          <a:solidFill>
                            <a:srgbClr val="232323"/>
                          </a:solidFill>
                          <a:latin typeface="Calibri"/>
                          <a:ea typeface="Calibri"/>
                          <a:cs typeface="Calibri"/>
                        </a:rPr>
                        <a:t>F1</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85.94%</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79.17%</a:t>
                      </a:r>
                    </a:p>
                  </a:txBody>
                  <a:tcPr marL="95250" marR="95250" marT="76200" marB="76200" anchor="ctr">
                    <a:solidFill>
                      <a:srgbClr val="F2F6FA"/>
                    </a:solidFill>
                  </a:tcPr>
                </a:tc>
                <a:extLst>
                  <a:ext uri="{0D108BD9-81ED-4DB2-BD59-A6C34878D82A}">
                    <a16:rowId xmlns:a16="http://schemas.microsoft.com/office/drawing/2014/main" val="10004"/>
                  </a:ext>
                </a:extLst>
              </a:tr>
              <a:tr h="428625">
                <a:tc>
                  <a:txBody>
                    <a:bodyPr/>
                    <a:lstStyle/>
                    <a:p>
                      <a:pPr algn="l"/>
                      <a:r>
                        <a:rPr sz="1400" b="0">
                          <a:solidFill>
                            <a:srgbClr val="232323"/>
                          </a:solidFill>
                          <a:latin typeface="Calibri"/>
                          <a:ea typeface="Calibri"/>
                          <a:cs typeface="Calibri"/>
                        </a:rPr>
                        <a:t>ROC-AUC</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0.9686</a:t>
                      </a:r>
                    </a:p>
                  </a:txBody>
                  <a:tcPr marL="95250" marR="95250" marT="76200" marB="76200" anchor="ctr">
                    <a:solidFill>
                      <a:srgbClr val="FFFFFF"/>
                    </a:solidFill>
                  </a:tcPr>
                </a:tc>
                <a:tc>
                  <a:txBody>
                    <a:bodyPr/>
                    <a:lstStyle/>
                    <a:p>
                      <a:pPr algn="ctr"/>
                      <a:r>
                        <a:rPr sz="1400" b="0">
                          <a:solidFill>
                            <a:srgbClr val="232323"/>
                          </a:solidFill>
                          <a:latin typeface="Calibri"/>
                          <a:ea typeface="Calibri"/>
                          <a:cs typeface="Calibri"/>
                        </a:rPr>
                        <a:t>0.9821</a:t>
                      </a:r>
                    </a:p>
                  </a:txBody>
                  <a:tcPr marL="95250" marR="95250" marT="76200" marB="76200" anchor="ctr">
                    <a:solidFill>
                      <a:srgbClr val="FFFFFF"/>
                    </a:solidFill>
                  </a:tcPr>
                </a:tc>
                <a:extLst>
                  <a:ext uri="{0D108BD9-81ED-4DB2-BD59-A6C34878D82A}">
                    <a16:rowId xmlns:a16="http://schemas.microsoft.com/office/drawing/2014/main" val="10005"/>
                  </a:ext>
                </a:extLst>
              </a:tr>
              <a:tr h="428625">
                <a:tc>
                  <a:txBody>
                    <a:bodyPr/>
                    <a:lstStyle/>
                    <a:p>
                      <a:pPr algn="l"/>
                      <a:r>
                        <a:rPr sz="1400" b="0">
                          <a:solidFill>
                            <a:srgbClr val="232323"/>
                          </a:solidFill>
                          <a:latin typeface="Calibri"/>
                          <a:ea typeface="Calibri"/>
                          <a:cs typeface="Calibri"/>
                        </a:rPr>
                        <a:t>Average precision</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0.8606</a:t>
                      </a:r>
                    </a:p>
                  </a:txBody>
                  <a:tcPr marL="95250" marR="95250" marT="76200" marB="76200" anchor="ctr">
                    <a:solidFill>
                      <a:srgbClr val="F2F6FA"/>
                    </a:solidFill>
                  </a:tcPr>
                </a:tc>
                <a:tc>
                  <a:txBody>
                    <a:bodyPr/>
                    <a:lstStyle/>
                    <a:p>
                      <a:pPr algn="ctr"/>
                      <a:r>
                        <a:rPr sz="1400" b="0">
                          <a:solidFill>
                            <a:srgbClr val="232323"/>
                          </a:solidFill>
                          <a:latin typeface="Calibri"/>
                          <a:ea typeface="Calibri"/>
                          <a:cs typeface="Calibri"/>
                        </a:rPr>
                        <a:t>0.8902</a:t>
                      </a:r>
                    </a:p>
                  </a:txBody>
                  <a:tcPr marL="95250" marR="95250" marT="76200" marB="76200" anchor="ctr">
                    <a:solidFill>
                      <a:srgbClr val="F2F6FA"/>
                    </a:solidFill>
                  </a:tcPr>
                </a:tc>
                <a:extLst>
                  <a:ext uri="{0D108BD9-81ED-4DB2-BD59-A6C34878D82A}">
                    <a16:rowId xmlns:a16="http://schemas.microsoft.com/office/drawing/2014/main" val="10006"/>
                  </a:ext>
                </a:extLst>
              </a:tr>
            </a:tbl>
          </a:graphicData>
        </a:graphic>
      </p:graphicFrame>
      <p:graphicFrame>
        <p:nvGraphicFramePr>
          <p:cNvPr id="13" name="Chart">
            <a:extLst>
              <a:ext uri="{FF2B5EF4-FFF2-40B4-BE49-F238E27FC236}">
                <a16:creationId xmlns:a16="http://schemas.microsoft.com/office/drawing/2014/main" id="{D36758B9-D108-4588-A439-A659D47FD139}"/>
              </a:ext>
            </a:extLst>
          </p:cNvPr>
          <p:cNvGraphicFramePr/>
          <p:nvPr/>
        </p:nvGraphicFramePr>
        <p:xfrm>
          <a:off x="6496050" y="1581150"/>
          <a:ext cx="474345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14" name="The twin uses Random Forest, which has higher prec">
            <a:extLst>
              <a:ext uri="{FF2B5EF4-FFF2-40B4-BE49-F238E27FC236}">
                <a16:creationId xmlns:a16="http://schemas.microsoft.com/office/drawing/2014/main" id="{15091B73-9C4B-4D8A-922A-76ED10860687}"/>
              </a:ext>
            </a:extLst>
          </p:cNvPr>
          <p:cNvSpPr>
            <a:spLocks noGrp="1"/>
          </p:cNvSpPr>
          <p:nvPr/>
        </p:nvSpPr>
        <p:spPr>
          <a:xfrm>
            <a:off x="822960" y="5857875"/>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a:solidFill>
                  <a:srgbClr val="2F66AD"/>
                </a:solidFill>
                <a:latin typeface="Calibri"/>
                <a:ea typeface="Calibri"/>
                <a:cs typeface="Calibri"/>
              </a:rPr>
              <a:t>The twin uses Random Forest, which has higher precision and F1 on this saved split.</a:t>
            </a:r>
          </a:p>
        </p:txBody>
      </p:sp>
    </p:spTree>
    <p:extLst>
      <p:ext uri="{BB962C8B-B14F-4D97-AF65-F5344CB8AC3E}">
        <p14:creationId xmlns:p14="http://schemas.microsoft.com/office/powerpoint/2010/main" val="420639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29351-CA31-48BA-946C-08DA052037E8}"/>
              </a:ext>
            </a:extLst>
          </p:cNvPr>
          <p:cNvSpPr>
            <a:spLocks noGrp="1"/>
          </p:cNvSpPr>
          <p:nvPr/>
        </p:nvSpPr>
        <p:spPr>
          <a:xfrm>
            <a:off x="640080" y="411480"/>
            <a:ext cx="5637530"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Missed failures and false alarms</a:t>
            </a:r>
          </a:p>
        </p:txBody>
      </p:sp>
      <p:sp>
        <p:nvSpPr>
          <p:cNvPr id="3" name="Rounded Rectangle 2">
            <a:extLst>
              <a:ext uri="{FF2B5EF4-FFF2-40B4-BE49-F238E27FC236}">
                <a16:creationId xmlns:a16="http://schemas.microsoft.com/office/drawing/2014/main" id="{912FE116-D9BA-45D9-BB02-C812BB63E51E}"/>
              </a:ext>
            </a:extLst>
          </p:cNvPr>
          <p:cNvSpPr>
            <a:spLocks noGrp="1"/>
          </p:cNvSpPr>
          <p:nvPr/>
        </p:nvSpPr>
        <p:spPr>
          <a:xfrm>
            <a:off x="73152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7400F4C7-F36D-4588-841E-E2A55C196436}"/>
              </a:ext>
            </a:extLst>
          </p:cNvPr>
          <p:cNvSpPr>
            <a:spLocks noGrp="1"/>
          </p:cNvSpPr>
          <p:nvPr/>
        </p:nvSpPr>
        <p:spPr>
          <a:xfrm>
            <a:off x="630936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0F1EB1C-9F39-438F-A8BB-7F5B18843C32}"/>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411640-4599-4A6A-B267-CC3AFDD26E11}"/>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7</a:t>
            </a:r>
          </a:p>
        </p:txBody>
      </p:sp>
      <p:sp>
        <p:nvSpPr>
          <p:cNvPr id="11" name="Random Forest">
            <a:extLst>
              <a:ext uri="{FF2B5EF4-FFF2-40B4-BE49-F238E27FC236}">
                <a16:creationId xmlns:a16="http://schemas.microsoft.com/office/drawing/2014/main" id="{90BA8CB7-945B-4EF9-9696-6AAD69CDD141}"/>
              </a:ext>
            </a:extLst>
          </p:cNvPr>
          <p:cNvSpPr>
            <a:spLocks noGrp="1"/>
          </p:cNvSpPr>
          <p:nvPr/>
        </p:nvSpPr>
        <p:spPr>
          <a:xfrm>
            <a:off x="91440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Random Forest</a:t>
            </a:r>
          </a:p>
        </p:txBody>
      </p:sp>
      <p:sp>
        <p:nvSpPr>
          <p:cNvPr id="12" name="XGBoost">
            <a:extLst>
              <a:ext uri="{FF2B5EF4-FFF2-40B4-BE49-F238E27FC236}">
                <a16:creationId xmlns:a16="http://schemas.microsoft.com/office/drawing/2014/main" id="{1A504229-44A4-46D0-85AB-55B3C804A244}"/>
              </a:ext>
            </a:extLst>
          </p:cNvPr>
          <p:cNvSpPr>
            <a:spLocks noGrp="1"/>
          </p:cNvSpPr>
          <p:nvPr/>
        </p:nvSpPr>
        <p:spPr>
          <a:xfrm>
            <a:off x="649605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XGBoost</a:t>
            </a:r>
          </a:p>
        </p:txBody>
      </p:sp>
      <p:graphicFrame>
        <p:nvGraphicFramePr>
          <p:cNvPr id="13" name="Table 12">
            <a:extLst>
              <a:ext uri="{FF2B5EF4-FFF2-40B4-BE49-F238E27FC236}">
                <a16:creationId xmlns:a16="http://schemas.microsoft.com/office/drawing/2014/main" id="{F721D14D-4354-43CC-A2D5-D00761C42070}"/>
              </a:ext>
            </a:extLst>
          </p:cNvPr>
          <p:cNvGraphicFramePr/>
          <p:nvPr/>
        </p:nvGraphicFramePr>
        <p:xfrm>
          <a:off x="914400" y="2266950"/>
          <a:ext cx="4752975" cy="1828800"/>
        </p:xfrm>
        <a:graphic>
          <a:graphicData uri="http://schemas.openxmlformats.org/drawingml/2006/table">
            <a:tbl>
              <a:tblPr/>
              <a:tblGrid>
                <a:gridCol w="2428875">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tblGrid>
              <a:tr h="609600">
                <a:tc>
                  <a:txBody>
                    <a:bodyPr/>
                    <a:lstStyle/>
                    <a:p>
                      <a:pPr algn="l"/>
                      <a:r>
                        <a:rPr sz="1500" b="1">
                          <a:solidFill>
                            <a:srgbClr val="FFFFFF"/>
                          </a:solidFill>
                          <a:latin typeface="Calibri"/>
                          <a:ea typeface="Calibri"/>
                          <a:cs typeface="Calibri"/>
                        </a:rPr>
                        <a:t>Actual / predicted</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Normal</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Failure</a:t>
                      </a:r>
                    </a:p>
                  </a:txBody>
                  <a:tcPr marL="95250" marR="95250" marT="76200" marB="76200" anchor="ctr">
                    <a:solidFill>
                      <a:srgbClr val="142A4A"/>
                    </a:solidFill>
                  </a:tcPr>
                </a:tc>
                <a:extLst>
                  <a:ext uri="{0D108BD9-81ED-4DB2-BD59-A6C34878D82A}">
                    <a16:rowId xmlns:a16="http://schemas.microsoft.com/office/drawing/2014/main" val="10000"/>
                  </a:ext>
                </a:extLst>
              </a:tr>
              <a:tr h="609600">
                <a:tc>
                  <a:txBody>
                    <a:bodyPr/>
                    <a:lstStyle/>
                    <a:p>
                      <a:pPr algn="l"/>
                      <a:r>
                        <a:rPr sz="1500" b="0">
                          <a:solidFill>
                            <a:srgbClr val="232323"/>
                          </a:solidFill>
                          <a:latin typeface="Calibri"/>
                          <a:ea typeface="Calibri"/>
                          <a:cs typeface="Calibri"/>
                        </a:rPr>
                        <a:t>Normal</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1,927</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5</a:t>
                      </a:r>
                    </a:p>
                  </a:txBody>
                  <a:tcPr marL="95250" marR="95250" marT="76200" marB="76200" anchor="ctr">
                    <a:solidFill>
                      <a:srgbClr val="FFFFFF"/>
                    </a:solidFill>
                  </a:tcPr>
                </a:tc>
                <a:extLst>
                  <a:ext uri="{0D108BD9-81ED-4DB2-BD59-A6C34878D82A}">
                    <a16:rowId xmlns:a16="http://schemas.microsoft.com/office/drawing/2014/main" val="10001"/>
                  </a:ext>
                </a:extLst>
              </a:tr>
              <a:tr h="609600">
                <a:tc>
                  <a:txBody>
                    <a:bodyPr/>
                    <a:lstStyle/>
                    <a:p>
                      <a:pPr algn="l"/>
                      <a:r>
                        <a:rPr sz="1500" b="0">
                          <a:solidFill>
                            <a:srgbClr val="232323"/>
                          </a:solidFill>
                          <a:latin typeface="Calibri"/>
                          <a:ea typeface="Calibri"/>
                          <a:cs typeface="Calibri"/>
                        </a:rPr>
                        <a:t>Failure</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13</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55</a:t>
                      </a:r>
                    </a:p>
                  </a:txBody>
                  <a:tcPr marL="95250" marR="95250" marT="76200" marB="76200" anchor="ctr">
                    <a:solidFill>
                      <a:srgbClr val="F2F6FA"/>
                    </a:solidFill>
                  </a:tcPr>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DA4266E7-1DE9-4EB3-8D07-6F439D419E47}"/>
              </a:ext>
            </a:extLst>
          </p:cNvPr>
          <p:cNvGraphicFramePr/>
          <p:nvPr/>
        </p:nvGraphicFramePr>
        <p:xfrm>
          <a:off x="6496050" y="2266950"/>
          <a:ext cx="4752975" cy="1828800"/>
        </p:xfrm>
        <a:graphic>
          <a:graphicData uri="http://schemas.openxmlformats.org/drawingml/2006/table">
            <a:tbl>
              <a:tblPr/>
              <a:tblGrid>
                <a:gridCol w="2428875">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tblGrid>
              <a:tr h="609600">
                <a:tc>
                  <a:txBody>
                    <a:bodyPr/>
                    <a:lstStyle/>
                    <a:p>
                      <a:pPr algn="l"/>
                      <a:r>
                        <a:rPr sz="1500" b="1">
                          <a:solidFill>
                            <a:srgbClr val="FFFFFF"/>
                          </a:solidFill>
                          <a:latin typeface="Calibri"/>
                          <a:ea typeface="Calibri"/>
                          <a:cs typeface="Calibri"/>
                        </a:rPr>
                        <a:t>Actual / predicted</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Normal</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Failure</a:t>
                      </a:r>
                    </a:p>
                  </a:txBody>
                  <a:tcPr marL="95250" marR="95250" marT="76200" marB="76200" anchor="ctr">
                    <a:solidFill>
                      <a:srgbClr val="142A4A"/>
                    </a:solidFill>
                  </a:tcPr>
                </a:tc>
                <a:extLst>
                  <a:ext uri="{0D108BD9-81ED-4DB2-BD59-A6C34878D82A}">
                    <a16:rowId xmlns:a16="http://schemas.microsoft.com/office/drawing/2014/main" val="10000"/>
                  </a:ext>
                </a:extLst>
              </a:tr>
              <a:tr h="609600">
                <a:tc>
                  <a:txBody>
                    <a:bodyPr/>
                    <a:lstStyle/>
                    <a:p>
                      <a:pPr algn="l"/>
                      <a:r>
                        <a:rPr sz="1500" b="0">
                          <a:solidFill>
                            <a:srgbClr val="232323"/>
                          </a:solidFill>
                          <a:latin typeface="Calibri"/>
                          <a:ea typeface="Calibri"/>
                          <a:cs typeface="Calibri"/>
                        </a:rPr>
                        <a:t>Normal</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1,913</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19</a:t>
                      </a:r>
                    </a:p>
                  </a:txBody>
                  <a:tcPr marL="95250" marR="95250" marT="76200" marB="76200" anchor="ctr">
                    <a:solidFill>
                      <a:srgbClr val="FFFFFF"/>
                    </a:solidFill>
                  </a:tcPr>
                </a:tc>
                <a:extLst>
                  <a:ext uri="{0D108BD9-81ED-4DB2-BD59-A6C34878D82A}">
                    <a16:rowId xmlns:a16="http://schemas.microsoft.com/office/drawing/2014/main" val="10001"/>
                  </a:ext>
                </a:extLst>
              </a:tr>
              <a:tr h="609600">
                <a:tc>
                  <a:txBody>
                    <a:bodyPr/>
                    <a:lstStyle/>
                    <a:p>
                      <a:pPr algn="l"/>
                      <a:r>
                        <a:rPr sz="1500" b="0">
                          <a:solidFill>
                            <a:srgbClr val="232323"/>
                          </a:solidFill>
                          <a:latin typeface="Calibri"/>
                          <a:ea typeface="Calibri"/>
                          <a:cs typeface="Calibri"/>
                        </a:rPr>
                        <a:t>Failure</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11</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57</a:t>
                      </a:r>
                    </a:p>
                  </a:txBody>
                  <a:tcPr marL="95250" marR="95250" marT="76200" marB="76200" anchor="ctr">
                    <a:solidFill>
                      <a:srgbClr val="F2F6FA"/>
                    </a:solidFill>
                  </a:tcPr>
                </a:tc>
                <a:extLst>
                  <a:ext uri="{0D108BD9-81ED-4DB2-BD59-A6C34878D82A}">
                    <a16:rowId xmlns:a16="http://schemas.microsoft.com/office/drawing/2014/main" val="10002"/>
                  </a:ext>
                </a:extLst>
              </a:tr>
            </a:tbl>
          </a:graphicData>
        </a:graphic>
      </p:graphicFrame>
      <p:sp>
        <p:nvSpPr>
          <p:cNvPr id="15" name="13 missed failures&#10;5 false alarms">
            <a:extLst>
              <a:ext uri="{FF2B5EF4-FFF2-40B4-BE49-F238E27FC236}">
                <a16:creationId xmlns:a16="http://schemas.microsoft.com/office/drawing/2014/main" id="{EE63758B-49D7-4ED0-B1D8-E224B40B39DB}"/>
              </a:ext>
            </a:extLst>
          </p:cNvPr>
          <p:cNvSpPr>
            <a:spLocks noGrp="1"/>
          </p:cNvSpPr>
          <p:nvPr/>
        </p:nvSpPr>
        <p:spPr>
          <a:xfrm>
            <a:off x="1085850" y="4476750"/>
            <a:ext cx="4286250" cy="781050"/>
          </a:xfrm>
          <a:prstGeom prst="rect">
            <a:avLst/>
          </a:prstGeom>
          <a:noFill/>
          <a:ln w="0">
            <a:noFill/>
          </a:ln>
        </p:spPr>
        <p:txBody>
          <a:bodyPr wrap="square" lIns="0" tIns="0" rIns="0" bIns="0" anchor="t">
            <a:noAutofit/>
          </a:bodyPr>
          <a:lstStyle>
            <a:defPPr algn="l">
              <a:defRPr sz="2000" b="1">
                <a:solidFill>
                  <a:srgbClr val="2F66AD"/>
                </a:solidFill>
                <a:latin typeface="Calibri"/>
                <a:ea typeface="Calibri"/>
                <a:cs typeface="Calibri"/>
              </a:defRPr>
            </a:defPPr>
          </a:lstStyle>
          <a:p>
            <a:pPr algn="l">
              <a:defRPr sz="2000" b="1">
                <a:solidFill>
                  <a:srgbClr val="2F66AD"/>
                </a:solidFill>
                <a:latin typeface="Calibri"/>
                <a:ea typeface="Calibri"/>
                <a:cs typeface="Calibri"/>
              </a:defRPr>
            </a:pPr>
            <a:r>
              <a:rPr sz="2000" b="1">
                <a:solidFill>
                  <a:srgbClr val="2F66AD"/>
                </a:solidFill>
                <a:latin typeface="Calibri"/>
                <a:ea typeface="Calibri"/>
                <a:cs typeface="Calibri"/>
              </a:rPr>
              <a:t>13 missed failures</a:t>
            </a:r>
          </a:p>
          <a:p>
            <a:pPr algn="l">
              <a:defRPr sz="2000" b="1">
                <a:solidFill>
                  <a:srgbClr val="2F66AD"/>
                </a:solidFill>
                <a:latin typeface="Calibri"/>
                <a:ea typeface="Calibri"/>
                <a:cs typeface="Calibri"/>
              </a:defRPr>
            </a:pPr>
            <a:r>
              <a:rPr sz="2000" b="1">
                <a:solidFill>
                  <a:srgbClr val="2F66AD"/>
                </a:solidFill>
                <a:latin typeface="Calibri"/>
                <a:ea typeface="Calibri"/>
                <a:cs typeface="Calibri"/>
              </a:rPr>
              <a:t>5 false alarms</a:t>
            </a:r>
          </a:p>
        </p:txBody>
      </p:sp>
      <p:sp>
        <p:nvSpPr>
          <p:cNvPr id="16" name="11 missed failures&#10;19 false alarms">
            <a:extLst>
              <a:ext uri="{FF2B5EF4-FFF2-40B4-BE49-F238E27FC236}">
                <a16:creationId xmlns:a16="http://schemas.microsoft.com/office/drawing/2014/main" id="{62A93194-27B0-4AD9-9399-B09C6EB89E8F}"/>
              </a:ext>
            </a:extLst>
          </p:cNvPr>
          <p:cNvSpPr>
            <a:spLocks noGrp="1"/>
          </p:cNvSpPr>
          <p:nvPr/>
        </p:nvSpPr>
        <p:spPr>
          <a:xfrm>
            <a:off x="6667500" y="4476750"/>
            <a:ext cx="4286250" cy="781050"/>
          </a:xfrm>
          <a:prstGeom prst="rect">
            <a:avLst/>
          </a:prstGeom>
          <a:noFill/>
          <a:ln w="0">
            <a:noFill/>
          </a:ln>
        </p:spPr>
        <p:txBody>
          <a:bodyPr wrap="square" lIns="0" tIns="0" rIns="0" bIns="0" anchor="t">
            <a:noAutofit/>
          </a:bodyPr>
          <a:lstStyle>
            <a:defPPr algn="l">
              <a:defRPr sz="2000" b="1">
                <a:solidFill>
                  <a:srgbClr val="2F66AD"/>
                </a:solidFill>
                <a:latin typeface="Calibri"/>
                <a:ea typeface="Calibri"/>
                <a:cs typeface="Calibri"/>
              </a:defRPr>
            </a:defPPr>
          </a:lstStyle>
          <a:p>
            <a:pPr algn="l">
              <a:defRPr sz="2000" b="1">
                <a:solidFill>
                  <a:srgbClr val="2F66AD"/>
                </a:solidFill>
                <a:latin typeface="Calibri"/>
                <a:ea typeface="Calibri"/>
                <a:cs typeface="Calibri"/>
              </a:defRPr>
            </a:pPr>
            <a:r>
              <a:rPr sz="2000" b="1">
                <a:solidFill>
                  <a:srgbClr val="2F66AD"/>
                </a:solidFill>
                <a:latin typeface="Calibri"/>
                <a:ea typeface="Calibri"/>
                <a:cs typeface="Calibri"/>
              </a:rPr>
              <a:t>11 missed failures</a:t>
            </a:r>
          </a:p>
          <a:p>
            <a:pPr algn="l">
              <a:defRPr sz="2000" b="1">
                <a:solidFill>
                  <a:srgbClr val="2F66AD"/>
                </a:solidFill>
                <a:latin typeface="Calibri"/>
                <a:ea typeface="Calibri"/>
                <a:cs typeface="Calibri"/>
              </a:defRPr>
            </a:pPr>
            <a:r>
              <a:rPr sz="2000" b="1">
                <a:solidFill>
                  <a:srgbClr val="2F66AD"/>
                </a:solidFill>
                <a:latin typeface="Calibri"/>
                <a:ea typeface="Calibri"/>
                <a:cs typeface="Calibri"/>
              </a:rPr>
              <a:t>19 false alarms</a:t>
            </a:r>
          </a:p>
        </p:txBody>
      </p:sp>
      <p:sp>
        <p:nvSpPr>
          <p:cNvPr id="17" name="XGBoost detects 2 additional failures and produces">
            <a:extLst>
              <a:ext uri="{FF2B5EF4-FFF2-40B4-BE49-F238E27FC236}">
                <a16:creationId xmlns:a16="http://schemas.microsoft.com/office/drawing/2014/main" id="{87F082B8-E06E-4F02-B3AE-E2F6FE0F7B36}"/>
              </a:ext>
            </a:extLst>
          </p:cNvPr>
          <p:cNvSpPr>
            <a:spLocks noGrp="1"/>
          </p:cNvSpPr>
          <p:nvPr/>
        </p:nvSpPr>
        <p:spPr>
          <a:xfrm>
            <a:off x="822960" y="5857875"/>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a:solidFill>
                  <a:srgbClr val="2F66AD"/>
                </a:solidFill>
                <a:latin typeface="Calibri"/>
                <a:ea typeface="Calibri"/>
                <a:cs typeface="Calibri"/>
              </a:rPr>
              <a:t>XGBoost detects 2 additional failures and produces 14 additional false alarms.</a:t>
            </a:r>
          </a:p>
        </p:txBody>
      </p:sp>
    </p:spTree>
    <p:extLst>
      <p:ext uri="{BB962C8B-B14F-4D97-AF65-F5344CB8AC3E}">
        <p14:creationId xmlns:p14="http://schemas.microsoft.com/office/powerpoint/2010/main" val="420639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307015-76C7-44A7-A705-B6550885059E}"/>
              </a:ext>
            </a:extLst>
          </p:cNvPr>
          <p:cNvSpPr>
            <a:spLocks noGrp="1"/>
          </p:cNvSpPr>
          <p:nvPr/>
        </p:nvSpPr>
        <p:spPr>
          <a:xfrm>
            <a:off x="640080" y="411480"/>
            <a:ext cx="5877242"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Implemented system architecture</a:t>
            </a:r>
          </a:p>
        </p:txBody>
      </p:sp>
      <p:sp>
        <p:nvSpPr>
          <p:cNvPr id="3" name="Rounded Rectangle 2">
            <a:extLst>
              <a:ext uri="{FF2B5EF4-FFF2-40B4-BE49-F238E27FC236}">
                <a16:creationId xmlns:a16="http://schemas.microsoft.com/office/drawing/2014/main" id="{614B34BB-F78D-41CD-BDFE-B0DB8E54D790}"/>
              </a:ext>
            </a:extLst>
          </p:cNvPr>
          <p:cNvSpPr>
            <a:spLocks noGrp="1"/>
          </p:cNvSpPr>
          <p:nvPr/>
        </p:nvSpPr>
        <p:spPr>
          <a:xfrm>
            <a:off x="461845" y="2011680"/>
            <a:ext cx="2235635" cy="1143000"/>
          </a:xfrm>
          <a:prstGeom prst="roundRect">
            <a:avLst/>
          </a:prstGeom>
          <a:solidFill>
            <a:srgbClr val="F2F6FA"/>
          </a:solidFill>
          <a:ln>
            <a:solidFill>
              <a:srgbClr val="2F66A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606056B-E429-4654-B01F-1F3D7BC22AD9}"/>
              </a:ext>
            </a:extLst>
          </p:cNvPr>
          <p:cNvSpPr>
            <a:spLocks noGrp="1"/>
          </p:cNvSpPr>
          <p:nvPr/>
        </p:nvSpPr>
        <p:spPr>
          <a:xfrm>
            <a:off x="552450" y="2181225"/>
            <a:ext cx="2057400" cy="857250"/>
          </a:xfrm>
          <a:prstGeom prst="rect">
            <a:avLst/>
          </a:prstGeom>
          <a:noFill/>
        </p:spPr>
        <p:txBody>
          <a:bodyPr wrap="square" lIns="0" tIns="0" rIns="0" bIns="0" anchor="t">
            <a:noAutofit/>
          </a:bodyPr>
          <a:lstStyle>
            <a:defPPr algn="ctr">
              <a:defRPr sz="1650" b="1">
                <a:solidFill>
                  <a:srgbClr val="142A4A"/>
                </a:solidFill>
                <a:latin typeface="Calibri"/>
                <a:ea typeface="Calibri"/>
                <a:cs typeface="Calibri"/>
              </a:defRPr>
            </a:defPPr>
          </a:lstStyle>
          <a:p>
            <a:pPr algn="ctr">
              <a:buNone/>
              <a:defRPr sz="1650" b="1">
                <a:solidFill>
                  <a:srgbClr val="142A4A"/>
                </a:solidFill>
                <a:latin typeface="Calibri"/>
                <a:ea typeface="Calibri"/>
                <a:cs typeface="Calibri"/>
              </a:defRPr>
            </a:pPr>
            <a:r>
              <a:rPr sz="1650" b="1">
                <a:solidFill>
                  <a:srgbClr val="142A4A"/>
                </a:solidFill>
                <a:latin typeface="Calibri"/>
                <a:ea typeface="Calibri"/>
                <a:cs typeface="Calibri"/>
              </a:rPr>
              <a:t>Machine inputs</a:t>
            </a:r>
            <a:endParaRPr/>
          </a:p>
          <a:p>
            <a:pPr algn="ctr">
              <a:buNone/>
              <a:defRPr sz="1650" b="1">
                <a:solidFill>
                  <a:srgbClr val="142A4A"/>
                </a:solidFill>
                <a:latin typeface="Calibri"/>
                <a:ea typeface="Calibri"/>
                <a:cs typeface="Calibri"/>
              </a:defRPr>
            </a:pPr>
            <a:r>
              <a:rPr sz="1650" b="1">
                <a:solidFill>
                  <a:srgbClr val="142A4A"/>
                </a:solidFill>
                <a:latin typeface="Calibri"/>
                <a:ea typeface="Calibri"/>
                <a:cs typeface="Calibri"/>
              </a:rPr>
              <a:t>6 fields</a:t>
            </a:r>
          </a:p>
          <a:p>
            <a:pPr algn="ctr">
              <a:buNone/>
              <a:defRPr sz="1650" b="1">
                <a:solidFill>
                  <a:srgbClr val="142A4A"/>
                </a:solidFill>
                <a:latin typeface="Calibri"/>
                <a:ea typeface="Calibri"/>
                <a:cs typeface="Calibri"/>
              </a:defRPr>
            </a:pPr>
            <a:r>
              <a:rPr sz="1650" b="1">
                <a:solidFill>
                  <a:srgbClr val="142A4A"/>
                </a:solidFill>
                <a:latin typeface="Calibri"/>
                <a:ea typeface="Calibri"/>
                <a:cs typeface="Calibri"/>
              </a:rPr>
              <a:t>Manual entry</a:t>
            </a:r>
          </a:p>
        </p:txBody>
      </p:sp>
      <p:sp>
        <p:nvSpPr>
          <p:cNvPr id="5" name="Rounded Rectangle 4">
            <a:extLst>
              <a:ext uri="{FF2B5EF4-FFF2-40B4-BE49-F238E27FC236}">
                <a16:creationId xmlns:a16="http://schemas.microsoft.com/office/drawing/2014/main" id="{C9DC3A1C-3DDE-41A7-9DB7-7F32DF0EDC7E}"/>
              </a:ext>
            </a:extLst>
          </p:cNvPr>
          <p:cNvSpPr>
            <a:spLocks noGrp="1"/>
          </p:cNvSpPr>
          <p:nvPr/>
        </p:nvSpPr>
        <p:spPr>
          <a:xfrm>
            <a:off x="3246120" y="1417320"/>
            <a:ext cx="2286000" cy="2240280"/>
          </a:xfrm>
          <a:prstGeom prst="roundRect">
            <a:avLst/>
          </a:prstGeom>
          <a:solidFill>
            <a:srgbClr val="F2F6FA"/>
          </a:solidFill>
          <a:ln>
            <a:solidFill>
              <a:srgbClr val="2F66A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CFC5A90-2681-4ACC-AC55-4C32204CD7C5}"/>
              </a:ext>
            </a:extLst>
          </p:cNvPr>
          <p:cNvSpPr>
            <a:spLocks noGrp="1"/>
          </p:cNvSpPr>
          <p:nvPr/>
        </p:nvSpPr>
        <p:spPr>
          <a:xfrm>
            <a:off x="3337560" y="1527048"/>
            <a:ext cx="1694180" cy="1402080"/>
          </a:xfrm>
          <a:prstGeom prst="rect">
            <a:avLst/>
          </a:prstGeom>
          <a:noFill/>
        </p:spPr>
        <p:txBody>
          <a:bodyPr wrap="square" lIns="0" tIns="0" rIns="0" bIns="0" anchor="t">
            <a:noAutofit/>
          </a:bodyPr>
          <a:lstStyle>
            <a:defPPr algn="ctr">
              <a:defRPr sz="1725" b="1">
                <a:solidFill>
                  <a:srgbClr val="142A4A"/>
                </a:solidFill>
                <a:latin typeface="Calibri"/>
                <a:ea typeface="Calibri"/>
                <a:cs typeface="Calibri"/>
              </a:defRPr>
            </a:defPPr>
          </a:lstStyle>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DIGITAL TWIN</a:t>
            </a:r>
          </a:p>
          <a:p>
            <a:pPr algn="ctr">
              <a:buNone/>
              <a:defRPr sz="1700" b="1">
                <a:solidFill>
                  <a:srgbClr val="142A4A"/>
                </a:solidFill>
              </a:defRPr>
            </a:pPr>
            <a:endParaRPr sz="1725" b="1">
              <a:solidFill>
                <a:srgbClr val="142A4A"/>
              </a:solidFill>
              <a:latin typeface="Calibri"/>
              <a:ea typeface="Calibri"/>
              <a:cs typeface="Calibri"/>
            </a:endParaRPr>
          </a:p>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Evaluated state</a:t>
            </a:r>
          </a:p>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Risk score</a:t>
            </a:r>
          </a:p>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Session history</a:t>
            </a:r>
          </a:p>
        </p:txBody>
      </p:sp>
      <p:sp>
        <p:nvSpPr>
          <p:cNvPr id="7" name="Rounded Rectangle 6">
            <a:extLst>
              <a:ext uri="{FF2B5EF4-FFF2-40B4-BE49-F238E27FC236}">
                <a16:creationId xmlns:a16="http://schemas.microsoft.com/office/drawing/2014/main" id="{1B6DA296-0154-4D16-8825-B72ECD8559DB}"/>
              </a:ext>
            </a:extLst>
          </p:cNvPr>
          <p:cNvSpPr>
            <a:spLocks noGrp="1"/>
          </p:cNvSpPr>
          <p:nvPr/>
        </p:nvSpPr>
        <p:spPr>
          <a:xfrm>
            <a:off x="6126480" y="1143000"/>
            <a:ext cx="2011680" cy="1325880"/>
          </a:xfrm>
          <a:prstGeom prst="roundRect">
            <a:avLst/>
          </a:prstGeom>
          <a:solidFill>
            <a:srgbClr val="F2F6FA"/>
          </a:solidFill>
          <a:ln>
            <a:solidFill>
              <a:srgbClr val="2F66A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4318EFA5-EE49-4383-A950-43D0DDBB7E3B}"/>
              </a:ext>
            </a:extLst>
          </p:cNvPr>
          <p:cNvSpPr>
            <a:spLocks noGrp="1"/>
          </p:cNvSpPr>
          <p:nvPr/>
        </p:nvSpPr>
        <p:spPr>
          <a:xfrm>
            <a:off x="6217920" y="1252728"/>
            <a:ext cx="1887855" cy="1070610"/>
          </a:xfrm>
          <a:prstGeom prst="rect">
            <a:avLst/>
          </a:prstGeom>
          <a:noFill/>
        </p:spPr>
        <p:txBody>
          <a:bodyPr wrap="square" lIns="0" tIns="0" rIns="0" bIns="0" anchor="t">
            <a:noAutofit/>
          </a:bodyPr>
          <a:lstStyle>
            <a:defPPr algn="ctr">
              <a:defRPr sz="1575" b="1">
                <a:solidFill>
                  <a:srgbClr val="142A4A"/>
                </a:solidFill>
                <a:latin typeface="Calibri"/>
                <a:ea typeface="Calibri"/>
                <a:cs typeface="Calibri"/>
              </a:defRPr>
            </a:defPPr>
          </a:lstStyle>
          <a:p>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RANDOM FOREST</a:t>
            </a:r>
          </a:p>
          <a:p>
            <a:pPr algn="ctr">
              <a:buNone/>
              <a:defRPr sz="1700" b="1">
                <a:solidFill>
                  <a:srgbClr val="142A4A"/>
                </a:solidFill>
              </a:defRPr>
            </a:pPr>
            <a:endParaRPr sz="1575" b="1">
              <a:solidFill>
                <a:srgbClr val="142A4A"/>
              </a:solidFill>
              <a:latin typeface="Calibri"/>
              <a:ea typeface="Calibri"/>
              <a:cs typeface="Calibri"/>
            </a:endParaRPr>
          </a:p>
          <a:p>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14 features</a:t>
            </a:r>
          </a:p>
          <a:p>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Failure score</a:t>
            </a:r>
          </a:p>
        </p:txBody>
      </p:sp>
      <p:sp>
        <p:nvSpPr>
          <p:cNvPr id="9" name="Rounded Rectangle 8">
            <a:extLst>
              <a:ext uri="{FF2B5EF4-FFF2-40B4-BE49-F238E27FC236}">
                <a16:creationId xmlns:a16="http://schemas.microsoft.com/office/drawing/2014/main" id="{F58A5273-7A13-4787-92CC-6BEE9325C53F}"/>
              </a:ext>
            </a:extLst>
          </p:cNvPr>
          <p:cNvSpPr>
            <a:spLocks noGrp="1"/>
          </p:cNvSpPr>
          <p:nvPr/>
        </p:nvSpPr>
        <p:spPr>
          <a:xfrm>
            <a:off x="6126480" y="3154680"/>
            <a:ext cx="2011680" cy="1325880"/>
          </a:xfrm>
          <a:prstGeom prst="roundRect">
            <a:avLst/>
          </a:prstGeom>
          <a:solidFill>
            <a:srgbClr val="F2F6FA"/>
          </a:solidFill>
          <a:ln>
            <a:solidFill>
              <a:srgbClr val="2F66A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F12AAA9-B3BA-4D43-B43A-FD2292059ED5}"/>
              </a:ext>
            </a:extLst>
          </p:cNvPr>
          <p:cNvSpPr>
            <a:spLocks noGrp="1"/>
          </p:cNvSpPr>
          <p:nvPr/>
        </p:nvSpPr>
        <p:spPr>
          <a:xfrm>
            <a:off x="6217920" y="3264408"/>
            <a:ext cx="1432243" cy="1070610"/>
          </a:xfrm>
          <a:prstGeom prst="rect">
            <a:avLst/>
          </a:prstGeom>
          <a:noFill/>
        </p:spPr>
        <p:txBody>
          <a:bodyPr wrap="square" lIns="0" tIns="0" rIns="0" bIns="0" anchor="t">
            <a:noAutofit/>
          </a:bodyPr>
          <a:lstStyle>
            <a:defPPr algn="ctr">
              <a:defRPr sz="1575" b="1">
                <a:solidFill>
                  <a:srgbClr val="142A4A"/>
                </a:solidFill>
                <a:latin typeface="Calibri"/>
                <a:ea typeface="Calibri"/>
                <a:cs typeface="Calibri"/>
              </a:defRPr>
            </a:defPPr>
          </a:lstStyle>
          <a:p>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WHAT-IF</a:t>
            </a:r>
          </a:p>
          <a:p>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SIMULATION</a:t>
            </a:r>
          </a:p>
          <a:p>
            <a:pPr algn="ctr">
              <a:buNone/>
              <a:defRPr sz="1700" b="1">
                <a:solidFill>
                  <a:srgbClr val="142A4A"/>
                </a:solidFill>
              </a:defRPr>
            </a:pPr>
            <a:endParaRPr sz="1575" b="1">
              <a:solidFill>
                <a:srgbClr val="142A4A"/>
              </a:solidFill>
              <a:latin typeface="Calibri"/>
              <a:ea typeface="Calibri"/>
              <a:cs typeface="Calibri"/>
            </a:endParaRPr>
          </a:p>
          <a:p>
            <a:pPr algn="ctr">
              <a:buNone/>
              <a:defRPr sz="1575" b="1">
                <a:solidFill>
                  <a:srgbClr val="142A4A"/>
                </a:solidFill>
                <a:latin typeface="Calibri"/>
                <a:ea typeface="Calibri"/>
                <a:cs typeface="Calibri"/>
              </a:defRPr>
            </a:pPr>
            <a:r>
              <a:rPr sz="1575" b="1">
                <a:solidFill>
                  <a:srgbClr val="142A4A"/>
                </a:solidFill>
                <a:latin typeface="Calibri"/>
                <a:ea typeface="Calibri"/>
                <a:cs typeface="Calibri"/>
              </a:rPr>
              <a:t>Baseline fixed</a:t>
            </a:r>
          </a:p>
        </p:txBody>
      </p:sp>
      <p:sp>
        <p:nvSpPr>
          <p:cNvPr id="11" name="Rounded Rectangle 10">
            <a:extLst>
              <a:ext uri="{FF2B5EF4-FFF2-40B4-BE49-F238E27FC236}">
                <a16:creationId xmlns:a16="http://schemas.microsoft.com/office/drawing/2014/main" id="{7A0AD42C-2755-4079-A1B8-1CE51DD12315}"/>
              </a:ext>
            </a:extLst>
          </p:cNvPr>
          <p:cNvSpPr>
            <a:spLocks noGrp="1"/>
          </p:cNvSpPr>
          <p:nvPr/>
        </p:nvSpPr>
        <p:spPr>
          <a:xfrm>
            <a:off x="8732520" y="1828800"/>
            <a:ext cx="2514600" cy="1828800"/>
          </a:xfrm>
          <a:prstGeom prst="roundRect">
            <a:avLst/>
          </a:prstGeom>
          <a:solidFill>
            <a:srgbClr val="F2F6FA"/>
          </a:solidFill>
          <a:ln>
            <a:solidFill>
              <a:srgbClr val="2F66A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6FA1C27-88CF-42B3-8982-BAF88F640951}"/>
              </a:ext>
            </a:extLst>
          </p:cNvPr>
          <p:cNvSpPr>
            <a:spLocks noGrp="1"/>
          </p:cNvSpPr>
          <p:nvPr/>
        </p:nvSpPr>
        <p:spPr>
          <a:xfrm>
            <a:off x="8823960" y="1938528"/>
            <a:ext cx="1583055" cy="1402080"/>
          </a:xfrm>
          <a:prstGeom prst="rect">
            <a:avLst/>
          </a:prstGeom>
          <a:noFill/>
        </p:spPr>
        <p:txBody>
          <a:bodyPr wrap="square" lIns="0" tIns="0" rIns="0" bIns="0" anchor="t">
            <a:noAutofit/>
          </a:bodyPr>
          <a:lstStyle>
            <a:defPPr algn="ctr">
              <a:defRPr sz="1725" b="1">
                <a:solidFill>
                  <a:srgbClr val="142A4A"/>
                </a:solidFill>
                <a:latin typeface="Calibri"/>
                <a:ea typeface="Calibri"/>
                <a:cs typeface="Calibri"/>
              </a:defRPr>
            </a:defPPr>
          </a:lstStyle>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LANGGRAPH</a:t>
            </a:r>
          </a:p>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COPILOT</a:t>
            </a:r>
          </a:p>
          <a:p>
            <a:pPr algn="ctr">
              <a:buNone/>
              <a:defRPr sz="1700" b="1">
                <a:solidFill>
                  <a:srgbClr val="142A4A"/>
                </a:solidFill>
              </a:defRPr>
            </a:pPr>
            <a:endParaRPr sz="1725" b="1">
              <a:solidFill>
                <a:srgbClr val="142A4A"/>
              </a:solidFill>
              <a:latin typeface="Calibri"/>
              <a:ea typeface="Calibri"/>
              <a:cs typeface="Calibri"/>
            </a:endParaRPr>
          </a:p>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GPT-4.1 mini</a:t>
            </a:r>
          </a:p>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5 project tools</a:t>
            </a:r>
          </a:p>
        </p:txBody>
      </p:sp>
      <p:sp>
        <p:nvSpPr>
          <p:cNvPr id="13" name="Rounded Rectangle 12">
            <a:extLst>
              <a:ext uri="{FF2B5EF4-FFF2-40B4-BE49-F238E27FC236}">
                <a16:creationId xmlns:a16="http://schemas.microsoft.com/office/drawing/2014/main" id="{9A661AD0-CFFC-42B1-966C-CA4FED46339C}"/>
              </a:ext>
            </a:extLst>
          </p:cNvPr>
          <p:cNvSpPr>
            <a:spLocks noGrp="1"/>
          </p:cNvSpPr>
          <p:nvPr/>
        </p:nvSpPr>
        <p:spPr>
          <a:xfrm>
            <a:off x="9098280" y="4800600"/>
            <a:ext cx="1783080" cy="777240"/>
          </a:xfrm>
          <a:prstGeom prst="roundRect">
            <a:avLst/>
          </a:prstGeom>
          <a:solidFill>
            <a:srgbClr val="F2F6FA"/>
          </a:solidFill>
          <a:ln>
            <a:solidFill>
              <a:srgbClr val="2F66A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BCEE5E67-3E8C-40E8-BF9D-6F8391D8E6E8}"/>
              </a:ext>
            </a:extLst>
          </p:cNvPr>
          <p:cNvSpPr>
            <a:spLocks noGrp="1"/>
          </p:cNvSpPr>
          <p:nvPr/>
        </p:nvSpPr>
        <p:spPr>
          <a:xfrm>
            <a:off x="9189719" y="4910328"/>
            <a:ext cx="1327467" cy="354330"/>
          </a:xfrm>
          <a:prstGeom prst="rect">
            <a:avLst/>
          </a:prstGeom>
          <a:noFill/>
        </p:spPr>
        <p:txBody>
          <a:bodyPr wrap="square" lIns="0" tIns="0" rIns="0" bIns="0" anchor="t">
            <a:noAutofit/>
          </a:bodyPr>
          <a:lstStyle>
            <a:defPPr algn="ctr">
              <a:defRPr sz="1725" b="1">
                <a:solidFill>
                  <a:srgbClr val="142A4A"/>
                </a:solidFill>
                <a:latin typeface="Calibri"/>
                <a:ea typeface="Calibri"/>
                <a:cs typeface="Calibri"/>
              </a:defRPr>
            </a:defPPr>
          </a:lstStyle>
          <a:p>
            <a:pPr algn="ctr">
              <a:buNone/>
              <a:defRPr sz="1725" b="1">
                <a:solidFill>
                  <a:srgbClr val="142A4A"/>
                </a:solidFill>
                <a:latin typeface="Calibri"/>
                <a:ea typeface="Calibri"/>
                <a:cs typeface="Calibri"/>
              </a:defRPr>
            </a:pPr>
            <a:r>
              <a:rPr sz="1725" b="1">
                <a:solidFill>
                  <a:srgbClr val="142A4A"/>
                </a:solidFill>
                <a:latin typeface="Calibri"/>
                <a:ea typeface="Calibri"/>
                <a:cs typeface="Calibri"/>
              </a:rPr>
              <a:t>Streamlit UI</a:t>
            </a:r>
          </a:p>
        </p:txBody>
      </p:sp>
      <p:sp>
        <p:nvSpPr>
          <p:cNvPr id="15" name="Connector 14">
            <a:extLst>
              <a:ext uri="{FF2B5EF4-FFF2-40B4-BE49-F238E27FC236}">
                <a16:creationId xmlns:a16="http://schemas.microsoft.com/office/drawing/2014/main" id="{0D913637-FA9F-41F8-B529-563607B7FFB1}"/>
              </a:ext>
            </a:extLst>
          </p:cNvPr>
          <p:cNvSpPr>
            <a:spLocks noGrp="1"/>
          </p:cNvSpPr>
          <p:nvPr/>
        </p:nvSpPr>
        <p:spPr>
          <a:xfrm>
            <a:off x="2697480" y="2578608"/>
            <a:ext cx="548640" cy="0"/>
          </a:xfrm>
          <a:prstGeom prst="line">
            <a:avLst/>
          </a:prstGeom>
          <a:ln w="25400">
            <a:solidFill>
              <a:srgbClr val="2F66A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6" name="Connector 15">
            <a:extLst>
              <a:ext uri="{FF2B5EF4-FFF2-40B4-BE49-F238E27FC236}">
                <a16:creationId xmlns:a16="http://schemas.microsoft.com/office/drawing/2014/main" id="{AD5BE188-E893-4D5B-9FDE-498C504BB679}"/>
              </a:ext>
            </a:extLst>
          </p:cNvPr>
          <p:cNvSpPr>
            <a:spLocks noGrp="1"/>
          </p:cNvSpPr>
          <p:nvPr/>
        </p:nvSpPr>
        <p:spPr>
          <a:xfrm flipV="1">
            <a:off x="5532120" y="1783080"/>
            <a:ext cx="594360" cy="182880"/>
          </a:xfrm>
          <a:prstGeom prst="line">
            <a:avLst/>
          </a:prstGeom>
          <a:ln w="25400">
            <a:solidFill>
              <a:srgbClr val="2F66A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7" name="Connector 16">
            <a:extLst>
              <a:ext uri="{FF2B5EF4-FFF2-40B4-BE49-F238E27FC236}">
                <a16:creationId xmlns:a16="http://schemas.microsoft.com/office/drawing/2014/main" id="{1C462BCD-7806-425B-9D2B-3868A9338E88}"/>
              </a:ext>
            </a:extLst>
          </p:cNvPr>
          <p:cNvSpPr>
            <a:spLocks noGrp="1"/>
          </p:cNvSpPr>
          <p:nvPr/>
        </p:nvSpPr>
        <p:spPr>
          <a:xfrm>
            <a:off x="5532120" y="3063240"/>
            <a:ext cx="594360" cy="731520"/>
          </a:xfrm>
          <a:prstGeom prst="line">
            <a:avLst/>
          </a:prstGeom>
          <a:ln w="25400">
            <a:solidFill>
              <a:srgbClr val="2F66A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8" name="Connector 17">
            <a:extLst>
              <a:ext uri="{FF2B5EF4-FFF2-40B4-BE49-F238E27FC236}">
                <a16:creationId xmlns:a16="http://schemas.microsoft.com/office/drawing/2014/main" id="{9B21CF81-6D16-4458-BF95-2D78DE9BA2C4}"/>
              </a:ext>
            </a:extLst>
          </p:cNvPr>
          <p:cNvSpPr>
            <a:spLocks noGrp="1"/>
          </p:cNvSpPr>
          <p:nvPr/>
        </p:nvSpPr>
        <p:spPr>
          <a:xfrm>
            <a:off x="8138160" y="1783080"/>
            <a:ext cx="594360" cy="640080"/>
          </a:xfrm>
          <a:prstGeom prst="line">
            <a:avLst/>
          </a:prstGeom>
          <a:ln w="25400">
            <a:solidFill>
              <a:srgbClr val="2F66A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9" name="Connector 18">
            <a:extLst>
              <a:ext uri="{FF2B5EF4-FFF2-40B4-BE49-F238E27FC236}">
                <a16:creationId xmlns:a16="http://schemas.microsoft.com/office/drawing/2014/main" id="{A84F4245-E492-43CE-A531-0E2B4ADC27EA}"/>
              </a:ext>
            </a:extLst>
          </p:cNvPr>
          <p:cNvSpPr>
            <a:spLocks noGrp="1"/>
          </p:cNvSpPr>
          <p:nvPr/>
        </p:nvSpPr>
        <p:spPr>
          <a:xfrm flipV="1">
            <a:off x="8138160" y="3063240"/>
            <a:ext cx="594360" cy="731520"/>
          </a:xfrm>
          <a:prstGeom prst="line">
            <a:avLst/>
          </a:prstGeom>
          <a:ln w="25400">
            <a:solidFill>
              <a:srgbClr val="2F66A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0" name="Connector 19">
            <a:extLst>
              <a:ext uri="{FF2B5EF4-FFF2-40B4-BE49-F238E27FC236}">
                <a16:creationId xmlns:a16="http://schemas.microsoft.com/office/drawing/2014/main" id="{99455B73-E255-4940-B2F9-41244F9C2B83}"/>
              </a:ext>
            </a:extLst>
          </p:cNvPr>
          <p:cNvSpPr>
            <a:spLocks noGrp="1"/>
          </p:cNvSpPr>
          <p:nvPr/>
        </p:nvSpPr>
        <p:spPr>
          <a:xfrm>
            <a:off x="9966960" y="3657600"/>
            <a:ext cx="0" cy="1143000"/>
          </a:xfrm>
          <a:prstGeom prst="line">
            <a:avLst/>
          </a:prstGeom>
          <a:ln w="25400">
            <a:solidFill>
              <a:srgbClr val="2F66AD"/>
            </a:solidFill>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21" name="TextBox 20">
            <a:extLst>
              <a:ext uri="{FF2B5EF4-FFF2-40B4-BE49-F238E27FC236}">
                <a16:creationId xmlns:a16="http://schemas.microsoft.com/office/drawing/2014/main" id="{D68B0BF8-02BB-4795-BB6C-09ACD963529C}"/>
              </a:ext>
            </a:extLst>
          </p:cNvPr>
          <p:cNvSpPr>
            <a:spLocks noGrp="1"/>
          </p:cNvSpPr>
          <p:nvPr/>
        </p:nvSpPr>
        <p:spPr>
          <a:xfrm>
            <a:off x="832996" y="5747003"/>
            <a:ext cx="10477500" cy="666750"/>
          </a:xfrm>
          <a:prstGeom prst="rect">
            <a:avLst/>
          </a:prstGeom>
          <a:noFill/>
        </p:spPr>
        <p:txBody>
          <a:bodyPr wrap="square" lIns="0" tIns="0" rIns="0" bIns="0" anchor="t">
            <a:noAutofit/>
          </a:bodyPr>
          <a:lstStyle>
            <a:defPPr algn="l">
              <a:defRPr sz="1725" b="1">
                <a:solidFill>
                  <a:srgbClr val="142A4A"/>
                </a:solidFill>
                <a:latin typeface="Calibri"/>
                <a:ea typeface="Calibri"/>
                <a:cs typeface="Calibri"/>
              </a:defRPr>
            </a:defPPr>
          </a:lstStyle>
          <a:p>
            <a:pPr algn="l">
              <a:buNone/>
              <a:defRPr sz="1725" b="1">
                <a:solidFill>
                  <a:srgbClr val="142A4A"/>
                </a:solidFill>
                <a:latin typeface="Calibri"/>
                <a:ea typeface="Calibri"/>
                <a:cs typeface="Calibri"/>
              </a:defRPr>
            </a:pPr>
            <a:r>
              <a:rPr sz="1725" b="1">
                <a:solidFill>
                  <a:srgbClr val="142A4A"/>
                </a:solidFill>
                <a:latin typeface="Calibri"/>
                <a:ea typeface="Calibri"/>
                <a:cs typeface="Calibri"/>
              </a:rPr>
              <a:t>The Random Forest calculates scores. The copilot retrieves evidence and explains results.</a:t>
            </a:r>
          </a:p>
        </p:txBody>
      </p:sp>
      <p:sp>
        <p:nvSpPr>
          <p:cNvPr id="22" name="Rectangle 21">
            <a:extLst>
              <a:ext uri="{FF2B5EF4-FFF2-40B4-BE49-F238E27FC236}">
                <a16:creationId xmlns:a16="http://schemas.microsoft.com/office/drawing/2014/main" id="{15257ECA-AF09-40C1-84AA-2B3CEDBDC1BD}"/>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65CCF4D-B166-4EFB-96F4-354F4A325057}"/>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8</a:t>
            </a:r>
          </a:p>
        </p:txBody>
      </p:sp>
    </p:spTree>
    <p:extLst>
      <p:ext uri="{BB962C8B-B14F-4D97-AF65-F5344CB8AC3E}">
        <p14:creationId xmlns:p14="http://schemas.microsoft.com/office/powerpoint/2010/main" val="1264027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29351-CA31-48BA-946C-08DA052037E8}"/>
              </a:ext>
            </a:extLst>
          </p:cNvPr>
          <p:cNvSpPr>
            <a:spLocks noGrp="1"/>
          </p:cNvSpPr>
          <p:nvPr/>
        </p:nvSpPr>
        <p:spPr>
          <a:xfrm>
            <a:off x="640080" y="411480"/>
            <a:ext cx="6898005"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Digital twin state and scenario behavior</a:t>
            </a:r>
          </a:p>
        </p:txBody>
      </p:sp>
      <p:sp>
        <p:nvSpPr>
          <p:cNvPr id="3" name="Rounded Rectangle 2">
            <a:extLst>
              <a:ext uri="{FF2B5EF4-FFF2-40B4-BE49-F238E27FC236}">
                <a16:creationId xmlns:a16="http://schemas.microsoft.com/office/drawing/2014/main" id="{912FE116-D9BA-45D9-BB02-C812BB63E51E}"/>
              </a:ext>
            </a:extLst>
          </p:cNvPr>
          <p:cNvSpPr>
            <a:spLocks noGrp="1"/>
          </p:cNvSpPr>
          <p:nvPr/>
        </p:nvSpPr>
        <p:spPr>
          <a:xfrm>
            <a:off x="73152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7400F4C7-F36D-4588-841E-E2A55C196436}"/>
              </a:ext>
            </a:extLst>
          </p:cNvPr>
          <p:cNvSpPr>
            <a:spLocks noGrp="1"/>
          </p:cNvSpPr>
          <p:nvPr/>
        </p:nvSpPr>
        <p:spPr>
          <a:xfrm>
            <a:off x="630936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0F1EB1C-9F39-438F-A8BB-7F5B18843C32}"/>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411640-4599-4A6A-B267-CC3AFDD26E11}"/>
              </a:ext>
            </a:extLst>
          </p:cNvPr>
          <p:cNvSpPr>
            <a:spLocks noGrp="1"/>
          </p:cNvSpPr>
          <p:nvPr/>
        </p:nvSpPr>
        <p:spPr>
          <a:xfrm>
            <a:off x="11247120" y="6400800"/>
            <a:ext cx="69850"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9</a:t>
            </a:r>
          </a:p>
        </p:txBody>
      </p:sp>
      <p:sp>
        <p:nvSpPr>
          <p:cNvPr id="11" name="Digital Twin methods">
            <a:extLst>
              <a:ext uri="{FF2B5EF4-FFF2-40B4-BE49-F238E27FC236}">
                <a16:creationId xmlns:a16="http://schemas.microsoft.com/office/drawing/2014/main" id="{D17A1613-E91C-4CED-951A-34E2110D54CB}"/>
              </a:ext>
            </a:extLst>
          </p:cNvPr>
          <p:cNvSpPr>
            <a:spLocks noGrp="1"/>
          </p:cNvSpPr>
          <p:nvPr/>
        </p:nvSpPr>
        <p:spPr>
          <a:xfrm>
            <a:off x="91440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Digital Twin methods</a:t>
            </a:r>
          </a:p>
        </p:txBody>
      </p:sp>
      <p:sp>
        <p:nvSpPr>
          <p:cNvPr id="12" name="UpdateState()&#10;Validate inputs, evaluate, then comm">
            <a:extLst>
              <a:ext uri="{FF2B5EF4-FFF2-40B4-BE49-F238E27FC236}">
                <a16:creationId xmlns:a16="http://schemas.microsoft.com/office/drawing/2014/main" id="{92EAD0A9-FD98-4849-B7D0-A04487A803AF}"/>
              </a:ext>
            </a:extLst>
          </p:cNvPr>
          <p:cNvSpPr>
            <a:spLocks noGrp="1"/>
          </p:cNvSpPr>
          <p:nvPr/>
        </p:nvSpPr>
        <p:spPr>
          <a:xfrm>
            <a:off x="914400" y="2114550"/>
            <a:ext cx="4667250" cy="3295650"/>
          </a:xfrm>
          <a:prstGeom prst="rect">
            <a:avLst/>
          </a:prstGeom>
          <a:noFill/>
          <a:ln w="0">
            <a:noFill/>
          </a:ln>
        </p:spPr>
        <p:txBody>
          <a:bodyPr wrap="square" lIns="0" tIns="0" rIns="0" bIns="0" anchor="t">
            <a:noAutofit/>
          </a:bodyPr>
          <a:lstStyle>
            <a:defPPr algn="l">
              <a:defRPr sz="1500" b="0">
                <a:solidFill>
                  <a:srgbClr val="232323"/>
                </a:solidFill>
                <a:latin typeface="Calibri"/>
                <a:ea typeface="Calibri"/>
                <a:cs typeface="Calibri"/>
              </a:defRPr>
            </a:defPPr>
          </a:lstStyle>
          <a:p>
            <a:pPr algn="l">
              <a:defRPr sz="1500" b="0">
                <a:solidFill>
                  <a:srgbClr val="232323"/>
                </a:solidFill>
                <a:latin typeface="Calibri"/>
                <a:ea typeface="Calibri"/>
                <a:cs typeface="Calibri"/>
              </a:defRPr>
            </a:pPr>
            <a:r>
              <a:rPr sz="1500" b="0">
                <a:solidFill>
                  <a:srgbClr val="232323"/>
                </a:solidFill>
                <a:latin typeface="Calibri"/>
                <a:ea typeface="Calibri"/>
                <a:cs typeface="Calibri"/>
              </a:rPr>
              <a:t>UpdateState()</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Validate inputs, evaluate, then commit.</a:t>
            </a:r>
          </a:p>
          <a:p>
            <a:endParaRPr sz="1500" b="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PredictFailure()</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Return the current evaluated prediction.</a:t>
            </a:r>
          </a:p>
          <a:p>
            <a:endParaRPr sz="1500" b="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CalculateHealth()</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Return the derived health indicator.</a:t>
            </a:r>
          </a:p>
          <a:p>
            <a:endParaRPr sz="1500" b="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Simulate()</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Evaluate changed inputs separately.</a:t>
            </a:r>
          </a:p>
        </p:txBody>
      </p:sp>
      <p:sp>
        <p:nvSpPr>
          <p:cNvPr id="13" name="State integrity">
            <a:extLst>
              <a:ext uri="{FF2B5EF4-FFF2-40B4-BE49-F238E27FC236}">
                <a16:creationId xmlns:a16="http://schemas.microsoft.com/office/drawing/2014/main" id="{2EF5C9C6-0C1C-40F7-AFF2-4755FDF20535}"/>
              </a:ext>
            </a:extLst>
          </p:cNvPr>
          <p:cNvSpPr>
            <a:spLocks noGrp="1"/>
          </p:cNvSpPr>
          <p:nvPr/>
        </p:nvSpPr>
        <p:spPr>
          <a:xfrm>
            <a:off x="649605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State integrity</a:t>
            </a:r>
          </a:p>
        </p:txBody>
      </p:sp>
      <p:sp>
        <p:nvSpPr>
          <p:cNvPr id="14" name="Shared feature formulas&#10;Training and inference use">
            <a:extLst>
              <a:ext uri="{FF2B5EF4-FFF2-40B4-BE49-F238E27FC236}">
                <a16:creationId xmlns:a16="http://schemas.microsoft.com/office/drawing/2014/main" id="{B91DF4E7-0203-4F26-8FA4-9DC00A7D7EA3}"/>
              </a:ext>
            </a:extLst>
          </p:cNvPr>
          <p:cNvSpPr>
            <a:spLocks noGrp="1"/>
          </p:cNvSpPr>
          <p:nvPr/>
        </p:nvSpPr>
        <p:spPr>
          <a:xfrm>
            <a:off x="6496050" y="2114550"/>
            <a:ext cx="4667250" cy="3295650"/>
          </a:xfrm>
          <a:prstGeom prst="rect">
            <a:avLst/>
          </a:prstGeom>
          <a:noFill/>
          <a:ln w="0">
            <a:noFill/>
          </a:ln>
        </p:spPr>
        <p:txBody>
          <a:bodyPr wrap="square" lIns="0" tIns="0" rIns="0" bIns="0" anchor="t">
            <a:noAutofit/>
          </a:bodyPr>
          <a:lstStyle>
            <a:defPPr algn="l">
              <a:defRPr sz="1500" b="0">
                <a:solidFill>
                  <a:srgbClr val="232323"/>
                </a:solidFill>
                <a:latin typeface="Calibri"/>
                <a:ea typeface="Calibri"/>
                <a:cs typeface="Calibri"/>
              </a:defRPr>
            </a:defPPr>
          </a:lstStyle>
          <a:p>
            <a:pPr algn="l">
              <a:defRPr sz="1500" b="0">
                <a:solidFill>
                  <a:srgbClr val="232323"/>
                </a:solidFill>
                <a:latin typeface="Calibri"/>
                <a:ea typeface="Calibri"/>
                <a:cs typeface="Calibri"/>
              </a:defRPr>
            </a:pPr>
            <a:r>
              <a:rPr sz="1500" b="0">
                <a:solidFill>
                  <a:srgbClr val="232323"/>
                </a:solidFill>
                <a:latin typeface="Calibri"/>
                <a:ea typeface="Calibri"/>
                <a:cs typeface="Calibri"/>
              </a:rPr>
              <a:t>Shared feature formulas</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Training and inference use the same pipeline.</a:t>
            </a:r>
          </a:p>
          <a:p>
            <a:endParaRPr sz="1500" b="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Input validation</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Reject invalid values before inference.</a:t>
            </a:r>
          </a:p>
          <a:p>
            <a:endParaRPr sz="1500" b="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Immutable snapshots</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Keep evaluated inputs and outputs together.</a:t>
            </a:r>
          </a:p>
          <a:p>
            <a:endParaRPr sz="1500" b="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Preserved baseline</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Scenario comparisons do not update state.</a:t>
            </a:r>
          </a:p>
        </p:txBody>
      </p:sp>
      <p:sp>
        <p:nvSpPr>
          <p:cNvPr id="15" name="What-if results describe model responses to change">
            <a:extLst>
              <a:ext uri="{FF2B5EF4-FFF2-40B4-BE49-F238E27FC236}">
                <a16:creationId xmlns:a16="http://schemas.microsoft.com/office/drawing/2014/main" id="{94857FEF-D747-4F53-85F3-6BD8E25E007E}"/>
              </a:ext>
            </a:extLst>
          </p:cNvPr>
          <p:cNvSpPr>
            <a:spLocks noGrp="1"/>
          </p:cNvSpPr>
          <p:nvPr/>
        </p:nvSpPr>
        <p:spPr>
          <a:xfrm>
            <a:off x="822960" y="5905500"/>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a:solidFill>
                  <a:srgbClr val="2F66AD"/>
                </a:solidFill>
                <a:latin typeface="Calibri"/>
                <a:ea typeface="Calibri"/>
                <a:cs typeface="Calibri"/>
              </a:rPr>
              <a:t>What-if results describe model responses to changed inputs.</a:t>
            </a:r>
          </a:p>
        </p:txBody>
      </p:sp>
    </p:spTree>
    <p:extLst>
      <p:ext uri="{BB962C8B-B14F-4D97-AF65-F5344CB8AC3E}">
        <p14:creationId xmlns:p14="http://schemas.microsoft.com/office/powerpoint/2010/main" val="420639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EE720E-8272-4D07-B888-E78A4061E288}"/>
              </a:ext>
            </a:extLst>
          </p:cNvPr>
          <p:cNvSpPr>
            <a:spLocks noGrp="1"/>
          </p:cNvSpPr>
          <p:nvPr/>
        </p:nvSpPr>
        <p:spPr>
          <a:xfrm>
            <a:off x="640080" y="411480"/>
            <a:ext cx="4842193"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Copilot tools and execution</a:t>
            </a:r>
          </a:p>
        </p:txBody>
      </p:sp>
      <p:sp>
        <p:nvSpPr>
          <p:cNvPr id="3" name="Rounded Rectangle 2">
            <a:extLst>
              <a:ext uri="{FF2B5EF4-FFF2-40B4-BE49-F238E27FC236}">
                <a16:creationId xmlns:a16="http://schemas.microsoft.com/office/drawing/2014/main" id="{81E914E0-F1B8-4D68-A0A8-C3830E4B8CF7}"/>
              </a:ext>
            </a:extLst>
          </p:cNvPr>
          <p:cNvSpPr>
            <a:spLocks noGrp="1"/>
          </p:cNvSpPr>
          <p:nvPr/>
        </p:nvSpPr>
        <p:spPr>
          <a:xfrm>
            <a:off x="731520" y="1417320"/>
            <a:ext cx="2971800" cy="16002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EFA75A2-5C6F-4064-BE5B-BCCDBB8F861D}"/>
              </a:ext>
            </a:extLst>
          </p:cNvPr>
          <p:cNvSpPr>
            <a:spLocks noGrp="1"/>
          </p:cNvSpPr>
          <p:nvPr/>
        </p:nvSpPr>
        <p:spPr>
          <a:xfrm>
            <a:off x="914400" y="1554480"/>
            <a:ext cx="2609850" cy="419100"/>
          </a:xfrm>
          <a:prstGeom prst="rect">
            <a:avLst/>
          </a:prstGeom>
          <a:noFill/>
        </p:spPr>
        <p:txBody>
          <a:bodyPr wrap="square" lIns="0" tIns="0" rIns="0" bIns="0" anchor="t">
            <a:noAutofit/>
          </a:bodyPr>
          <a:lstStyle>
            <a:defPPr algn="l">
              <a:defRPr sz="1800" b="1">
                <a:solidFill>
                  <a:srgbClr val="142A4A"/>
                </a:solidFill>
                <a:latin typeface="Calibri"/>
                <a:ea typeface="Calibri"/>
                <a:cs typeface="Calibri"/>
              </a:defRPr>
            </a:defPPr>
          </a:lstStyle>
          <a:p>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Current state</a:t>
            </a:r>
          </a:p>
        </p:txBody>
      </p:sp>
      <p:sp>
        <p:nvSpPr>
          <p:cNvPr id="5" name="TextBox 4">
            <a:extLst>
              <a:ext uri="{FF2B5EF4-FFF2-40B4-BE49-F238E27FC236}">
                <a16:creationId xmlns:a16="http://schemas.microsoft.com/office/drawing/2014/main" id="{EF05396B-61EC-4F56-AF5E-7FB320A8FB8E}"/>
              </a:ext>
            </a:extLst>
          </p:cNvPr>
          <p:cNvSpPr>
            <a:spLocks noGrp="1"/>
          </p:cNvSpPr>
          <p:nvPr/>
        </p:nvSpPr>
        <p:spPr>
          <a:xfrm>
            <a:off x="914400" y="2057400"/>
            <a:ext cx="2609850" cy="8953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 evaluated inputs</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and the existing risk score.</a:t>
            </a:r>
          </a:p>
        </p:txBody>
      </p:sp>
      <p:sp>
        <p:nvSpPr>
          <p:cNvPr id="6" name="Rounded Rectangle 5">
            <a:extLst>
              <a:ext uri="{FF2B5EF4-FFF2-40B4-BE49-F238E27FC236}">
                <a16:creationId xmlns:a16="http://schemas.microsoft.com/office/drawing/2014/main" id="{9A287064-B7DD-422E-9830-CD9C8243F775}"/>
              </a:ext>
            </a:extLst>
          </p:cNvPr>
          <p:cNvSpPr>
            <a:spLocks noGrp="1"/>
          </p:cNvSpPr>
          <p:nvPr/>
        </p:nvSpPr>
        <p:spPr>
          <a:xfrm>
            <a:off x="4160520" y="1417320"/>
            <a:ext cx="2971800" cy="16002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09606DE-223B-4FE1-B76F-25770E9322D8}"/>
              </a:ext>
            </a:extLst>
          </p:cNvPr>
          <p:cNvSpPr>
            <a:spLocks noGrp="1"/>
          </p:cNvSpPr>
          <p:nvPr/>
        </p:nvSpPr>
        <p:spPr>
          <a:xfrm>
            <a:off x="4343400" y="1554480"/>
            <a:ext cx="2609850" cy="419100"/>
          </a:xfrm>
          <a:prstGeom prst="rect">
            <a:avLst/>
          </a:prstGeom>
          <a:noFill/>
        </p:spPr>
        <p:txBody>
          <a:bodyPr wrap="square" lIns="0" tIns="0" rIns="0" bIns="0" anchor="t">
            <a:noAutofit/>
          </a:bodyPr>
          <a:lstStyle>
            <a:defPPr algn="l">
              <a:defRPr sz="1800" b="1">
                <a:solidFill>
                  <a:srgbClr val="142A4A"/>
                </a:solidFill>
                <a:latin typeface="Calibri"/>
                <a:ea typeface="Calibri"/>
                <a:cs typeface="Calibri"/>
              </a:defRPr>
            </a:defPPr>
          </a:lstStyle>
          <a:p>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Recorded history</a:t>
            </a:r>
          </a:p>
        </p:txBody>
      </p:sp>
      <p:sp>
        <p:nvSpPr>
          <p:cNvPr id="8" name="TextBox 7">
            <a:extLst>
              <a:ext uri="{FF2B5EF4-FFF2-40B4-BE49-F238E27FC236}">
                <a16:creationId xmlns:a16="http://schemas.microsoft.com/office/drawing/2014/main" id="{C0C8553B-846D-4430-BF58-0137285DEF95}"/>
              </a:ext>
            </a:extLst>
          </p:cNvPr>
          <p:cNvSpPr>
            <a:spLocks noGrp="1"/>
          </p:cNvSpPr>
          <p:nvPr/>
        </p:nvSpPr>
        <p:spPr>
          <a:xfrm>
            <a:off x="4343400" y="2057400"/>
            <a:ext cx="2609850" cy="8953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Retrieve up to 20 session</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readings for comparisons.</a:t>
            </a:r>
          </a:p>
        </p:txBody>
      </p:sp>
      <p:sp>
        <p:nvSpPr>
          <p:cNvPr id="9" name="Rounded Rectangle 8">
            <a:extLst>
              <a:ext uri="{FF2B5EF4-FFF2-40B4-BE49-F238E27FC236}">
                <a16:creationId xmlns:a16="http://schemas.microsoft.com/office/drawing/2014/main" id="{E5E1572F-D6F1-432E-AF56-F9160C1A6DEC}"/>
              </a:ext>
            </a:extLst>
          </p:cNvPr>
          <p:cNvSpPr>
            <a:spLocks noGrp="1"/>
          </p:cNvSpPr>
          <p:nvPr/>
        </p:nvSpPr>
        <p:spPr>
          <a:xfrm>
            <a:off x="7589520" y="1417320"/>
            <a:ext cx="2971800" cy="16002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904DACA-6A92-494E-A44F-72C8B930E37A}"/>
              </a:ext>
            </a:extLst>
          </p:cNvPr>
          <p:cNvSpPr>
            <a:spLocks noGrp="1"/>
          </p:cNvSpPr>
          <p:nvPr/>
        </p:nvSpPr>
        <p:spPr>
          <a:xfrm>
            <a:off x="7772400" y="1554480"/>
            <a:ext cx="2609850" cy="419100"/>
          </a:xfrm>
          <a:prstGeom prst="rect">
            <a:avLst/>
          </a:prstGeom>
          <a:noFill/>
        </p:spPr>
        <p:txBody>
          <a:bodyPr wrap="square" lIns="0" tIns="0" rIns="0" bIns="0" anchor="t">
            <a:noAutofit/>
          </a:bodyPr>
          <a:lstStyle>
            <a:defPPr algn="l">
              <a:defRPr sz="1800" b="1">
                <a:solidFill>
                  <a:srgbClr val="142A4A"/>
                </a:solidFill>
                <a:latin typeface="Calibri"/>
                <a:ea typeface="Calibri"/>
                <a:cs typeface="Calibri"/>
              </a:defRPr>
            </a:defPPr>
          </a:lstStyle>
          <a:p>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What-if scenario</a:t>
            </a:r>
          </a:p>
        </p:txBody>
      </p:sp>
      <p:sp>
        <p:nvSpPr>
          <p:cNvPr id="11" name="TextBox 10">
            <a:extLst>
              <a:ext uri="{FF2B5EF4-FFF2-40B4-BE49-F238E27FC236}">
                <a16:creationId xmlns:a16="http://schemas.microsoft.com/office/drawing/2014/main" id="{89C6B61A-47D0-4C00-A01A-C10D6D6389A4}"/>
              </a:ext>
            </a:extLst>
          </p:cNvPr>
          <p:cNvSpPr>
            <a:spLocks noGrp="1"/>
          </p:cNvSpPr>
          <p:nvPr/>
        </p:nvSpPr>
        <p:spPr>
          <a:xfrm>
            <a:off x="7772400" y="2057400"/>
            <a:ext cx="2609850" cy="8953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Run explicit input changes</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with the real twin model.</a:t>
            </a:r>
            <a:endParaRPr/>
          </a:p>
        </p:txBody>
      </p:sp>
      <p:sp>
        <p:nvSpPr>
          <p:cNvPr id="12" name="Rounded Rectangle 11">
            <a:extLst>
              <a:ext uri="{FF2B5EF4-FFF2-40B4-BE49-F238E27FC236}">
                <a16:creationId xmlns:a16="http://schemas.microsoft.com/office/drawing/2014/main" id="{F8F036B1-A55C-49FF-AC92-A1B87069BDED}"/>
              </a:ext>
            </a:extLst>
          </p:cNvPr>
          <p:cNvSpPr>
            <a:spLocks noGrp="1"/>
          </p:cNvSpPr>
          <p:nvPr/>
        </p:nvSpPr>
        <p:spPr>
          <a:xfrm>
            <a:off x="2423160" y="3657600"/>
            <a:ext cx="2971800" cy="16002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3AA2B28-0502-47BE-A30B-7CA1A134F0D2}"/>
              </a:ext>
            </a:extLst>
          </p:cNvPr>
          <p:cNvSpPr>
            <a:spLocks noGrp="1"/>
          </p:cNvSpPr>
          <p:nvPr/>
        </p:nvSpPr>
        <p:spPr>
          <a:xfrm>
            <a:off x="2606040" y="3794760"/>
            <a:ext cx="2609850" cy="419100"/>
          </a:xfrm>
          <a:prstGeom prst="rect">
            <a:avLst/>
          </a:prstGeom>
          <a:noFill/>
        </p:spPr>
        <p:txBody>
          <a:bodyPr wrap="square" lIns="0" tIns="0" rIns="0" bIns="0" anchor="t">
            <a:noAutofit/>
          </a:bodyPr>
          <a:lstStyle>
            <a:defPPr algn="l">
              <a:defRPr sz="1800" b="1">
                <a:solidFill>
                  <a:srgbClr val="142A4A"/>
                </a:solidFill>
                <a:latin typeface="Calibri"/>
                <a:ea typeface="Calibri"/>
                <a:cs typeface="Calibri"/>
              </a:defRPr>
            </a:defPPr>
          </a:lstStyle>
          <a:p>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Latest comparison</a:t>
            </a:r>
          </a:p>
        </p:txBody>
      </p:sp>
      <p:sp>
        <p:nvSpPr>
          <p:cNvPr id="14" name="TextBox 13">
            <a:extLst>
              <a:ext uri="{FF2B5EF4-FFF2-40B4-BE49-F238E27FC236}">
                <a16:creationId xmlns:a16="http://schemas.microsoft.com/office/drawing/2014/main" id="{DB04FD50-64FE-42E1-A3F8-9A3228E40C5C}"/>
              </a:ext>
            </a:extLst>
          </p:cNvPr>
          <p:cNvSpPr>
            <a:spLocks noGrp="1"/>
          </p:cNvSpPr>
          <p:nvPr/>
        </p:nvSpPr>
        <p:spPr>
          <a:xfrm>
            <a:off x="2606040" y="4297680"/>
            <a:ext cx="2609850" cy="8953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 the dashboard scenario</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for the current baseline.</a:t>
            </a:r>
            <a:endParaRPr/>
          </a:p>
        </p:txBody>
      </p:sp>
      <p:sp>
        <p:nvSpPr>
          <p:cNvPr id="15" name="Rounded Rectangle 14">
            <a:extLst>
              <a:ext uri="{FF2B5EF4-FFF2-40B4-BE49-F238E27FC236}">
                <a16:creationId xmlns:a16="http://schemas.microsoft.com/office/drawing/2014/main" id="{F50BAB39-94C8-4217-B144-2A2DB02F00A0}"/>
              </a:ext>
            </a:extLst>
          </p:cNvPr>
          <p:cNvSpPr>
            <a:spLocks noGrp="1"/>
          </p:cNvSpPr>
          <p:nvPr/>
        </p:nvSpPr>
        <p:spPr>
          <a:xfrm>
            <a:off x="5852160" y="3657600"/>
            <a:ext cx="2971800" cy="16002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5E63A3D-FF0A-44C7-925C-E0285BEED64E}"/>
              </a:ext>
            </a:extLst>
          </p:cNvPr>
          <p:cNvSpPr>
            <a:spLocks noGrp="1"/>
          </p:cNvSpPr>
          <p:nvPr/>
        </p:nvSpPr>
        <p:spPr>
          <a:xfrm>
            <a:off x="6035040" y="3794760"/>
            <a:ext cx="2609850" cy="419100"/>
          </a:xfrm>
          <a:prstGeom prst="rect">
            <a:avLst/>
          </a:prstGeom>
          <a:noFill/>
        </p:spPr>
        <p:txBody>
          <a:bodyPr wrap="square" lIns="0" tIns="0" rIns="0" bIns="0" anchor="t">
            <a:noAutofit/>
          </a:bodyPr>
          <a:lstStyle>
            <a:defPPr algn="l">
              <a:defRPr sz="1800" b="1">
                <a:solidFill>
                  <a:srgbClr val="142A4A"/>
                </a:solidFill>
                <a:latin typeface="Calibri"/>
                <a:ea typeface="Calibri"/>
                <a:cs typeface="Calibri"/>
              </a:defRPr>
            </a:defPPr>
          </a:lstStyle>
          <a:p>
            <a:pPr algn="l">
              <a:buNone/>
              <a:defRPr sz="1800" b="1">
                <a:solidFill>
                  <a:srgbClr val="142A4A"/>
                </a:solidFill>
                <a:latin typeface="Calibri"/>
                <a:ea typeface="Calibri"/>
                <a:cs typeface="Calibri"/>
              </a:defRPr>
            </a:pPr>
            <a:r>
              <a:rPr sz="1800" b="1">
                <a:solidFill>
                  <a:srgbClr val="142A4A"/>
                </a:solidFill>
                <a:latin typeface="Calibri"/>
                <a:ea typeface="Calibri"/>
                <a:cs typeface="Calibri"/>
              </a:rPr>
              <a:t>Model test results</a:t>
            </a:r>
          </a:p>
        </p:txBody>
      </p:sp>
      <p:sp>
        <p:nvSpPr>
          <p:cNvPr id="17" name="TextBox 16">
            <a:extLst>
              <a:ext uri="{FF2B5EF4-FFF2-40B4-BE49-F238E27FC236}">
                <a16:creationId xmlns:a16="http://schemas.microsoft.com/office/drawing/2014/main" id="{8D4A9DDB-83A9-4C7C-869D-2F60412DE29C}"/>
              </a:ext>
            </a:extLst>
          </p:cNvPr>
          <p:cNvSpPr>
            <a:spLocks noGrp="1"/>
          </p:cNvSpPr>
          <p:nvPr/>
        </p:nvSpPr>
        <p:spPr>
          <a:xfrm>
            <a:off x="6035040" y="4297680"/>
            <a:ext cx="2609850" cy="89535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Read saved model metrics</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for both classifiers.</a:t>
            </a:r>
            <a:endParaRPr/>
          </a:p>
        </p:txBody>
      </p:sp>
      <p:sp>
        <p:nvSpPr>
          <p:cNvPr id="18" name="Rectangle 17">
            <a:extLst>
              <a:ext uri="{FF2B5EF4-FFF2-40B4-BE49-F238E27FC236}">
                <a16:creationId xmlns:a16="http://schemas.microsoft.com/office/drawing/2014/main" id="{73D72B1B-103B-4A44-85EF-6B3F14915897}"/>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4240F813-4FBD-4F42-9BE6-B701C8C69B6C}"/>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10</a:t>
            </a:r>
          </a:p>
        </p:txBody>
      </p:sp>
      <p:sp>
        <p:nvSpPr>
          <p:cNvPr id="20" name="Fresh context starts each turn. LangGraph limits e">
            <a:extLst>
              <a:ext uri="{FF2B5EF4-FFF2-40B4-BE49-F238E27FC236}">
                <a16:creationId xmlns:a16="http://schemas.microsoft.com/office/drawing/2014/main" id="{0D554406-2434-40BB-93B2-DA677F2C0832}"/>
              </a:ext>
            </a:extLst>
          </p:cNvPr>
          <p:cNvSpPr>
            <a:spLocks noGrp="1"/>
          </p:cNvSpPr>
          <p:nvPr/>
        </p:nvSpPr>
        <p:spPr>
          <a:xfrm>
            <a:off x="822960" y="5810250"/>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a:solidFill>
                  <a:srgbClr val="2F66AD"/>
                </a:solidFill>
                <a:latin typeface="Calibri"/>
                <a:ea typeface="Calibri"/>
                <a:cs typeface="Calibri"/>
              </a:rPr>
              <a:t>Fresh context starts each turn. LangGraph limits execution to 6 tool rounds.</a:t>
            </a:r>
          </a:p>
        </p:txBody>
      </p:sp>
    </p:spTree>
    <p:extLst>
      <p:ext uri="{BB962C8B-B14F-4D97-AF65-F5344CB8AC3E}">
        <p14:creationId xmlns:p14="http://schemas.microsoft.com/office/powerpoint/2010/main" val="681290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96CCFF-82AE-0750-3211-D828833EE4B7}"/>
              </a:ext>
            </a:extLst>
          </p:cNvPr>
          <p:cNvSpPr>
            <a:spLocks noGrp="1"/>
          </p:cNvSpPr>
          <p:nvPr/>
        </p:nvSpPr>
        <p:spPr>
          <a:xfrm>
            <a:off x="640080" y="411480"/>
            <a:ext cx="6172518"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Dashboard and what-if comparison</a:t>
            </a:r>
            <a:endParaRPr/>
          </a:p>
        </p:txBody>
      </p:sp>
      <p:sp>
        <p:nvSpPr>
          <p:cNvPr id="9" name="Rectangle 8">
            <a:extLst>
              <a:ext uri="{FF2B5EF4-FFF2-40B4-BE49-F238E27FC236}">
                <a16:creationId xmlns:a16="http://schemas.microsoft.com/office/drawing/2014/main" id="{C4C530C1-0558-30FF-9E2E-1606BF0DDA5B}"/>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8C922B9-7FB6-F5D1-5CB6-EFB4DF825650}"/>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11</a:t>
            </a:r>
          </a:p>
        </p:txBody>
      </p:sp>
      <p:pic>
        <p:nvPicPr>
          <p:cNvPr id="11" name="Picture 10">
            <a:extLst>
              <a:ext uri="{FF2B5EF4-FFF2-40B4-BE49-F238E27FC236}">
                <a16:creationId xmlns:a16="http://schemas.microsoft.com/office/drawing/2014/main" id="{99849715-E7BA-4E15-BC55-F1BC9EFACFD2}"/>
              </a:ext>
            </a:extLst>
          </p:cNvPr>
          <p:cNvPicPr>
            <a:picLocks noChangeAspect="1"/>
          </p:cNvPicPr>
          <p:nvPr/>
        </p:nvPicPr>
        <p:blipFill>
          <a:blip r:embed="rId3"/>
          <a:stretch/>
        </p:blipFill>
        <p:spPr>
          <a:xfrm>
            <a:off x="992453" y="1181100"/>
            <a:ext cx="10165185" cy="4667250"/>
          </a:xfrm>
          <a:prstGeom prst="rect">
            <a:avLst/>
          </a:prstGeom>
        </p:spPr>
      </p:pic>
      <p:sp>
        <p:nvSpPr>
          <p:cNvPr id="12" name="The app displays the original and hypothetical rea">
            <a:extLst>
              <a:ext uri="{FF2B5EF4-FFF2-40B4-BE49-F238E27FC236}">
                <a16:creationId xmlns:a16="http://schemas.microsoft.com/office/drawing/2014/main" id="{28C85395-7B8C-4844-9257-B1350E9E4512}"/>
              </a:ext>
            </a:extLst>
          </p:cNvPr>
          <p:cNvSpPr>
            <a:spLocks noGrp="1"/>
          </p:cNvSpPr>
          <p:nvPr/>
        </p:nvSpPr>
        <p:spPr>
          <a:xfrm>
            <a:off x="914400" y="6048375"/>
            <a:ext cx="10382250" cy="361950"/>
          </a:xfrm>
          <a:prstGeom prst="rect">
            <a:avLst/>
          </a:prstGeom>
          <a:noFill/>
          <a:ln w="0">
            <a:noFill/>
          </a:ln>
        </p:spPr>
        <p:txBody>
          <a:bodyPr wrap="square" lIns="0" tIns="0" rIns="0" bIns="0" anchor="t">
            <a:noAutofit/>
          </a:bodyPr>
          <a:lstStyle>
            <a:defPPr algn="l">
              <a:defRPr sz="1650" b="1">
                <a:solidFill>
                  <a:srgbClr val="142A4A"/>
                </a:solidFill>
                <a:latin typeface="Calibri"/>
                <a:ea typeface="Calibri"/>
                <a:cs typeface="Calibri"/>
              </a:defRPr>
            </a:defPPr>
          </a:lstStyle>
          <a:p>
            <a:pPr algn="l">
              <a:defRPr sz="1650" b="1">
                <a:solidFill>
                  <a:srgbClr val="142A4A"/>
                </a:solidFill>
                <a:latin typeface="Calibri"/>
                <a:ea typeface="Calibri"/>
                <a:cs typeface="Calibri"/>
              </a:defRPr>
            </a:pPr>
            <a:r>
              <a:rPr sz="1650" b="1">
                <a:solidFill>
                  <a:srgbClr val="142A4A"/>
                </a:solidFill>
                <a:latin typeface="Calibri"/>
                <a:ea typeface="Calibri"/>
                <a:cs typeface="Calibri"/>
              </a:rPr>
              <a:t>The app displays the original and hypothetical readings side by side.</a:t>
            </a:r>
          </a:p>
        </p:txBody>
      </p:sp>
    </p:spTree>
    <p:extLst>
      <p:ext uri="{BB962C8B-B14F-4D97-AF65-F5344CB8AC3E}">
        <p14:creationId xmlns:p14="http://schemas.microsoft.com/office/powerpoint/2010/main" val="3368522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063855-9C61-4225-98A7-32E77CC501DC}"/>
              </a:ext>
            </a:extLst>
          </p:cNvPr>
          <p:cNvSpPr>
            <a:spLocks noGrp="1"/>
          </p:cNvSpPr>
          <p:nvPr/>
        </p:nvSpPr>
        <p:spPr>
          <a:xfrm>
            <a:off x="640080" y="411480"/>
            <a:ext cx="4777105"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dirty="0">
                <a:solidFill>
                  <a:srgbClr val="142A4A"/>
                </a:solidFill>
                <a:latin typeface="Calibri"/>
                <a:ea typeface="Calibri"/>
                <a:cs typeface="Calibri"/>
              </a:rPr>
              <a:t>Copilot evaluation protocol</a:t>
            </a:r>
          </a:p>
        </p:txBody>
      </p:sp>
      <p:sp>
        <p:nvSpPr>
          <p:cNvPr id="3" name="Rounded Rectangle 2">
            <a:extLst>
              <a:ext uri="{FF2B5EF4-FFF2-40B4-BE49-F238E27FC236}">
                <a16:creationId xmlns:a16="http://schemas.microsoft.com/office/drawing/2014/main" id="{30849BD7-ECA1-427E-A97F-7FECC3896711}"/>
              </a:ext>
            </a:extLst>
          </p:cNvPr>
          <p:cNvSpPr>
            <a:spLocks noGrp="1"/>
          </p:cNvSpPr>
          <p:nvPr/>
        </p:nvSpPr>
        <p:spPr>
          <a:xfrm>
            <a:off x="731520" y="1325880"/>
            <a:ext cx="3383280" cy="214884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09E7C-1267-4254-ACED-D3B7080C2844}"/>
              </a:ext>
            </a:extLst>
          </p:cNvPr>
          <p:cNvSpPr>
            <a:spLocks noGrp="1"/>
          </p:cNvSpPr>
          <p:nvPr/>
        </p:nvSpPr>
        <p:spPr>
          <a:xfrm>
            <a:off x="914400" y="1463039"/>
            <a:ext cx="1740218"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Scenario suite</a:t>
            </a:r>
          </a:p>
        </p:txBody>
      </p:sp>
      <p:sp>
        <p:nvSpPr>
          <p:cNvPr id="5" name="TextBox 4">
            <a:extLst>
              <a:ext uri="{FF2B5EF4-FFF2-40B4-BE49-F238E27FC236}">
                <a16:creationId xmlns:a16="http://schemas.microsoft.com/office/drawing/2014/main" id="{EECEA148-2146-47AA-987C-394B2C2FE92A}"/>
              </a:ext>
            </a:extLst>
          </p:cNvPr>
          <p:cNvSpPr>
            <a:spLocks noGrp="1"/>
          </p:cNvSpPr>
          <p:nvPr/>
        </p:nvSpPr>
        <p:spPr>
          <a:xfrm>
            <a:off x="914400" y="1965960"/>
            <a:ext cx="3017520" cy="152400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60 final evaluation tasks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10 tasks in each of 6 categories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12 separate development tasks</a:t>
            </a:r>
          </a:p>
          <a:p>
            <a:pPr>
              <a:buNone/>
              <a:defRPr sz="1500">
                <a:solidFill>
                  <a:srgbClr val="1E1E1E"/>
                </a:solidFill>
              </a:defRPr>
            </a:pPr>
            <a:endParaRPr sz="1500" b="0">
              <a:solidFill>
                <a:srgbClr val="232323"/>
              </a:solidFill>
              <a:latin typeface="Calibri"/>
              <a:ea typeface="Calibri"/>
              <a:cs typeface="Calibri"/>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Distinct held-out base records</a:t>
            </a:r>
          </a:p>
        </p:txBody>
      </p:sp>
      <p:sp>
        <p:nvSpPr>
          <p:cNvPr id="6" name="Rounded Rectangle 5">
            <a:extLst>
              <a:ext uri="{FF2B5EF4-FFF2-40B4-BE49-F238E27FC236}">
                <a16:creationId xmlns:a16="http://schemas.microsoft.com/office/drawing/2014/main" id="{088B5FE4-4469-41C3-BC9D-2A2B68F6360B}"/>
              </a:ext>
            </a:extLst>
          </p:cNvPr>
          <p:cNvSpPr>
            <a:spLocks noGrp="1"/>
          </p:cNvSpPr>
          <p:nvPr/>
        </p:nvSpPr>
        <p:spPr>
          <a:xfrm>
            <a:off x="4389120" y="1325880"/>
            <a:ext cx="3383280" cy="214884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8FB6283-F5FF-4183-A644-CB48FA604059}"/>
              </a:ext>
            </a:extLst>
          </p:cNvPr>
          <p:cNvSpPr>
            <a:spLocks noGrp="1"/>
          </p:cNvSpPr>
          <p:nvPr/>
        </p:nvSpPr>
        <p:spPr>
          <a:xfrm>
            <a:off x="4572000" y="1463039"/>
            <a:ext cx="2435543"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Independent repeats</a:t>
            </a:r>
          </a:p>
        </p:txBody>
      </p:sp>
      <p:sp>
        <p:nvSpPr>
          <p:cNvPr id="8" name="TextBox 7">
            <a:extLst>
              <a:ext uri="{FF2B5EF4-FFF2-40B4-BE49-F238E27FC236}">
                <a16:creationId xmlns:a16="http://schemas.microsoft.com/office/drawing/2014/main" id="{2AB1495C-D5DB-461D-B08F-CB806DA64D29}"/>
              </a:ext>
            </a:extLst>
          </p:cNvPr>
          <p:cNvSpPr>
            <a:spLocks noGrp="1"/>
          </p:cNvSpPr>
          <p:nvPr/>
        </p:nvSpPr>
        <p:spPr>
          <a:xfrm>
            <a:off x="4572000" y="1965960"/>
            <a:ext cx="3017520" cy="152400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3 trials for each task</a:t>
            </a:r>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Fresh state and conversation</a:t>
            </a:r>
          </a:p>
          <a:p>
            <a:pPr>
              <a:buNone/>
              <a:defRPr sz="1500">
                <a:solidFill>
                  <a:srgbClr val="1E1E1E"/>
                </a:solidFill>
              </a:defRPr>
            </a:pPr>
            <a:endParaRPr sz="1500" b="0">
              <a:solidFill>
                <a:srgbClr val="232323"/>
              </a:solidFill>
              <a:latin typeface="Calibri"/>
              <a:ea typeface="Calibri"/>
              <a:cs typeface="Calibri"/>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180 task-trials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210 conversation turns</a:t>
            </a:r>
          </a:p>
        </p:txBody>
      </p:sp>
      <p:sp>
        <p:nvSpPr>
          <p:cNvPr id="9" name="Rounded Rectangle 8">
            <a:extLst>
              <a:ext uri="{FF2B5EF4-FFF2-40B4-BE49-F238E27FC236}">
                <a16:creationId xmlns:a16="http://schemas.microsoft.com/office/drawing/2014/main" id="{D34A7495-1A63-489E-9089-C03A685BA4CD}"/>
              </a:ext>
            </a:extLst>
          </p:cNvPr>
          <p:cNvSpPr>
            <a:spLocks noGrp="1"/>
          </p:cNvSpPr>
          <p:nvPr/>
        </p:nvSpPr>
        <p:spPr>
          <a:xfrm>
            <a:off x="8046720" y="1325880"/>
            <a:ext cx="3383280" cy="214884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3607889-898D-4B17-B4B2-72BA12D4912E}"/>
              </a:ext>
            </a:extLst>
          </p:cNvPr>
          <p:cNvSpPr>
            <a:spLocks noGrp="1"/>
          </p:cNvSpPr>
          <p:nvPr/>
        </p:nvSpPr>
        <p:spPr>
          <a:xfrm>
            <a:off x="8229600" y="1463039"/>
            <a:ext cx="2618105" cy="365760"/>
          </a:xfrm>
          <a:prstGeom prst="rect">
            <a:avLst/>
          </a:prstGeom>
          <a:noFill/>
        </p:spPr>
        <p:txBody>
          <a:bodyPr wrap="square" lIns="0" tIns="0" rIns="0" bIns="0">
            <a:noAutofit/>
          </a:bodyPr>
          <a:lstStyle>
            <a:defPPr>
              <a:defRPr sz="1800" b="1">
                <a:solidFill>
                  <a:srgbClr val="142A4A"/>
                </a:solidFill>
                <a:latin typeface="Calibri"/>
                <a:ea typeface="Calibri"/>
                <a:cs typeface="Calibri"/>
              </a:defRPr>
            </a:defPPr>
          </a:lstStyle>
          <a:p>
            <a:pPr>
              <a:buNone/>
              <a:defRPr sz="1800" b="1">
                <a:solidFill>
                  <a:srgbClr val="142A4A"/>
                </a:solidFill>
                <a:latin typeface="Calibri"/>
                <a:ea typeface="Calibri"/>
                <a:cs typeface="Calibri"/>
              </a:defRPr>
            </a:pPr>
            <a:r>
              <a:rPr sz="1800" b="1">
                <a:solidFill>
                  <a:srgbClr val="142A4A"/>
                </a:solidFill>
                <a:latin typeface="Calibri"/>
                <a:ea typeface="Calibri"/>
                <a:cs typeface="Calibri"/>
              </a:rPr>
              <a:t>Executable references</a:t>
            </a:r>
          </a:p>
        </p:txBody>
      </p:sp>
      <p:sp>
        <p:nvSpPr>
          <p:cNvPr id="11" name="TextBox 10">
            <a:extLst>
              <a:ext uri="{FF2B5EF4-FFF2-40B4-BE49-F238E27FC236}">
                <a16:creationId xmlns:a16="http://schemas.microsoft.com/office/drawing/2014/main" id="{73A762FB-13B2-4AA2-865F-D3EF97110942}"/>
              </a:ext>
            </a:extLst>
          </p:cNvPr>
          <p:cNvSpPr>
            <a:spLocks noGrp="1"/>
          </p:cNvSpPr>
          <p:nvPr/>
        </p:nvSpPr>
        <p:spPr>
          <a:xfrm>
            <a:off x="8229600" y="1965960"/>
            <a:ext cx="3017520" cy="1524000"/>
          </a:xfrm>
          <a:prstGeom prst="rect">
            <a:avLst/>
          </a:prstGeom>
          <a:noFill/>
        </p:spPr>
        <p:txBody>
          <a:bodyPr wrap="square" lIns="0" tIns="0" rIns="0" bIns="0">
            <a:noAutofit/>
          </a:bodyPr>
          <a:lstStyle>
            <a:defPPr>
              <a:defRPr sz="1500" b="0">
                <a:solidFill>
                  <a:srgbClr val="232323"/>
                </a:solidFill>
                <a:latin typeface="Calibri"/>
                <a:ea typeface="Calibri"/>
                <a:cs typeface="Calibri"/>
              </a:defRPr>
            </a:defPPr>
          </a:lstStyle>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Real twin reference outputs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Required tools and arguments</a:t>
            </a: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Fresh state and baseline checks</a:t>
            </a:r>
          </a:p>
          <a:p>
            <a:pPr>
              <a:buNone/>
              <a:defRPr sz="1500">
                <a:solidFill>
                  <a:srgbClr val="1E1E1E"/>
                </a:solidFill>
              </a:defRPr>
            </a:pPr>
            <a:endParaRPr sz="1500" b="0">
              <a:solidFill>
                <a:srgbClr val="232323"/>
              </a:solidFill>
              <a:latin typeface="Calibri"/>
              <a:ea typeface="Calibri"/>
              <a:cs typeface="Calibri"/>
            </a:endParaRPr>
          </a:p>
          <a:p>
            <a:pPr>
              <a:buNone/>
              <a:defRPr sz="1500" b="0">
                <a:solidFill>
                  <a:srgbClr val="232323"/>
                </a:solidFill>
                <a:latin typeface="Calibri"/>
                <a:ea typeface="Calibri"/>
                <a:cs typeface="Calibri"/>
              </a:defRPr>
            </a:pPr>
            <a:r>
              <a:rPr sz="1500" b="0">
                <a:solidFill>
                  <a:srgbClr val="232323"/>
                </a:solidFill>
                <a:latin typeface="Calibri"/>
                <a:ea typeface="Calibri"/>
                <a:cs typeface="Calibri"/>
              </a:rPr>
              <a:t>Saved answers and evidence</a:t>
            </a:r>
          </a:p>
        </p:txBody>
      </p:sp>
      <p:sp>
        <p:nvSpPr>
          <p:cNvPr id="13" name="Rectangle 12">
            <a:extLst>
              <a:ext uri="{FF2B5EF4-FFF2-40B4-BE49-F238E27FC236}">
                <a16:creationId xmlns:a16="http://schemas.microsoft.com/office/drawing/2014/main" id="{6A8F163A-A6AB-41D5-987D-40247729674E}"/>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B6041E5E-9981-4ED6-A08B-8D5A625BF933}"/>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12</a:t>
            </a:r>
          </a:p>
        </p:txBody>
      </p:sp>
      <p:sp>
        <p:nvSpPr>
          <p:cNvPr id="15" name="Evaluated LLM: GPT-4.1 mini">
            <a:extLst>
              <a:ext uri="{FF2B5EF4-FFF2-40B4-BE49-F238E27FC236}">
                <a16:creationId xmlns:a16="http://schemas.microsoft.com/office/drawing/2014/main" id="{1B94DBC5-BB10-4D08-9BB4-2ADB32FBAB3F}"/>
              </a:ext>
            </a:extLst>
          </p:cNvPr>
          <p:cNvSpPr>
            <a:spLocks noGrp="1"/>
          </p:cNvSpPr>
          <p:nvPr/>
        </p:nvSpPr>
        <p:spPr>
          <a:xfrm>
            <a:off x="914400" y="4048125"/>
            <a:ext cx="10382250" cy="419100"/>
          </a:xfrm>
          <a:prstGeom prst="rect">
            <a:avLst/>
          </a:prstGeom>
          <a:noFill/>
          <a:ln w="0">
            <a:noFill/>
          </a:ln>
        </p:spPr>
        <p:txBody>
          <a:bodyPr wrap="square" lIns="0" tIns="0" rIns="0" bIns="0" anchor="t">
            <a:noAutofit/>
          </a:bodyPr>
          <a:lstStyle>
            <a:defPPr algn="l">
              <a:defRPr sz="2100" b="1">
                <a:solidFill>
                  <a:srgbClr val="142A4A"/>
                </a:solidFill>
                <a:latin typeface="Calibri"/>
                <a:ea typeface="Calibri"/>
                <a:cs typeface="Calibri"/>
              </a:defRPr>
            </a:defPPr>
          </a:lstStyle>
          <a:p>
            <a:pPr algn="l">
              <a:defRPr sz="2100" b="1">
                <a:solidFill>
                  <a:srgbClr val="142A4A"/>
                </a:solidFill>
                <a:latin typeface="Calibri"/>
                <a:ea typeface="Calibri"/>
                <a:cs typeface="Calibri"/>
              </a:defRPr>
            </a:pPr>
            <a:r>
              <a:rPr sz="2100" b="1">
                <a:solidFill>
                  <a:srgbClr val="142A4A"/>
                </a:solidFill>
                <a:latin typeface="Calibri"/>
                <a:ea typeface="Calibri"/>
                <a:cs typeface="Calibri"/>
              </a:rPr>
              <a:t>Evaluated LLM: GPT-4.1 mini</a:t>
            </a:r>
          </a:p>
        </p:txBody>
      </p:sp>
      <p:sp>
        <p:nvSpPr>
          <p:cNvPr id="16" name="The benchmark tests current-state questions, scena">
            <a:extLst>
              <a:ext uri="{FF2B5EF4-FFF2-40B4-BE49-F238E27FC236}">
                <a16:creationId xmlns:a16="http://schemas.microsoft.com/office/drawing/2014/main" id="{3327E158-9EC8-4A8F-B5AD-E7ACB63FDD59}"/>
              </a:ext>
            </a:extLst>
          </p:cNvPr>
          <p:cNvSpPr>
            <a:spLocks noGrp="1"/>
          </p:cNvSpPr>
          <p:nvPr/>
        </p:nvSpPr>
        <p:spPr>
          <a:xfrm>
            <a:off x="914400" y="4667250"/>
            <a:ext cx="10382250" cy="857250"/>
          </a:xfrm>
          <a:prstGeom prst="rect">
            <a:avLst/>
          </a:prstGeom>
          <a:noFill/>
          <a:ln w="0">
            <a:noFill/>
          </a:ln>
        </p:spPr>
        <p:txBody>
          <a:bodyPr wrap="square" lIns="0" tIns="0" rIns="0" bIns="0" anchor="t">
            <a:noAutofit/>
          </a:bodyPr>
          <a:lstStyle>
            <a:defPPr algn="l">
              <a:defRPr sz="1800" b="0">
                <a:solidFill>
                  <a:srgbClr val="232323"/>
                </a:solidFill>
                <a:latin typeface="Calibri"/>
                <a:ea typeface="Calibri"/>
                <a:cs typeface="Calibri"/>
              </a:defRPr>
            </a:defPPr>
          </a:lstStyle>
          <a:p>
            <a:pPr algn="l">
              <a:defRPr sz="1800" b="0">
                <a:solidFill>
                  <a:srgbClr val="232323"/>
                </a:solidFill>
                <a:latin typeface="Calibri"/>
                <a:ea typeface="Calibri"/>
                <a:cs typeface="Calibri"/>
              </a:defRPr>
            </a:pPr>
            <a:r>
              <a:rPr sz="1800" b="0">
                <a:solidFill>
                  <a:srgbClr val="232323"/>
                </a:solidFill>
                <a:latin typeface="Calibri"/>
                <a:ea typeface="Calibri"/>
                <a:cs typeface="Calibri"/>
              </a:rPr>
              <a:t>The benchmark tests current-state questions, scenarios, history, saved metrics,</a:t>
            </a:r>
          </a:p>
          <a:p>
            <a:pPr algn="l">
              <a:defRPr sz="1800" b="0">
                <a:solidFill>
                  <a:srgbClr val="232323"/>
                </a:solidFill>
                <a:latin typeface="Calibri"/>
                <a:ea typeface="Calibri"/>
                <a:cs typeface="Calibri"/>
              </a:defRPr>
            </a:pPr>
            <a:r>
              <a:rPr sz="1800" b="0">
                <a:solidFill>
                  <a:srgbClr val="232323"/>
                </a:solidFill>
                <a:latin typeface="Calibri"/>
                <a:ea typeface="Calibri"/>
                <a:cs typeface="Calibri"/>
              </a:rPr>
              <a:t>ambiguous or invalid inputs, and requests beyond the system’s capabilities.</a:t>
            </a:r>
          </a:p>
        </p:txBody>
      </p:sp>
    </p:spTree>
    <p:extLst>
      <p:ext uri="{BB962C8B-B14F-4D97-AF65-F5344CB8AC3E}">
        <p14:creationId xmlns:p14="http://schemas.microsoft.com/office/powerpoint/2010/main" val="2104048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96CCFF-82AE-0750-3211-D828833EE4B7}"/>
              </a:ext>
            </a:extLst>
          </p:cNvPr>
          <p:cNvSpPr>
            <a:spLocks noGrp="1"/>
          </p:cNvSpPr>
          <p:nvPr/>
        </p:nvSpPr>
        <p:spPr>
          <a:xfrm>
            <a:off x="640080" y="411480"/>
            <a:ext cx="6220143"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Copilot automatic execution results</a:t>
            </a:r>
            <a:endParaRPr/>
          </a:p>
        </p:txBody>
      </p:sp>
      <p:sp>
        <p:nvSpPr>
          <p:cNvPr id="9" name="Rectangle 8">
            <a:extLst>
              <a:ext uri="{FF2B5EF4-FFF2-40B4-BE49-F238E27FC236}">
                <a16:creationId xmlns:a16="http://schemas.microsoft.com/office/drawing/2014/main" id="{C4C530C1-0558-30FF-9E2E-1606BF0DDA5B}"/>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8C922B9-7FB6-F5D1-5CB6-EFB4DF825650}"/>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13</a:t>
            </a:r>
          </a:p>
        </p:txBody>
      </p:sp>
      <p:sp>
        <p:nvSpPr>
          <p:cNvPr id="11" name="180">
            <a:extLst>
              <a:ext uri="{FF2B5EF4-FFF2-40B4-BE49-F238E27FC236}">
                <a16:creationId xmlns:a16="http://schemas.microsoft.com/office/drawing/2014/main" id="{AE244959-62DE-40DA-AA7F-948EF5E2F1C5}"/>
              </a:ext>
            </a:extLst>
          </p:cNvPr>
          <p:cNvSpPr>
            <a:spLocks noGrp="1"/>
          </p:cNvSpPr>
          <p:nvPr/>
        </p:nvSpPr>
        <p:spPr>
          <a:xfrm>
            <a:off x="914400" y="1181100"/>
            <a:ext cx="2667000" cy="495300"/>
          </a:xfrm>
          <a:prstGeom prst="rect">
            <a:avLst/>
          </a:prstGeom>
          <a:noFill/>
          <a:ln w="0">
            <a:noFill/>
          </a:ln>
        </p:spPr>
        <p:txBody>
          <a:bodyPr wrap="square" lIns="0" tIns="0" rIns="0" bIns="0" anchor="t">
            <a:noAutofit/>
          </a:bodyPr>
          <a:lstStyle>
            <a:defPPr algn="l">
              <a:defRPr sz="3000" b="1">
                <a:solidFill>
                  <a:srgbClr val="2F66AD"/>
                </a:solidFill>
                <a:latin typeface="Calibri"/>
                <a:ea typeface="Calibri"/>
                <a:cs typeface="Calibri"/>
              </a:defRPr>
            </a:defPPr>
          </a:lstStyle>
          <a:p>
            <a:pPr algn="l">
              <a:defRPr sz="3000" b="1">
                <a:solidFill>
                  <a:srgbClr val="2F66AD"/>
                </a:solidFill>
                <a:latin typeface="Calibri"/>
                <a:ea typeface="Calibri"/>
                <a:cs typeface="Calibri"/>
              </a:defRPr>
            </a:pPr>
            <a:r>
              <a:rPr sz="3000" b="1">
                <a:solidFill>
                  <a:srgbClr val="2F66AD"/>
                </a:solidFill>
                <a:latin typeface="Calibri"/>
                <a:ea typeface="Calibri"/>
                <a:cs typeface="Calibri"/>
              </a:rPr>
              <a:t>180</a:t>
            </a:r>
          </a:p>
        </p:txBody>
      </p:sp>
      <p:sp>
        <p:nvSpPr>
          <p:cNvPr id="12" name="live task-trials">
            <a:extLst>
              <a:ext uri="{FF2B5EF4-FFF2-40B4-BE49-F238E27FC236}">
                <a16:creationId xmlns:a16="http://schemas.microsoft.com/office/drawing/2014/main" id="{C26BA989-75CB-4A89-9AF7-0A1FE09B624A}"/>
              </a:ext>
            </a:extLst>
          </p:cNvPr>
          <p:cNvSpPr>
            <a:spLocks noGrp="1"/>
          </p:cNvSpPr>
          <p:nvPr/>
        </p:nvSpPr>
        <p:spPr>
          <a:xfrm>
            <a:off x="914400" y="1657350"/>
            <a:ext cx="2667000" cy="266700"/>
          </a:xfrm>
          <a:prstGeom prst="rect">
            <a:avLst/>
          </a:prstGeom>
          <a:noFill/>
          <a:ln w="0">
            <a:noFill/>
          </a:ln>
        </p:spPr>
        <p:txBody>
          <a:bodyPr wrap="square" lIns="0" tIns="0" rIns="0" bIns="0" anchor="t">
            <a:noAutofit/>
          </a:bodyPr>
          <a:lstStyle>
            <a:defPPr algn="l">
              <a:defRPr sz="1500" b="0">
                <a:solidFill>
                  <a:srgbClr val="64696E"/>
                </a:solidFill>
                <a:latin typeface="Calibri"/>
                <a:ea typeface="Calibri"/>
                <a:cs typeface="Calibri"/>
              </a:defRPr>
            </a:defPPr>
          </a:lstStyle>
          <a:p>
            <a:pPr algn="l">
              <a:defRPr sz="1500" b="0">
                <a:solidFill>
                  <a:srgbClr val="64696E"/>
                </a:solidFill>
                <a:latin typeface="Calibri"/>
                <a:ea typeface="Calibri"/>
                <a:cs typeface="Calibri"/>
              </a:defRPr>
            </a:pPr>
            <a:r>
              <a:rPr sz="1500" b="0">
                <a:solidFill>
                  <a:srgbClr val="64696E"/>
                </a:solidFill>
                <a:latin typeface="Calibri"/>
                <a:ea typeface="Calibri"/>
                <a:cs typeface="Calibri"/>
              </a:rPr>
              <a:t>live task-trials</a:t>
            </a:r>
          </a:p>
        </p:txBody>
      </p:sp>
      <p:sp>
        <p:nvSpPr>
          <p:cNvPr id="13" name="80.56%">
            <a:extLst>
              <a:ext uri="{FF2B5EF4-FFF2-40B4-BE49-F238E27FC236}">
                <a16:creationId xmlns:a16="http://schemas.microsoft.com/office/drawing/2014/main" id="{9723F9C0-B0E5-4546-A4E7-C74E0759C5B2}"/>
              </a:ext>
            </a:extLst>
          </p:cNvPr>
          <p:cNvSpPr>
            <a:spLocks noGrp="1"/>
          </p:cNvSpPr>
          <p:nvPr/>
        </p:nvSpPr>
        <p:spPr>
          <a:xfrm>
            <a:off x="4505325" y="1181100"/>
            <a:ext cx="3048000" cy="495300"/>
          </a:xfrm>
          <a:prstGeom prst="rect">
            <a:avLst/>
          </a:prstGeom>
          <a:noFill/>
          <a:ln w="0">
            <a:noFill/>
          </a:ln>
        </p:spPr>
        <p:txBody>
          <a:bodyPr wrap="square" lIns="0" tIns="0" rIns="0" bIns="0" anchor="t">
            <a:noAutofit/>
          </a:bodyPr>
          <a:lstStyle>
            <a:defPPr algn="l">
              <a:defRPr sz="3000" b="1">
                <a:solidFill>
                  <a:srgbClr val="2F66AD"/>
                </a:solidFill>
                <a:latin typeface="Calibri"/>
                <a:ea typeface="Calibri"/>
                <a:cs typeface="Calibri"/>
              </a:defRPr>
            </a:defPPr>
          </a:lstStyle>
          <a:p>
            <a:pPr algn="l">
              <a:defRPr sz="3000" b="1">
                <a:solidFill>
                  <a:srgbClr val="2F66AD"/>
                </a:solidFill>
                <a:latin typeface="Calibri"/>
                <a:ea typeface="Calibri"/>
                <a:cs typeface="Calibri"/>
              </a:defRPr>
            </a:pPr>
            <a:r>
              <a:rPr sz="3000" b="1">
                <a:solidFill>
                  <a:srgbClr val="2F66AD"/>
                </a:solidFill>
                <a:latin typeface="Calibri"/>
                <a:ea typeface="Calibri"/>
                <a:cs typeface="Calibri"/>
              </a:rPr>
              <a:t>80.56%</a:t>
            </a:r>
          </a:p>
        </p:txBody>
      </p:sp>
      <p:sp>
        <p:nvSpPr>
          <p:cNvPr id="14" name="strict check pass rate">
            <a:extLst>
              <a:ext uri="{FF2B5EF4-FFF2-40B4-BE49-F238E27FC236}">
                <a16:creationId xmlns:a16="http://schemas.microsoft.com/office/drawing/2014/main" id="{694E9F78-4B51-4CAF-A982-F0A5AD1D93EB}"/>
              </a:ext>
            </a:extLst>
          </p:cNvPr>
          <p:cNvSpPr>
            <a:spLocks noGrp="1"/>
          </p:cNvSpPr>
          <p:nvPr/>
        </p:nvSpPr>
        <p:spPr>
          <a:xfrm>
            <a:off x="4505325" y="1657350"/>
            <a:ext cx="3143250" cy="266700"/>
          </a:xfrm>
          <a:prstGeom prst="rect">
            <a:avLst/>
          </a:prstGeom>
          <a:noFill/>
          <a:ln w="0">
            <a:noFill/>
          </a:ln>
        </p:spPr>
        <p:txBody>
          <a:bodyPr wrap="square" lIns="0" tIns="0" rIns="0" bIns="0" anchor="t">
            <a:noAutofit/>
          </a:bodyPr>
          <a:lstStyle>
            <a:defPPr algn="l">
              <a:defRPr sz="1500" b="0">
                <a:solidFill>
                  <a:srgbClr val="64696E"/>
                </a:solidFill>
                <a:latin typeface="Calibri"/>
                <a:ea typeface="Calibri"/>
                <a:cs typeface="Calibri"/>
              </a:defRPr>
            </a:defPPr>
          </a:lstStyle>
          <a:p>
            <a:pPr algn="l">
              <a:defRPr sz="1500" b="0">
                <a:solidFill>
                  <a:srgbClr val="64696E"/>
                </a:solidFill>
                <a:latin typeface="Calibri"/>
                <a:ea typeface="Calibri"/>
                <a:cs typeface="Calibri"/>
              </a:defRPr>
            </a:pPr>
            <a:r>
              <a:rPr sz="1500" b="0">
                <a:solidFill>
                  <a:srgbClr val="64696E"/>
                </a:solidFill>
                <a:latin typeface="Calibri"/>
                <a:ea typeface="Calibri"/>
                <a:cs typeface="Calibri"/>
              </a:rPr>
              <a:t>strict check pass rate</a:t>
            </a:r>
          </a:p>
        </p:txBody>
      </p:sp>
      <p:sp>
        <p:nvSpPr>
          <p:cNvPr id="15" name="2.14 s">
            <a:extLst>
              <a:ext uri="{FF2B5EF4-FFF2-40B4-BE49-F238E27FC236}">
                <a16:creationId xmlns:a16="http://schemas.microsoft.com/office/drawing/2014/main" id="{5B554B25-E5BE-4CC6-A72A-0423DEB56B6E}"/>
              </a:ext>
            </a:extLst>
          </p:cNvPr>
          <p:cNvSpPr>
            <a:spLocks noGrp="1"/>
          </p:cNvSpPr>
          <p:nvPr/>
        </p:nvSpPr>
        <p:spPr>
          <a:xfrm>
            <a:off x="8572500" y="1181100"/>
            <a:ext cx="2762250" cy="495300"/>
          </a:xfrm>
          <a:prstGeom prst="rect">
            <a:avLst/>
          </a:prstGeom>
          <a:noFill/>
          <a:ln w="0">
            <a:noFill/>
          </a:ln>
        </p:spPr>
        <p:txBody>
          <a:bodyPr wrap="square" lIns="0" tIns="0" rIns="0" bIns="0" anchor="t">
            <a:noAutofit/>
          </a:bodyPr>
          <a:lstStyle>
            <a:defPPr algn="l">
              <a:defRPr sz="3000" b="1">
                <a:solidFill>
                  <a:srgbClr val="2F66AD"/>
                </a:solidFill>
                <a:latin typeface="Calibri"/>
                <a:ea typeface="Calibri"/>
                <a:cs typeface="Calibri"/>
              </a:defRPr>
            </a:defPPr>
          </a:lstStyle>
          <a:p>
            <a:pPr algn="l">
              <a:defRPr sz="3000" b="1">
                <a:solidFill>
                  <a:srgbClr val="2F66AD"/>
                </a:solidFill>
                <a:latin typeface="Calibri"/>
                <a:ea typeface="Calibri"/>
                <a:cs typeface="Calibri"/>
              </a:defRPr>
            </a:pPr>
            <a:r>
              <a:rPr sz="3000" b="1">
                <a:solidFill>
                  <a:srgbClr val="2F66AD"/>
                </a:solidFill>
                <a:latin typeface="Calibri"/>
                <a:ea typeface="Calibri"/>
                <a:cs typeface="Calibri"/>
              </a:rPr>
              <a:t>2.14 s</a:t>
            </a:r>
          </a:p>
        </p:txBody>
      </p:sp>
      <p:sp>
        <p:nvSpPr>
          <p:cNvPr id="16" name="mean completed-turn response">
            <a:extLst>
              <a:ext uri="{FF2B5EF4-FFF2-40B4-BE49-F238E27FC236}">
                <a16:creationId xmlns:a16="http://schemas.microsoft.com/office/drawing/2014/main" id="{5FC76A5B-7192-44C5-B7A6-7AE16B545EED}"/>
              </a:ext>
            </a:extLst>
          </p:cNvPr>
          <p:cNvSpPr>
            <a:spLocks noGrp="1"/>
          </p:cNvSpPr>
          <p:nvPr/>
        </p:nvSpPr>
        <p:spPr>
          <a:xfrm>
            <a:off x="8572500" y="1657350"/>
            <a:ext cx="2857500" cy="266700"/>
          </a:xfrm>
          <a:prstGeom prst="rect">
            <a:avLst/>
          </a:prstGeom>
          <a:noFill/>
          <a:ln w="0">
            <a:noFill/>
          </a:ln>
        </p:spPr>
        <p:txBody>
          <a:bodyPr wrap="square" lIns="0" tIns="0" rIns="0" bIns="0" anchor="t">
            <a:noAutofit/>
          </a:bodyPr>
          <a:lstStyle>
            <a:defPPr algn="l">
              <a:defRPr sz="1400" b="0">
                <a:solidFill>
                  <a:srgbClr val="64696E"/>
                </a:solidFill>
                <a:latin typeface="Calibri"/>
                <a:ea typeface="Calibri"/>
                <a:cs typeface="Calibri"/>
              </a:defRPr>
            </a:defPPr>
          </a:lstStyle>
          <a:p>
            <a:pPr algn="l">
              <a:defRPr sz="1400" b="0">
                <a:solidFill>
                  <a:srgbClr val="64696E"/>
                </a:solidFill>
                <a:latin typeface="Calibri"/>
                <a:ea typeface="Calibri"/>
                <a:cs typeface="Calibri"/>
              </a:defRPr>
            </a:pPr>
            <a:r>
              <a:rPr sz="1400" b="0">
                <a:solidFill>
                  <a:srgbClr val="64696E"/>
                </a:solidFill>
                <a:latin typeface="Calibri"/>
                <a:ea typeface="Calibri"/>
                <a:cs typeface="Calibri"/>
              </a:rPr>
              <a:t>mean completed-turn response</a:t>
            </a:r>
          </a:p>
        </p:txBody>
      </p:sp>
      <p:graphicFrame>
        <p:nvGraphicFramePr>
          <p:cNvPr id="17" name="Table 16">
            <a:extLst>
              <a:ext uri="{FF2B5EF4-FFF2-40B4-BE49-F238E27FC236}">
                <a16:creationId xmlns:a16="http://schemas.microsoft.com/office/drawing/2014/main" id="{AB25E375-87C8-4A2A-BBA4-3357075CB6C6}"/>
              </a:ext>
            </a:extLst>
          </p:cNvPr>
          <p:cNvGraphicFramePr/>
          <p:nvPr/>
        </p:nvGraphicFramePr>
        <p:xfrm>
          <a:off x="914400" y="2133600"/>
          <a:ext cx="10287000" cy="3352800"/>
        </p:xfrm>
        <a:graphic>
          <a:graphicData uri="http://schemas.openxmlformats.org/drawingml/2006/table">
            <a:tbl>
              <a:tblPr/>
              <a:tblGrid>
                <a:gridCol w="62865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419100">
                <a:tc>
                  <a:txBody>
                    <a:bodyPr/>
                    <a:lstStyle/>
                    <a:p>
                      <a:pPr algn="l"/>
                      <a:r>
                        <a:rPr sz="1500" b="1">
                          <a:solidFill>
                            <a:srgbClr val="FFFFFF"/>
                          </a:solidFill>
                          <a:latin typeface="Calibri"/>
                          <a:ea typeface="Calibri"/>
                          <a:cs typeface="Calibri"/>
                        </a:rPr>
                        <a:t>Test category</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Passed / trials</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Pass rate</a:t>
                      </a:r>
                    </a:p>
                  </a:txBody>
                  <a:tcPr marL="95250" marR="95250" marT="76200" marB="76200" anchor="ctr">
                    <a:solidFill>
                      <a:srgbClr val="142A4A"/>
                    </a:solidFill>
                  </a:tcPr>
                </a:tc>
                <a:extLst>
                  <a:ext uri="{0D108BD9-81ED-4DB2-BD59-A6C34878D82A}">
                    <a16:rowId xmlns:a16="http://schemas.microsoft.com/office/drawing/2014/main" val="10000"/>
                  </a:ext>
                </a:extLst>
              </a:tr>
              <a:tr h="419100">
                <a:tc>
                  <a:txBody>
                    <a:bodyPr/>
                    <a:lstStyle/>
                    <a:p>
                      <a:pPr algn="l"/>
                      <a:r>
                        <a:rPr sz="1500" b="0">
                          <a:solidFill>
                            <a:srgbClr val="232323"/>
                          </a:solidFill>
                          <a:latin typeface="Calibri"/>
                          <a:ea typeface="Calibri"/>
                          <a:cs typeface="Calibri"/>
                        </a:rPr>
                        <a:t>Current-state explanation</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30 / 30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100.00%</a:t>
                      </a:r>
                    </a:p>
                  </a:txBody>
                  <a:tcPr marL="95250" marR="95250" marT="76200" marB="76200" anchor="ctr">
                    <a:solidFill>
                      <a:srgbClr val="FFFFFF"/>
                    </a:solidFill>
                  </a:tcPr>
                </a:tc>
                <a:extLst>
                  <a:ext uri="{0D108BD9-81ED-4DB2-BD59-A6C34878D82A}">
                    <a16:rowId xmlns:a16="http://schemas.microsoft.com/office/drawing/2014/main" val="10001"/>
                  </a:ext>
                </a:extLst>
              </a:tr>
              <a:tr h="419100">
                <a:tc>
                  <a:txBody>
                    <a:bodyPr/>
                    <a:lstStyle/>
                    <a:p>
                      <a:pPr algn="l"/>
                      <a:r>
                        <a:rPr sz="1500" b="0">
                          <a:solidFill>
                            <a:srgbClr val="232323"/>
                          </a:solidFill>
                          <a:latin typeface="Calibri"/>
                          <a:ea typeface="Calibri"/>
                          <a:cs typeface="Calibri"/>
                        </a:rPr>
                        <a:t>What-if simulation</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20 / 30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66.67%</a:t>
                      </a:r>
                    </a:p>
                  </a:txBody>
                  <a:tcPr marL="95250" marR="95250" marT="76200" marB="76200" anchor="ctr">
                    <a:solidFill>
                      <a:srgbClr val="F2F6FA"/>
                    </a:solidFill>
                  </a:tcPr>
                </a:tc>
                <a:extLst>
                  <a:ext uri="{0D108BD9-81ED-4DB2-BD59-A6C34878D82A}">
                    <a16:rowId xmlns:a16="http://schemas.microsoft.com/office/drawing/2014/main" val="10002"/>
                  </a:ext>
                </a:extLst>
              </a:tr>
              <a:tr h="419100">
                <a:tc>
                  <a:txBody>
                    <a:bodyPr/>
                    <a:lstStyle/>
                    <a:p>
                      <a:pPr algn="l"/>
                      <a:r>
                        <a:rPr sz="1500" b="0">
                          <a:solidFill>
                            <a:srgbClr val="232323"/>
                          </a:solidFill>
                          <a:latin typeface="Calibri"/>
                          <a:ea typeface="Calibri"/>
                          <a:cs typeface="Calibri"/>
                        </a:rPr>
                        <a:t>History and follow-ups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28 / 30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93.33%</a:t>
                      </a:r>
                    </a:p>
                  </a:txBody>
                  <a:tcPr marL="95250" marR="95250" marT="76200" marB="76200" anchor="ctr">
                    <a:solidFill>
                      <a:srgbClr val="FFFFFF"/>
                    </a:solidFill>
                  </a:tcPr>
                </a:tc>
                <a:extLst>
                  <a:ext uri="{0D108BD9-81ED-4DB2-BD59-A6C34878D82A}">
                    <a16:rowId xmlns:a16="http://schemas.microsoft.com/office/drawing/2014/main" val="10003"/>
                  </a:ext>
                </a:extLst>
              </a:tr>
              <a:tr h="419100">
                <a:tc>
                  <a:txBody>
                    <a:bodyPr/>
                    <a:lstStyle/>
                    <a:p>
                      <a:pPr algn="l"/>
                      <a:r>
                        <a:rPr sz="1500" b="0">
                          <a:solidFill>
                            <a:srgbClr val="232323"/>
                          </a:solidFill>
                          <a:latin typeface="Calibri"/>
                          <a:ea typeface="Calibri"/>
                          <a:cs typeface="Calibri"/>
                        </a:rPr>
                        <a:t>Model metric retrieval</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30 / 30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100.00%</a:t>
                      </a:r>
                    </a:p>
                  </a:txBody>
                  <a:tcPr marL="95250" marR="95250" marT="76200" marB="76200" anchor="ctr">
                    <a:solidFill>
                      <a:srgbClr val="F2F6FA"/>
                    </a:solidFill>
                  </a:tcPr>
                </a:tc>
                <a:extLst>
                  <a:ext uri="{0D108BD9-81ED-4DB2-BD59-A6C34878D82A}">
                    <a16:rowId xmlns:a16="http://schemas.microsoft.com/office/drawing/2014/main" val="10004"/>
                  </a:ext>
                </a:extLst>
              </a:tr>
              <a:tr h="419100">
                <a:tc>
                  <a:txBody>
                    <a:bodyPr/>
                    <a:lstStyle/>
                    <a:p>
                      <a:pPr algn="l"/>
                      <a:r>
                        <a:rPr sz="1500" b="0">
                          <a:solidFill>
                            <a:srgbClr val="232323"/>
                          </a:solidFill>
                          <a:latin typeface="Calibri"/>
                          <a:ea typeface="Calibri"/>
                          <a:cs typeface="Calibri"/>
                        </a:rPr>
                        <a:t>Ambiguous or invalid requests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10 / 30</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33.33%</a:t>
                      </a:r>
                    </a:p>
                  </a:txBody>
                  <a:tcPr marL="95250" marR="95250" marT="76200" marB="76200" anchor="ctr">
                    <a:solidFill>
                      <a:srgbClr val="FFFFFF"/>
                    </a:solidFill>
                  </a:tcPr>
                </a:tc>
                <a:extLst>
                  <a:ext uri="{0D108BD9-81ED-4DB2-BD59-A6C34878D82A}">
                    <a16:rowId xmlns:a16="http://schemas.microsoft.com/office/drawing/2014/main" val="10005"/>
                  </a:ext>
                </a:extLst>
              </a:tr>
              <a:tr h="419100">
                <a:tc>
                  <a:txBody>
                    <a:bodyPr/>
                    <a:lstStyle/>
                    <a:p>
                      <a:pPr algn="l"/>
                      <a:r>
                        <a:rPr sz="1500" b="0">
                          <a:solidFill>
                            <a:srgbClr val="232323"/>
                          </a:solidFill>
                          <a:latin typeface="Calibri"/>
                          <a:ea typeface="Calibri"/>
                          <a:cs typeface="Calibri"/>
                        </a:rPr>
                        <a:t>Unsupported requests</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27 / 30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90.00%</a:t>
                      </a:r>
                    </a:p>
                  </a:txBody>
                  <a:tcPr marL="95250" marR="95250" marT="76200" marB="76200" anchor="ctr">
                    <a:solidFill>
                      <a:srgbClr val="F2F6FA"/>
                    </a:solidFill>
                  </a:tcPr>
                </a:tc>
                <a:extLst>
                  <a:ext uri="{0D108BD9-81ED-4DB2-BD59-A6C34878D82A}">
                    <a16:rowId xmlns:a16="http://schemas.microsoft.com/office/drawing/2014/main" val="10006"/>
                  </a:ext>
                </a:extLst>
              </a:tr>
              <a:tr h="419100">
                <a:tc>
                  <a:txBody>
                    <a:bodyPr/>
                    <a:lstStyle/>
                    <a:p>
                      <a:pPr algn="l"/>
                      <a:r>
                        <a:rPr sz="1500" b="1">
                          <a:solidFill>
                            <a:srgbClr val="142A4A"/>
                          </a:solidFill>
                          <a:latin typeface="Calibri"/>
                          <a:ea typeface="Calibri"/>
                          <a:cs typeface="Calibri"/>
                        </a:rPr>
                        <a:t>Overall</a:t>
                      </a:r>
                    </a:p>
                  </a:txBody>
                  <a:tcPr marL="95250" marR="95250" marT="76200" marB="76200" anchor="ctr">
                    <a:solidFill>
                      <a:srgbClr val="F2F6FA"/>
                    </a:solidFill>
                  </a:tcPr>
                </a:tc>
                <a:tc>
                  <a:txBody>
                    <a:bodyPr/>
                    <a:lstStyle/>
                    <a:p>
                      <a:pPr algn="ctr"/>
                      <a:r>
                        <a:rPr sz="1500" b="1">
                          <a:solidFill>
                            <a:srgbClr val="142A4A"/>
                          </a:solidFill>
                          <a:latin typeface="Calibri"/>
                          <a:ea typeface="Calibri"/>
                          <a:cs typeface="Calibri"/>
                        </a:rPr>
                        <a:t>145 / 180</a:t>
                      </a:r>
                    </a:p>
                  </a:txBody>
                  <a:tcPr marL="95250" marR="95250" marT="76200" marB="76200" anchor="ctr">
                    <a:solidFill>
                      <a:srgbClr val="F2F6FA"/>
                    </a:solidFill>
                  </a:tcPr>
                </a:tc>
                <a:tc>
                  <a:txBody>
                    <a:bodyPr/>
                    <a:lstStyle/>
                    <a:p>
                      <a:pPr algn="ctr"/>
                      <a:r>
                        <a:rPr sz="1500" b="1">
                          <a:solidFill>
                            <a:srgbClr val="142A4A"/>
                          </a:solidFill>
                          <a:latin typeface="Calibri"/>
                          <a:ea typeface="Calibri"/>
                          <a:cs typeface="Calibri"/>
                        </a:rPr>
                        <a:t>80.56%</a:t>
                      </a:r>
                    </a:p>
                  </a:txBody>
                  <a:tcPr marL="95250" marR="95250" marT="76200" marB="76200" anchor="ctr">
                    <a:solidFill>
                      <a:srgbClr val="F2F6FA"/>
                    </a:solidFill>
                  </a:tcPr>
                </a:tc>
                <a:extLst>
                  <a:ext uri="{0D108BD9-81ED-4DB2-BD59-A6C34878D82A}">
                    <a16:rowId xmlns:a16="http://schemas.microsoft.com/office/drawing/2014/main" val="10007"/>
                  </a:ext>
                </a:extLst>
              </a:tr>
            </a:tbl>
          </a:graphicData>
        </a:graphic>
      </p:graphicFrame>
      <p:sp>
        <p:nvSpPr>
          <p:cNvPr id="18" name="Strict checks cover execution requirements. Overal">
            <a:extLst>
              <a:ext uri="{FF2B5EF4-FFF2-40B4-BE49-F238E27FC236}">
                <a16:creationId xmlns:a16="http://schemas.microsoft.com/office/drawing/2014/main" id="{6C43643A-0EA1-4208-877E-D221E83264C9}"/>
              </a:ext>
            </a:extLst>
          </p:cNvPr>
          <p:cNvSpPr>
            <a:spLocks noGrp="1"/>
          </p:cNvSpPr>
          <p:nvPr/>
        </p:nvSpPr>
        <p:spPr>
          <a:xfrm>
            <a:off x="914400" y="5734050"/>
            <a:ext cx="10382250" cy="600075"/>
          </a:xfrm>
          <a:prstGeom prst="rect">
            <a:avLst/>
          </a:prstGeom>
          <a:noFill/>
          <a:ln w="0">
            <a:noFill/>
          </a:ln>
        </p:spPr>
        <p:txBody>
          <a:bodyPr wrap="square" lIns="0" tIns="0" rIns="0" bIns="0" anchor="t">
            <a:noAutofit/>
          </a:bodyPr>
          <a:lstStyle>
            <a:defPPr algn="l">
              <a:defRPr sz="1400" b="0">
                <a:solidFill>
                  <a:srgbClr val="64696E"/>
                </a:solidFill>
                <a:latin typeface="Calibri"/>
                <a:ea typeface="Calibri"/>
                <a:cs typeface="Calibri"/>
              </a:defRPr>
            </a:defPPr>
          </a:lstStyle>
          <a:p>
            <a:pPr algn="l">
              <a:defRPr sz="1400" b="0">
                <a:solidFill>
                  <a:srgbClr val="64696E"/>
                </a:solidFill>
                <a:latin typeface="Calibri"/>
                <a:ea typeface="Calibri"/>
                <a:cs typeface="Calibri"/>
              </a:defRPr>
            </a:pPr>
            <a:r>
              <a:rPr sz="1400" b="0">
                <a:solidFill>
                  <a:srgbClr val="64696E"/>
                </a:solidFill>
                <a:latin typeface="Calibri"/>
                <a:ea typeface="Calibri"/>
                <a:cs typeface="Calibri"/>
              </a:rPr>
              <a:t>Strict checks cover execution requirements. Overall answer quality awaits independent review.</a:t>
            </a:r>
          </a:p>
          <a:p>
            <a:pPr algn="l">
              <a:defRPr sz="1400" b="0">
                <a:solidFill>
                  <a:srgbClr val="64696E"/>
                </a:solidFill>
                <a:latin typeface="Calibri"/>
                <a:ea typeface="Calibri"/>
                <a:cs typeface="Calibri"/>
              </a:defRPr>
            </a:pPr>
            <a:r>
              <a:rPr sz="1400" b="0">
                <a:solidFill>
                  <a:srgbClr val="64696E"/>
                </a:solidFill>
                <a:latin typeface="Calibri"/>
                <a:ea typeface="Calibri"/>
                <a:cs typeface="Calibri"/>
              </a:rPr>
              <a:t>All 30 what-if outputs matched the reference. Ten strict flags repeated unchanged inputs.</a:t>
            </a:r>
          </a:p>
        </p:txBody>
      </p:sp>
    </p:spTree>
    <p:extLst>
      <p:ext uri="{BB962C8B-B14F-4D97-AF65-F5344CB8AC3E}">
        <p14:creationId xmlns:p14="http://schemas.microsoft.com/office/powerpoint/2010/main" val="3368522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29351-CA31-48BA-946C-08DA052037E8}"/>
              </a:ext>
            </a:extLst>
          </p:cNvPr>
          <p:cNvSpPr>
            <a:spLocks noGrp="1"/>
          </p:cNvSpPr>
          <p:nvPr/>
        </p:nvSpPr>
        <p:spPr>
          <a:xfrm>
            <a:off x="640080" y="411480"/>
            <a:ext cx="5553392"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Example test: replacing the tool</a:t>
            </a:r>
          </a:p>
        </p:txBody>
      </p:sp>
      <p:sp>
        <p:nvSpPr>
          <p:cNvPr id="3" name="Rounded Rectangle 2">
            <a:extLst>
              <a:ext uri="{FF2B5EF4-FFF2-40B4-BE49-F238E27FC236}">
                <a16:creationId xmlns:a16="http://schemas.microsoft.com/office/drawing/2014/main" id="{912FE116-D9BA-45D9-BB02-C812BB63E51E}"/>
              </a:ext>
            </a:extLst>
          </p:cNvPr>
          <p:cNvSpPr>
            <a:spLocks noGrp="1"/>
          </p:cNvSpPr>
          <p:nvPr/>
        </p:nvSpPr>
        <p:spPr>
          <a:xfrm>
            <a:off x="731520" y="1714500"/>
            <a:ext cx="5120640" cy="371475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7400F4C7-F36D-4588-841E-E2A55C196436}"/>
              </a:ext>
            </a:extLst>
          </p:cNvPr>
          <p:cNvSpPr>
            <a:spLocks noGrp="1"/>
          </p:cNvSpPr>
          <p:nvPr/>
        </p:nvSpPr>
        <p:spPr>
          <a:xfrm>
            <a:off x="6309360" y="1714500"/>
            <a:ext cx="5120640" cy="371475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0F1EB1C-9F39-438F-A8BB-7F5B18843C32}"/>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411640-4599-4A6A-B267-CC3AFDD26E11}"/>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14</a:t>
            </a:r>
          </a:p>
        </p:txBody>
      </p:sp>
      <p:sp>
        <p:nvSpPr>
          <p:cNvPr id="11" name="“What if I replace the tool? Compare baseline and ">
            <a:extLst>
              <a:ext uri="{FF2B5EF4-FFF2-40B4-BE49-F238E27FC236}">
                <a16:creationId xmlns:a16="http://schemas.microsoft.com/office/drawing/2014/main" id="{7D32AC00-D9F8-4E23-BEF4-AE1CCF2231F6}"/>
              </a:ext>
            </a:extLst>
          </p:cNvPr>
          <p:cNvSpPr>
            <a:spLocks noGrp="1"/>
          </p:cNvSpPr>
          <p:nvPr/>
        </p:nvSpPr>
        <p:spPr>
          <a:xfrm>
            <a:off x="914400" y="1162050"/>
            <a:ext cx="10382250" cy="381000"/>
          </a:xfrm>
          <a:prstGeom prst="rect">
            <a:avLst/>
          </a:prstGeom>
          <a:noFill/>
          <a:ln w="0">
            <a:noFill/>
          </a:ln>
        </p:spPr>
        <p:txBody>
          <a:bodyPr wrap="square" lIns="0" tIns="0" rIns="0" bIns="0" anchor="t">
            <a:noAutofit/>
          </a:bodyPr>
          <a:lstStyle>
            <a:defPPr algn="l">
              <a:defRPr sz="1800" b="0">
                <a:solidFill>
                  <a:srgbClr val="142A4A"/>
                </a:solidFill>
                <a:latin typeface="Calibri"/>
                <a:ea typeface="Calibri"/>
                <a:cs typeface="Calibri"/>
              </a:defRPr>
            </a:defPPr>
          </a:lstStyle>
          <a:p>
            <a:pPr algn="l">
              <a:defRPr sz="1800" b="0">
                <a:solidFill>
                  <a:srgbClr val="142A4A"/>
                </a:solidFill>
                <a:latin typeface="Calibri"/>
                <a:ea typeface="Calibri"/>
                <a:cs typeface="Calibri"/>
              </a:defRPr>
            </a:pPr>
            <a:r>
              <a:rPr sz="1800" b="0">
                <a:solidFill>
                  <a:srgbClr val="142A4A"/>
                </a:solidFill>
                <a:latin typeface="Calibri"/>
                <a:ea typeface="Calibri"/>
                <a:cs typeface="Calibri"/>
              </a:rPr>
              <a:t>“What if I replace the tool? Compare baseline and scenario risk.”</a:t>
            </a:r>
          </a:p>
        </p:txBody>
      </p:sp>
      <p:sp>
        <p:nvSpPr>
          <p:cNvPr id="12" name="Reference and observed result">
            <a:extLst>
              <a:ext uri="{FF2B5EF4-FFF2-40B4-BE49-F238E27FC236}">
                <a16:creationId xmlns:a16="http://schemas.microsoft.com/office/drawing/2014/main" id="{E50E969F-E757-4FA0-A261-0FB215C32530}"/>
              </a:ext>
            </a:extLst>
          </p:cNvPr>
          <p:cNvSpPr>
            <a:spLocks noGrp="1"/>
          </p:cNvSpPr>
          <p:nvPr/>
        </p:nvSpPr>
        <p:spPr>
          <a:xfrm>
            <a:off x="914400" y="1943100"/>
            <a:ext cx="4752975" cy="381000"/>
          </a:xfrm>
          <a:prstGeom prst="rect">
            <a:avLst/>
          </a:prstGeom>
          <a:noFill/>
          <a:ln w="0">
            <a:noFill/>
          </a:ln>
        </p:spPr>
        <p:txBody>
          <a:bodyPr wrap="square" lIns="0" tIns="0" rIns="0" bIns="0" anchor="t">
            <a:noAutofit/>
          </a:bodyPr>
          <a:lstStyle>
            <a:defPPr algn="l">
              <a:defRPr sz="1900" b="1">
                <a:solidFill>
                  <a:srgbClr val="142A4A"/>
                </a:solidFill>
                <a:latin typeface="Calibri"/>
                <a:ea typeface="Calibri"/>
                <a:cs typeface="Calibri"/>
              </a:defRPr>
            </a:defPPr>
          </a:lstStyle>
          <a:p>
            <a:pPr algn="l">
              <a:defRPr sz="1900" b="1">
                <a:solidFill>
                  <a:srgbClr val="142A4A"/>
                </a:solidFill>
                <a:latin typeface="Calibri"/>
                <a:ea typeface="Calibri"/>
                <a:cs typeface="Calibri"/>
              </a:defRPr>
            </a:pPr>
            <a:r>
              <a:rPr sz="1900" b="1">
                <a:solidFill>
                  <a:srgbClr val="142A4A"/>
                </a:solidFill>
                <a:latin typeface="Calibri"/>
                <a:ea typeface="Calibri"/>
                <a:cs typeface="Calibri"/>
              </a:rPr>
              <a:t>Reference and observed result</a:t>
            </a:r>
          </a:p>
        </p:txBody>
      </p:sp>
      <p:graphicFrame>
        <p:nvGraphicFramePr>
          <p:cNvPr id="13" name="Table 12">
            <a:extLst>
              <a:ext uri="{FF2B5EF4-FFF2-40B4-BE49-F238E27FC236}">
                <a16:creationId xmlns:a16="http://schemas.microsoft.com/office/drawing/2014/main" id="{44568020-D04C-47B6-A359-337E544E66C6}"/>
              </a:ext>
            </a:extLst>
          </p:cNvPr>
          <p:cNvGraphicFramePr/>
          <p:nvPr/>
        </p:nvGraphicFramePr>
        <p:xfrm>
          <a:off x="914400" y="2543175"/>
          <a:ext cx="4752975" cy="1828800"/>
        </p:xfrm>
        <a:graphic>
          <a:graphicData uri="http://schemas.openxmlformats.org/drawingml/2006/table">
            <a:tbl>
              <a:tblPr/>
              <a:tblGrid>
                <a:gridCol w="2428875">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tblGrid>
              <a:tr h="457200">
                <a:tc>
                  <a:txBody>
                    <a:bodyPr/>
                    <a:lstStyle/>
                    <a:p>
                      <a:pPr algn="l"/>
                      <a:r>
                        <a:rPr sz="1500" b="1">
                          <a:solidFill>
                            <a:srgbClr val="FFFFFF"/>
                          </a:solidFill>
                          <a:latin typeface="Calibri"/>
                          <a:ea typeface="Calibri"/>
                          <a:cs typeface="Calibri"/>
                        </a:rPr>
                        <a:t>Measurement</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Baseline</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Scenario</a:t>
                      </a:r>
                    </a:p>
                  </a:txBody>
                  <a:tcPr marL="95250" marR="95250" marT="76200" marB="76200" anchor="ctr">
                    <a:solidFill>
                      <a:srgbClr val="142A4A"/>
                    </a:solidFill>
                  </a:tcPr>
                </a:tc>
                <a:extLst>
                  <a:ext uri="{0D108BD9-81ED-4DB2-BD59-A6C34878D82A}">
                    <a16:rowId xmlns:a16="http://schemas.microsoft.com/office/drawing/2014/main" val="10000"/>
                  </a:ext>
                </a:extLst>
              </a:tr>
              <a:tr h="457200">
                <a:tc>
                  <a:txBody>
                    <a:bodyPr/>
                    <a:lstStyle/>
                    <a:p>
                      <a:pPr algn="l"/>
                      <a:r>
                        <a:rPr sz="1500" b="0">
                          <a:solidFill>
                            <a:srgbClr val="232323"/>
                          </a:solidFill>
                          <a:latin typeface="Calibri"/>
                          <a:ea typeface="Calibri"/>
                          <a:cs typeface="Calibri"/>
                        </a:rPr>
                        <a:t>Tool wear (min)</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154</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0</a:t>
                      </a:r>
                    </a:p>
                  </a:txBody>
                  <a:tcPr marL="95250" marR="95250" marT="76200" marB="76200" anchor="ctr">
                    <a:solidFill>
                      <a:srgbClr val="FFFFFF"/>
                    </a:solidFill>
                  </a:tcPr>
                </a:tc>
                <a:extLst>
                  <a:ext uri="{0D108BD9-81ED-4DB2-BD59-A6C34878D82A}">
                    <a16:rowId xmlns:a16="http://schemas.microsoft.com/office/drawing/2014/main" val="10001"/>
                  </a:ext>
                </a:extLst>
              </a:tr>
              <a:tr h="457200">
                <a:tc>
                  <a:txBody>
                    <a:bodyPr/>
                    <a:lstStyle/>
                    <a:p>
                      <a:pPr algn="l"/>
                      <a:r>
                        <a:rPr sz="1500" b="0">
                          <a:solidFill>
                            <a:srgbClr val="232323"/>
                          </a:solidFill>
                          <a:latin typeface="Calibri"/>
                          <a:ea typeface="Calibri"/>
                          <a:cs typeface="Calibri"/>
                        </a:rPr>
                        <a:t>Risk score / 100</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98.33</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80.33</a:t>
                      </a:r>
                    </a:p>
                  </a:txBody>
                  <a:tcPr marL="95250" marR="95250" marT="76200" marB="76200" anchor="ctr">
                    <a:solidFill>
                      <a:srgbClr val="F2F6FA"/>
                    </a:solidFill>
                  </a:tcPr>
                </a:tc>
                <a:extLst>
                  <a:ext uri="{0D108BD9-81ED-4DB2-BD59-A6C34878D82A}">
                    <a16:rowId xmlns:a16="http://schemas.microsoft.com/office/drawing/2014/main" val="10002"/>
                  </a:ext>
                </a:extLst>
              </a:tr>
              <a:tr h="457200">
                <a:tc>
                  <a:txBody>
                    <a:bodyPr/>
                    <a:lstStyle/>
                    <a:p>
                      <a:pPr algn="l"/>
                      <a:r>
                        <a:rPr sz="1500" b="0">
                          <a:solidFill>
                            <a:srgbClr val="232323"/>
                          </a:solidFill>
                          <a:latin typeface="Calibri"/>
                          <a:ea typeface="Calibri"/>
                          <a:cs typeface="Calibri"/>
                        </a:rPr>
                        <a:t>Classification</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Failure</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Failure</a:t>
                      </a:r>
                    </a:p>
                  </a:txBody>
                  <a:tcPr marL="95250" marR="9525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14" name="Score change: −18.00 points">
            <a:extLst>
              <a:ext uri="{FF2B5EF4-FFF2-40B4-BE49-F238E27FC236}">
                <a16:creationId xmlns:a16="http://schemas.microsoft.com/office/drawing/2014/main" id="{12FA564E-EB1D-443E-9111-5DD779B208B1}"/>
              </a:ext>
            </a:extLst>
          </p:cNvPr>
          <p:cNvSpPr>
            <a:spLocks noGrp="1"/>
          </p:cNvSpPr>
          <p:nvPr/>
        </p:nvSpPr>
        <p:spPr>
          <a:xfrm>
            <a:off x="1066800" y="4714875"/>
            <a:ext cx="4476750" cy="400050"/>
          </a:xfrm>
          <a:prstGeom prst="rect">
            <a:avLst/>
          </a:prstGeom>
          <a:noFill/>
          <a:ln w="0">
            <a:noFill/>
          </a:ln>
        </p:spPr>
        <p:txBody>
          <a:bodyPr wrap="square" lIns="0" tIns="0" rIns="0" bIns="0" anchor="t">
            <a:noAutofit/>
          </a:bodyPr>
          <a:lstStyle>
            <a:defPPr algn="l">
              <a:defRPr sz="2000" b="1">
                <a:solidFill>
                  <a:srgbClr val="2F66AD"/>
                </a:solidFill>
                <a:latin typeface="Calibri"/>
                <a:ea typeface="Calibri"/>
                <a:cs typeface="Calibri"/>
              </a:defRPr>
            </a:defPPr>
          </a:lstStyle>
          <a:p>
            <a:pPr algn="l">
              <a:defRPr sz="2000" b="1">
                <a:solidFill>
                  <a:srgbClr val="2F66AD"/>
                </a:solidFill>
                <a:latin typeface="Calibri"/>
                <a:ea typeface="Calibri"/>
                <a:cs typeface="Calibri"/>
              </a:defRPr>
            </a:pPr>
            <a:r>
              <a:rPr sz="2000" b="1">
                <a:solidFill>
                  <a:srgbClr val="2F66AD"/>
                </a:solidFill>
                <a:latin typeface="Calibri"/>
                <a:ea typeface="Calibri"/>
                <a:cs typeface="Calibri"/>
              </a:rPr>
              <a:t>Score change: −18.00 points</a:t>
            </a:r>
          </a:p>
        </p:txBody>
      </p:sp>
      <p:sp>
        <p:nvSpPr>
          <p:cNvPr id="15" name="Three live trials">
            <a:extLst>
              <a:ext uri="{FF2B5EF4-FFF2-40B4-BE49-F238E27FC236}">
                <a16:creationId xmlns:a16="http://schemas.microsoft.com/office/drawing/2014/main" id="{30144319-1216-4D2E-A9FF-E6C6FE01156D}"/>
              </a:ext>
            </a:extLst>
          </p:cNvPr>
          <p:cNvSpPr>
            <a:spLocks noGrp="1"/>
          </p:cNvSpPr>
          <p:nvPr/>
        </p:nvSpPr>
        <p:spPr>
          <a:xfrm>
            <a:off x="6496050" y="1943100"/>
            <a:ext cx="4752975" cy="381000"/>
          </a:xfrm>
          <a:prstGeom prst="rect">
            <a:avLst/>
          </a:prstGeom>
          <a:noFill/>
          <a:ln w="0">
            <a:noFill/>
          </a:ln>
        </p:spPr>
        <p:txBody>
          <a:bodyPr wrap="square" lIns="0" tIns="0" rIns="0" bIns="0" anchor="t">
            <a:noAutofit/>
          </a:bodyPr>
          <a:lstStyle>
            <a:defPPr algn="l">
              <a:defRPr sz="1900" b="1">
                <a:solidFill>
                  <a:srgbClr val="142A4A"/>
                </a:solidFill>
                <a:latin typeface="Calibri"/>
                <a:ea typeface="Calibri"/>
                <a:cs typeface="Calibri"/>
              </a:defRPr>
            </a:defPPr>
          </a:lstStyle>
          <a:p>
            <a:pPr algn="l">
              <a:defRPr sz="1900" b="1">
                <a:solidFill>
                  <a:srgbClr val="142A4A"/>
                </a:solidFill>
                <a:latin typeface="Calibri"/>
                <a:ea typeface="Calibri"/>
                <a:cs typeface="Calibri"/>
              </a:defRPr>
            </a:pPr>
            <a:r>
              <a:rPr sz="1900" b="1">
                <a:solidFill>
                  <a:srgbClr val="142A4A"/>
                </a:solidFill>
                <a:latin typeface="Calibri"/>
                <a:ea typeface="Calibri"/>
                <a:cs typeface="Calibri"/>
              </a:rPr>
              <a:t>Three live trials</a:t>
            </a:r>
          </a:p>
        </p:txBody>
      </p:sp>
      <p:graphicFrame>
        <p:nvGraphicFramePr>
          <p:cNvPr id="16" name="Table 15">
            <a:extLst>
              <a:ext uri="{FF2B5EF4-FFF2-40B4-BE49-F238E27FC236}">
                <a16:creationId xmlns:a16="http://schemas.microsoft.com/office/drawing/2014/main" id="{1B75C1EB-EC96-4962-BF68-AD7AF2721E5C}"/>
              </a:ext>
            </a:extLst>
          </p:cNvPr>
          <p:cNvGraphicFramePr/>
          <p:nvPr/>
        </p:nvGraphicFramePr>
        <p:xfrm>
          <a:off x="6496050" y="2543175"/>
          <a:ext cx="4752975" cy="1828800"/>
        </p:xfrm>
        <a:graphic>
          <a:graphicData uri="http://schemas.openxmlformats.org/drawingml/2006/table">
            <a:tbl>
              <a:tblPr/>
              <a:tblGrid>
                <a:gridCol w="1143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tblGrid>
              <a:tr h="457200">
                <a:tc>
                  <a:txBody>
                    <a:bodyPr/>
                    <a:lstStyle/>
                    <a:p>
                      <a:pPr algn="l"/>
                      <a:r>
                        <a:rPr sz="1500" b="1">
                          <a:solidFill>
                            <a:srgbClr val="FFFFFF"/>
                          </a:solidFill>
                          <a:latin typeface="Calibri"/>
                          <a:ea typeface="Calibri"/>
                          <a:cs typeface="Calibri"/>
                        </a:rPr>
                        <a:t>Trial</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Strict checks</a:t>
                      </a:r>
                    </a:p>
                  </a:txBody>
                  <a:tcPr marL="95250" marR="95250" marT="76200" marB="76200" anchor="ctr">
                    <a:solidFill>
                      <a:srgbClr val="142A4A"/>
                    </a:solidFill>
                  </a:tcPr>
                </a:tc>
                <a:tc>
                  <a:txBody>
                    <a:bodyPr/>
                    <a:lstStyle/>
                    <a:p>
                      <a:pPr algn="ctr"/>
                      <a:r>
                        <a:rPr sz="1500" b="1">
                          <a:solidFill>
                            <a:srgbClr val="FFFFFF"/>
                          </a:solidFill>
                          <a:latin typeface="Calibri"/>
                          <a:ea typeface="Calibri"/>
                          <a:cs typeface="Calibri"/>
                        </a:rPr>
                        <a:t>Response</a:t>
                      </a:r>
                    </a:p>
                  </a:txBody>
                  <a:tcPr marL="95250" marR="95250" marT="76200" marB="76200" anchor="ctr">
                    <a:solidFill>
                      <a:srgbClr val="142A4A"/>
                    </a:solidFill>
                  </a:tcPr>
                </a:tc>
                <a:extLst>
                  <a:ext uri="{0D108BD9-81ED-4DB2-BD59-A6C34878D82A}">
                    <a16:rowId xmlns:a16="http://schemas.microsoft.com/office/drawing/2014/main" val="10000"/>
                  </a:ext>
                </a:extLst>
              </a:tr>
              <a:tr h="457200">
                <a:tc>
                  <a:txBody>
                    <a:bodyPr/>
                    <a:lstStyle/>
                    <a:p>
                      <a:pPr algn="l"/>
                      <a:r>
                        <a:rPr sz="1500" b="0">
                          <a:solidFill>
                            <a:srgbClr val="232323"/>
                          </a:solidFill>
                          <a:latin typeface="Calibri"/>
                          <a:ea typeface="Calibri"/>
                          <a:cs typeface="Calibri"/>
                        </a:rPr>
                        <a:t>1</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Pass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3.07 s</a:t>
                      </a:r>
                    </a:p>
                  </a:txBody>
                  <a:tcPr marL="95250" marR="95250" marT="76200" marB="76200" anchor="ctr">
                    <a:solidFill>
                      <a:srgbClr val="FFFFFF"/>
                    </a:solidFill>
                  </a:tcPr>
                </a:tc>
                <a:extLst>
                  <a:ext uri="{0D108BD9-81ED-4DB2-BD59-A6C34878D82A}">
                    <a16:rowId xmlns:a16="http://schemas.microsoft.com/office/drawing/2014/main" val="10001"/>
                  </a:ext>
                </a:extLst>
              </a:tr>
              <a:tr h="457200">
                <a:tc>
                  <a:txBody>
                    <a:bodyPr/>
                    <a:lstStyle/>
                    <a:p>
                      <a:pPr algn="l"/>
                      <a:r>
                        <a:rPr sz="1500" b="0">
                          <a:solidFill>
                            <a:srgbClr val="232323"/>
                          </a:solidFill>
                          <a:latin typeface="Calibri"/>
                          <a:ea typeface="Calibri"/>
                          <a:cs typeface="Calibri"/>
                        </a:rPr>
                        <a:t>2</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Pass</a:t>
                      </a:r>
                    </a:p>
                  </a:txBody>
                  <a:tcPr marL="95250" marR="95250" marT="76200" marB="76200" anchor="ctr">
                    <a:solidFill>
                      <a:srgbClr val="F2F6FA"/>
                    </a:solidFill>
                  </a:tcPr>
                </a:tc>
                <a:tc>
                  <a:txBody>
                    <a:bodyPr/>
                    <a:lstStyle/>
                    <a:p>
                      <a:pPr algn="ctr"/>
                      <a:r>
                        <a:rPr sz="1500" b="0">
                          <a:solidFill>
                            <a:srgbClr val="232323"/>
                          </a:solidFill>
                          <a:latin typeface="Calibri"/>
                          <a:ea typeface="Calibri"/>
                          <a:cs typeface="Calibri"/>
                        </a:rPr>
                        <a:t>2.93 s</a:t>
                      </a:r>
                    </a:p>
                  </a:txBody>
                  <a:tcPr marL="95250" marR="95250" marT="76200" marB="76200" anchor="ctr">
                    <a:solidFill>
                      <a:srgbClr val="F2F6FA"/>
                    </a:solidFill>
                  </a:tcPr>
                </a:tc>
                <a:extLst>
                  <a:ext uri="{0D108BD9-81ED-4DB2-BD59-A6C34878D82A}">
                    <a16:rowId xmlns:a16="http://schemas.microsoft.com/office/drawing/2014/main" val="10002"/>
                  </a:ext>
                </a:extLst>
              </a:tr>
              <a:tr h="457200">
                <a:tc>
                  <a:txBody>
                    <a:bodyPr/>
                    <a:lstStyle/>
                    <a:p>
                      <a:pPr algn="l"/>
                      <a:r>
                        <a:rPr sz="1500" b="0">
                          <a:solidFill>
                            <a:srgbClr val="232323"/>
                          </a:solidFill>
                          <a:latin typeface="Calibri"/>
                          <a:ea typeface="Calibri"/>
                          <a:cs typeface="Calibri"/>
                        </a:rPr>
                        <a:t>3</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Pass</a:t>
                      </a:r>
                    </a:p>
                  </a:txBody>
                  <a:tcPr marL="95250" marR="95250" marT="76200" marB="76200" anchor="ctr">
                    <a:solidFill>
                      <a:srgbClr val="FFFFFF"/>
                    </a:solidFill>
                  </a:tcPr>
                </a:tc>
                <a:tc>
                  <a:txBody>
                    <a:bodyPr/>
                    <a:lstStyle/>
                    <a:p>
                      <a:pPr algn="ctr"/>
                      <a:r>
                        <a:rPr sz="1500" b="0">
                          <a:solidFill>
                            <a:srgbClr val="232323"/>
                          </a:solidFill>
                          <a:latin typeface="Calibri"/>
                          <a:ea typeface="Calibri"/>
                          <a:cs typeface="Calibri"/>
                        </a:rPr>
                        <a:t>2.64 s</a:t>
                      </a:r>
                    </a:p>
                  </a:txBody>
                  <a:tcPr marL="95250" marR="9525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17" name="simulate_scenario(tool_wear_min=0)&#10;All other input">
            <a:extLst>
              <a:ext uri="{FF2B5EF4-FFF2-40B4-BE49-F238E27FC236}">
                <a16:creationId xmlns:a16="http://schemas.microsoft.com/office/drawing/2014/main" id="{A3BC859B-C867-4855-B475-166BBBB0FC51}"/>
              </a:ext>
            </a:extLst>
          </p:cNvPr>
          <p:cNvSpPr>
            <a:spLocks noGrp="1"/>
          </p:cNvSpPr>
          <p:nvPr/>
        </p:nvSpPr>
        <p:spPr>
          <a:xfrm>
            <a:off x="6619875" y="4667250"/>
            <a:ext cx="4524375" cy="571500"/>
          </a:xfrm>
          <a:prstGeom prst="rect">
            <a:avLst/>
          </a:prstGeom>
          <a:noFill/>
          <a:ln w="0">
            <a:noFill/>
          </a:ln>
        </p:spPr>
        <p:txBody>
          <a:bodyPr wrap="square" lIns="0" tIns="0" rIns="0" bIns="0" anchor="t">
            <a:noAutofit/>
          </a:bodyPr>
          <a:lstStyle>
            <a:defPPr algn="l">
              <a:defRPr sz="1500" b="0">
                <a:solidFill>
                  <a:srgbClr val="232323"/>
                </a:solidFill>
                <a:latin typeface="Calibri"/>
                <a:ea typeface="Calibri"/>
                <a:cs typeface="Calibri"/>
              </a:defRPr>
            </a:defPPr>
          </a:lstStyle>
          <a:p>
            <a:pPr algn="l">
              <a:defRPr sz="1500" b="0">
                <a:solidFill>
                  <a:srgbClr val="232323"/>
                </a:solidFill>
                <a:latin typeface="Calibri"/>
                <a:ea typeface="Calibri"/>
                <a:cs typeface="Calibri"/>
              </a:defRPr>
            </a:pPr>
            <a:r>
              <a:rPr sz="1500" b="0">
                <a:solidFill>
                  <a:srgbClr val="232323"/>
                </a:solidFill>
                <a:latin typeface="Calibri"/>
                <a:ea typeface="Calibri"/>
                <a:cs typeface="Calibri"/>
              </a:rPr>
              <a:t>simulate_scenario(tool_wear_min=0)</a:t>
            </a:r>
          </a:p>
          <a:p>
            <a:pPr algn="l">
              <a:defRPr sz="1500" b="0">
                <a:solidFill>
                  <a:srgbClr val="232323"/>
                </a:solidFill>
                <a:latin typeface="Calibri"/>
                <a:ea typeface="Calibri"/>
                <a:cs typeface="Calibri"/>
              </a:defRPr>
            </a:pPr>
            <a:r>
              <a:rPr sz="1500" b="0">
                <a:solidFill>
                  <a:srgbClr val="232323"/>
                </a:solidFill>
                <a:latin typeface="Calibri"/>
                <a:ea typeface="Calibri"/>
                <a:cs typeface="Calibri"/>
              </a:rPr>
              <a:t>All other inputs and the baseline stay fixed.</a:t>
            </a:r>
          </a:p>
        </p:txBody>
      </p:sp>
      <p:sp>
        <p:nvSpPr>
          <p:cNvPr id="18" name="Case EVAL-what_if-01. All six automatic checks pas">
            <a:extLst>
              <a:ext uri="{FF2B5EF4-FFF2-40B4-BE49-F238E27FC236}">
                <a16:creationId xmlns:a16="http://schemas.microsoft.com/office/drawing/2014/main" id="{C14B431F-08AF-4B21-9917-3121DD7ED371}"/>
              </a:ext>
            </a:extLst>
          </p:cNvPr>
          <p:cNvSpPr>
            <a:spLocks noGrp="1"/>
          </p:cNvSpPr>
          <p:nvPr/>
        </p:nvSpPr>
        <p:spPr>
          <a:xfrm>
            <a:off x="914400" y="5829300"/>
            <a:ext cx="10287000" cy="381000"/>
          </a:xfrm>
          <a:prstGeom prst="rect">
            <a:avLst/>
          </a:prstGeom>
          <a:noFill/>
          <a:ln w="0">
            <a:noFill/>
          </a:ln>
        </p:spPr>
        <p:txBody>
          <a:bodyPr wrap="square" lIns="0" tIns="0" rIns="0" bIns="0" anchor="t">
            <a:noAutofit/>
          </a:bodyPr>
          <a:lstStyle>
            <a:defPPr algn="l">
              <a:defRPr sz="1500" b="1">
                <a:solidFill>
                  <a:srgbClr val="142A4A"/>
                </a:solidFill>
                <a:latin typeface="Calibri"/>
                <a:ea typeface="Calibri"/>
                <a:cs typeface="Calibri"/>
              </a:defRPr>
            </a:defPPr>
          </a:lstStyle>
          <a:p>
            <a:pPr algn="l">
              <a:defRPr sz="1500" b="1">
                <a:solidFill>
                  <a:srgbClr val="142A4A"/>
                </a:solidFill>
                <a:latin typeface="Calibri"/>
                <a:ea typeface="Calibri"/>
                <a:cs typeface="Calibri"/>
              </a:defRPr>
            </a:pPr>
            <a:r>
              <a:rPr sz="1500" b="1">
                <a:solidFill>
                  <a:srgbClr val="142A4A"/>
                </a:solidFill>
                <a:latin typeface="Calibri"/>
                <a:ea typeface="Calibri"/>
                <a:cs typeface="Calibri"/>
              </a:rPr>
              <a:t>Case EVAL-what_if-01. All six automatic checks passed in each trial.</a:t>
            </a:r>
          </a:p>
        </p:txBody>
      </p:sp>
    </p:spTree>
    <p:extLst>
      <p:ext uri="{BB962C8B-B14F-4D97-AF65-F5344CB8AC3E}">
        <p14:creationId xmlns:p14="http://schemas.microsoft.com/office/powerpoint/2010/main" val="420639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29351-CA31-48BA-946C-08DA052037E8}"/>
              </a:ext>
            </a:extLst>
          </p:cNvPr>
          <p:cNvSpPr>
            <a:spLocks noGrp="1"/>
          </p:cNvSpPr>
          <p:nvPr/>
        </p:nvSpPr>
        <p:spPr>
          <a:xfrm>
            <a:off x="640080" y="411480"/>
            <a:ext cx="5521642"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Research scope and limitations</a:t>
            </a:r>
          </a:p>
        </p:txBody>
      </p:sp>
      <p:sp>
        <p:nvSpPr>
          <p:cNvPr id="3" name="Rounded Rectangle 2">
            <a:extLst>
              <a:ext uri="{FF2B5EF4-FFF2-40B4-BE49-F238E27FC236}">
                <a16:creationId xmlns:a16="http://schemas.microsoft.com/office/drawing/2014/main" id="{912FE116-D9BA-45D9-BB02-C812BB63E51E}"/>
              </a:ext>
            </a:extLst>
          </p:cNvPr>
          <p:cNvSpPr>
            <a:spLocks noGrp="1"/>
          </p:cNvSpPr>
          <p:nvPr/>
        </p:nvSpPr>
        <p:spPr>
          <a:xfrm>
            <a:off x="73152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7400F4C7-F36D-4588-841E-E2A55C196436}"/>
              </a:ext>
            </a:extLst>
          </p:cNvPr>
          <p:cNvSpPr>
            <a:spLocks noGrp="1"/>
          </p:cNvSpPr>
          <p:nvPr/>
        </p:nvSpPr>
        <p:spPr>
          <a:xfrm>
            <a:off x="6309360" y="1325880"/>
            <a:ext cx="5120640" cy="429768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0F1EB1C-9F39-438F-A8BB-7F5B18843C32}"/>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6411640-4599-4A6A-B267-CC3AFDD26E11}"/>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16</a:t>
            </a:r>
          </a:p>
        </p:txBody>
      </p:sp>
      <p:sp>
        <p:nvSpPr>
          <p:cNvPr id="11" name="Implemented scope">
            <a:extLst>
              <a:ext uri="{FF2B5EF4-FFF2-40B4-BE49-F238E27FC236}">
                <a16:creationId xmlns:a16="http://schemas.microsoft.com/office/drawing/2014/main" id="{048042DB-11D5-4EB3-ADAB-21B08C308377}"/>
              </a:ext>
            </a:extLst>
          </p:cNvPr>
          <p:cNvSpPr>
            <a:spLocks noGrp="1"/>
          </p:cNvSpPr>
          <p:nvPr/>
        </p:nvSpPr>
        <p:spPr>
          <a:xfrm>
            <a:off x="91440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Implemented scope</a:t>
            </a:r>
          </a:p>
        </p:txBody>
      </p:sp>
      <p:sp>
        <p:nvSpPr>
          <p:cNvPr id="12" name="One virtual machine per browser session&#10;&#10;Random Fo">
            <a:extLst>
              <a:ext uri="{FF2B5EF4-FFF2-40B4-BE49-F238E27FC236}">
                <a16:creationId xmlns:a16="http://schemas.microsoft.com/office/drawing/2014/main" id="{331DD590-3E4E-41E1-A4A3-28299EF14A90}"/>
              </a:ext>
            </a:extLst>
          </p:cNvPr>
          <p:cNvSpPr>
            <a:spLocks noGrp="1"/>
          </p:cNvSpPr>
          <p:nvPr/>
        </p:nvSpPr>
        <p:spPr>
          <a:xfrm>
            <a:off x="914400" y="2152650"/>
            <a:ext cx="4667250" cy="3209925"/>
          </a:xfrm>
          <a:prstGeom prst="rect">
            <a:avLst/>
          </a:prstGeom>
          <a:noFill/>
          <a:ln w="0">
            <a:noFill/>
          </a:ln>
        </p:spPr>
        <p:txBody>
          <a:bodyPr wrap="square" lIns="0" tIns="0" rIns="0" bIns="0" anchor="t">
            <a:noAutofit/>
          </a:bodyPr>
          <a:lstStyle>
            <a:defPPr algn="l">
              <a:defRPr sz="1500" b="0">
                <a:solidFill>
                  <a:srgbClr val="232323"/>
                </a:solidFill>
                <a:latin typeface="Calibri"/>
                <a:ea typeface="Calibri"/>
                <a:cs typeface="Calibri"/>
              </a:defRPr>
            </a:defPPr>
          </a:lstStyle>
          <a:p>
            <a:pPr algn="l">
              <a:defRPr sz="1500" b="0">
                <a:solidFill>
                  <a:srgbClr val="232323"/>
                </a:solidFill>
                <a:latin typeface="Calibri"/>
                <a:ea typeface="Calibri"/>
                <a:cs typeface="Calibri"/>
              </a:defRPr>
            </a:pPr>
            <a:r>
              <a:rPr lang="en-US" sz="1500" b="0" dirty="0">
                <a:solidFill>
                  <a:srgbClr val="232323"/>
                </a:solidFill>
                <a:latin typeface="Calibri"/>
                <a:ea typeface="Calibri"/>
                <a:cs typeface="Calibri"/>
              </a:rPr>
              <a:t>Agent</a:t>
            </a:r>
          </a:p>
          <a:p>
            <a:pPr algn="l">
              <a:defRPr sz="1500" b="0">
                <a:solidFill>
                  <a:srgbClr val="232323"/>
                </a:solidFill>
                <a:latin typeface="Calibri"/>
                <a:ea typeface="Calibri"/>
                <a:cs typeface="Calibri"/>
              </a:defRPr>
            </a:pPr>
            <a:br>
              <a:rPr lang="en-US" sz="1500" b="0" dirty="0">
                <a:solidFill>
                  <a:srgbClr val="232323"/>
                </a:solidFill>
                <a:latin typeface="Calibri"/>
                <a:ea typeface="Calibri"/>
                <a:cs typeface="Calibri"/>
              </a:rPr>
            </a:br>
            <a:r>
              <a:rPr sz="1500" b="0" dirty="0">
                <a:solidFill>
                  <a:srgbClr val="232323"/>
                </a:solidFill>
                <a:latin typeface="Calibri"/>
                <a:ea typeface="Calibri"/>
                <a:cs typeface="Calibri"/>
              </a:rPr>
              <a:t>One virtual machine per browser session</a:t>
            </a:r>
          </a:p>
          <a:p>
            <a:endParaRPr sz="1500" b="0" dirty="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dirty="0">
                <a:solidFill>
                  <a:srgbClr val="232323"/>
                </a:solidFill>
                <a:latin typeface="Calibri"/>
                <a:ea typeface="Calibri"/>
                <a:cs typeface="Calibri"/>
              </a:rPr>
              <a:t>Random Forest prediction and scenario scoring</a:t>
            </a:r>
          </a:p>
          <a:p>
            <a:endParaRPr sz="1500" b="0" dirty="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dirty="0">
                <a:solidFill>
                  <a:srgbClr val="232323"/>
                </a:solidFill>
                <a:latin typeface="Calibri"/>
                <a:ea typeface="Calibri"/>
                <a:cs typeface="Calibri"/>
              </a:rPr>
              <a:t>Recorded session history and tool evidence</a:t>
            </a:r>
          </a:p>
          <a:p>
            <a:endParaRPr sz="1500" b="0" dirty="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dirty="0" err="1">
                <a:solidFill>
                  <a:srgbClr val="232323"/>
                </a:solidFill>
                <a:latin typeface="Calibri"/>
                <a:ea typeface="Calibri"/>
                <a:cs typeface="Calibri"/>
              </a:rPr>
              <a:t>LangGraph</a:t>
            </a:r>
            <a:r>
              <a:rPr sz="1500" b="0" dirty="0">
                <a:solidFill>
                  <a:srgbClr val="232323"/>
                </a:solidFill>
                <a:latin typeface="Calibri"/>
                <a:ea typeface="Calibri"/>
                <a:cs typeface="Calibri"/>
              </a:rPr>
              <a:t> copilot with bounded execution</a:t>
            </a:r>
          </a:p>
          <a:p>
            <a:endParaRPr sz="1500" b="0" dirty="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dirty="0">
                <a:solidFill>
                  <a:srgbClr val="232323"/>
                </a:solidFill>
                <a:latin typeface="Calibri"/>
                <a:ea typeface="Calibri"/>
                <a:cs typeface="Calibri"/>
              </a:rPr>
              <a:t>Reproducible model and execution results</a:t>
            </a:r>
          </a:p>
        </p:txBody>
      </p:sp>
      <p:sp>
        <p:nvSpPr>
          <p:cNvPr id="13" name="Limits of the current evidence">
            <a:extLst>
              <a:ext uri="{FF2B5EF4-FFF2-40B4-BE49-F238E27FC236}">
                <a16:creationId xmlns:a16="http://schemas.microsoft.com/office/drawing/2014/main" id="{CAF0BD25-1B13-4AE4-B96C-C917A02F2E1C}"/>
              </a:ext>
            </a:extLst>
          </p:cNvPr>
          <p:cNvSpPr>
            <a:spLocks noGrp="1"/>
          </p:cNvSpPr>
          <p:nvPr/>
        </p:nvSpPr>
        <p:spPr>
          <a:xfrm>
            <a:off x="6496050" y="1562100"/>
            <a:ext cx="4752975" cy="381000"/>
          </a:xfrm>
          <a:prstGeom prst="rect">
            <a:avLst/>
          </a:prstGeom>
          <a:noFill/>
          <a:ln w="0">
            <a:noFill/>
          </a:ln>
        </p:spPr>
        <p:txBody>
          <a:bodyPr wrap="square" lIns="0" tIns="0" rIns="0" bIns="0" anchor="t">
            <a:noAutofit/>
          </a:bodyPr>
          <a:lstStyle>
            <a:defPPr algn="l">
              <a:defRPr sz="2000" b="1">
                <a:solidFill>
                  <a:srgbClr val="142A4A"/>
                </a:solidFill>
                <a:latin typeface="Calibri"/>
                <a:ea typeface="Calibri"/>
                <a:cs typeface="Calibri"/>
              </a:defRPr>
            </a:defPPr>
          </a:lstStyle>
          <a:p>
            <a:pPr algn="l">
              <a:defRPr sz="2000" b="1">
                <a:solidFill>
                  <a:srgbClr val="142A4A"/>
                </a:solidFill>
                <a:latin typeface="Calibri"/>
                <a:ea typeface="Calibri"/>
                <a:cs typeface="Calibri"/>
              </a:defRPr>
            </a:pPr>
            <a:r>
              <a:rPr sz="2000" b="1">
                <a:solidFill>
                  <a:srgbClr val="142A4A"/>
                </a:solidFill>
                <a:latin typeface="Calibri"/>
                <a:ea typeface="Calibri"/>
                <a:cs typeface="Calibri"/>
              </a:rPr>
              <a:t>Limits of the current evidence</a:t>
            </a:r>
          </a:p>
        </p:txBody>
      </p:sp>
      <p:sp>
        <p:nvSpPr>
          <p:cNvPr id="14" name="Synthetic data and a static held-out split&#10;&#10;Uncali">
            <a:extLst>
              <a:ext uri="{FF2B5EF4-FFF2-40B4-BE49-F238E27FC236}">
                <a16:creationId xmlns:a16="http://schemas.microsoft.com/office/drawing/2014/main" id="{906BA9A5-3C95-452D-81C6-BFCE6ABE8D8D}"/>
              </a:ext>
            </a:extLst>
          </p:cNvPr>
          <p:cNvSpPr>
            <a:spLocks noGrp="1"/>
          </p:cNvSpPr>
          <p:nvPr/>
        </p:nvSpPr>
        <p:spPr>
          <a:xfrm>
            <a:off x="6496050" y="2152650"/>
            <a:ext cx="4667250" cy="3209925"/>
          </a:xfrm>
          <a:prstGeom prst="rect">
            <a:avLst/>
          </a:prstGeom>
          <a:noFill/>
          <a:ln w="0">
            <a:noFill/>
          </a:ln>
        </p:spPr>
        <p:txBody>
          <a:bodyPr wrap="square" lIns="0" tIns="0" rIns="0" bIns="0" anchor="t">
            <a:noAutofit/>
          </a:bodyPr>
          <a:lstStyle>
            <a:defPPr algn="l">
              <a:defRPr sz="1500" b="0">
                <a:solidFill>
                  <a:srgbClr val="232323"/>
                </a:solidFill>
                <a:latin typeface="Calibri"/>
                <a:ea typeface="Calibri"/>
                <a:cs typeface="Calibri"/>
              </a:defRPr>
            </a:defPPr>
          </a:lstStyle>
          <a:p>
            <a:pPr algn="l">
              <a:defRPr sz="1500" b="0">
                <a:solidFill>
                  <a:srgbClr val="232323"/>
                </a:solidFill>
                <a:latin typeface="Calibri"/>
                <a:ea typeface="Calibri"/>
                <a:cs typeface="Calibri"/>
              </a:defRPr>
            </a:pPr>
            <a:r>
              <a:rPr sz="1500" b="0" dirty="0">
                <a:solidFill>
                  <a:srgbClr val="232323"/>
                </a:solidFill>
                <a:latin typeface="Calibri"/>
                <a:ea typeface="Calibri"/>
                <a:cs typeface="Calibri"/>
              </a:rPr>
              <a:t>Synthetic data and a static held-out split</a:t>
            </a:r>
          </a:p>
          <a:p>
            <a:endParaRPr sz="1500" b="0" dirty="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dirty="0">
                <a:solidFill>
                  <a:srgbClr val="232323"/>
                </a:solidFill>
                <a:latin typeface="Calibri"/>
                <a:ea typeface="Calibri"/>
                <a:cs typeface="Calibri"/>
              </a:rPr>
              <a:t>No feature attribution or remaining-life estimate</a:t>
            </a:r>
          </a:p>
          <a:p>
            <a:endParaRPr sz="1500" b="0" dirty="0">
              <a:solidFill>
                <a:srgbClr val="232323"/>
              </a:solidFill>
              <a:latin typeface="Calibri"/>
              <a:ea typeface="Calibri"/>
              <a:cs typeface="Calibri"/>
            </a:endParaRPr>
          </a:p>
          <a:p>
            <a:pPr algn="l">
              <a:defRPr sz="1500" b="0">
                <a:solidFill>
                  <a:srgbClr val="232323"/>
                </a:solidFill>
                <a:latin typeface="Calibri"/>
                <a:ea typeface="Calibri"/>
                <a:cs typeface="Calibri"/>
              </a:defRPr>
            </a:pPr>
            <a:r>
              <a:rPr sz="1500" b="0" dirty="0">
                <a:solidFill>
                  <a:srgbClr val="232323"/>
                </a:solidFill>
                <a:latin typeface="Calibri"/>
                <a:ea typeface="Calibri"/>
                <a:cs typeface="Calibri"/>
              </a:rPr>
              <a:t>Answer-quality and operator studies pending</a:t>
            </a:r>
          </a:p>
        </p:txBody>
      </p:sp>
      <p:sp>
        <p:nvSpPr>
          <p:cNvPr id="15" name="Reported benefits concern the prototype workflow. ">
            <a:extLst>
              <a:ext uri="{FF2B5EF4-FFF2-40B4-BE49-F238E27FC236}">
                <a16:creationId xmlns:a16="http://schemas.microsoft.com/office/drawing/2014/main" id="{E8038C7A-F36E-4F54-AEA0-C8C7A221FB00}"/>
              </a:ext>
            </a:extLst>
          </p:cNvPr>
          <p:cNvSpPr>
            <a:spLocks noGrp="1"/>
          </p:cNvSpPr>
          <p:nvPr/>
        </p:nvSpPr>
        <p:spPr>
          <a:xfrm>
            <a:off x="822960" y="5857875"/>
            <a:ext cx="10477500" cy="552450"/>
          </a:xfrm>
          <a:prstGeom prst="rect">
            <a:avLst/>
          </a:prstGeom>
          <a:noFill/>
          <a:ln w="0">
            <a:noFill/>
          </a:ln>
        </p:spPr>
        <p:txBody>
          <a:bodyPr wrap="square" lIns="0" tIns="0" rIns="0" bIns="0" anchor="t">
            <a:noAutofit/>
          </a:bodyPr>
          <a:lstStyle>
            <a:defPPr algn="l">
              <a:defRPr sz="1500" b="1">
                <a:solidFill>
                  <a:srgbClr val="2F66AD"/>
                </a:solidFill>
                <a:latin typeface="Calibri"/>
                <a:ea typeface="Calibri"/>
                <a:cs typeface="Calibri"/>
              </a:defRPr>
            </a:defPPr>
          </a:lstStyle>
          <a:p>
            <a:pPr algn="l">
              <a:defRPr sz="1500" b="1">
                <a:solidFill>
                  <a:srgbClr val="2F66AD"/>
                </a:solidFill>
                <a:latin typeface="Calibri"/>
                <a:ea typeface="Calibri"/>
                <a:cs typeface="Calibri"/>
              </a:defRPr>
            </a:pPr>
            <a:r>
              <a:rPr sz="1500" b="1">
                <a:solidFill>
                  <a:srgbClr val="2F66AD"/>
                </a:solidFill>
                <a:latin typeface="Calibri"/>
                <a:ea typeface="Calibri"/>
                <a:cs typeface="Calibri"/>
              </a:rPr>
              <a:t>Reported benefits concern the prototype workflow. Downtime reduction has not been measured.</a:t>
            </a:r>
          </a:p>
        </p:txBody>
      </p:sp>
    </p:spTree>
    <p:extLst>
      <p:ext uri="{BB962C8B-B14F-4D97-AF65-F5344CB8AC3E}">
        <p14:creationId xmlns:p14="http://schemas.microsoft.com/office/powerpoint/2010/main" val="420639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96CCFF-82AE-0750-3211-D828833EE4B7}"/>
              </a:ext>
            </a:extLst>
          </p:cNvPr>
          <p:cNvSpPr>
            <a:spLocks noGrp="1"/>
          </p:cNvSpPr>
          <p:nvPr/>
        </p:nvSpPr>
        <p:spPr>
          <a:xfrm>
            <a:off x="640080" y="411480"/>
            <a:ext cx="6153468" cy="518160"/>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buNone/>
              <a:defRPr sz="2800" b="1">
                <a:solidFill>
                  <a:srgbClr val="142A4A"/>
                </a:solidFill>
                <a:latin typeface="Calibri"/>
                <a:ea typeface="Calibri"/>
                <a:cs typeface="Calibri"/>
              </a:defRPr>
            </a:pPr>
            <a:r>
              <a:rPr sz="2800" b="1">
                <a:solidFill>
                  <a:srgbClr val="142A4A"/>
                </a:solidFill>
                <a:latin typeface="Calibri"/>
                <a:ea typeface="Calibri"/>
                <a:cs typeface="Calibri"/>
              </a:rPr>
              <a:t>Project contribution and next steps</a:t>
            </a:r>
            <a:endParaRPr/>
          </a:p>
        </p:txBody>
      </p:sp>
      <p:sp>
        <p:nvSpPr>
          <p:cNvPr id="3" name="Rounded Rectangle 2">
            <a:extLst>
              <a:ext uri="{FF2B5EF4-FFF2-40B4-BE49-F238E27FC236}">
                <a16:creationId xmlns:a16="http://schemas.microsoft.com/office/drawing/2014/main" id="{43743A6E-35BB-7C06-ABDE-A6CF004945A3}"/>
              </a:ext>
            </a:extLst>
          </p:cNvPr>
          <p:cNvSpPr>
            <a:spLocks noGrp="1"/>
          </p:cNvSpPr>
          <p:nvPr/>
        </p:nvSpPr>
        <p:spPr>
          <a:xfrm>
            <a:off x="731519" y="1325880"/>
            <a:ext cx="10687330" cy="4572000"/>
          </a:xfrm>
          <a:prstGeom prst="roundRect">
            <a:avLst/>
          </a:prstGeom>
          <a:solidFill>
            <a:srgbClr val="F2F6FA"/>
          </a:solidFill>
          <a:ln>
            <a:solidFill>
              <a:srgbClr val="D2DCE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C4C530C1-0558-30FF-9E2E-1606BF0DDA5B}"/>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8C922B9-7FB6-F5D1-5CB6-EFB4DF825650}"/>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17</a:t>
            </a:r>
          </a:p>
        </p:txBody>
      </p:sp>
      <p:sp>
        <p:nvSpPr>
          <p:cNvPr id="11" name="Implemented contribution">
            <a:extLst>
              <a:ext uri="{FF2B5EF4-FFF2-40B4-BE49-F238E27FC236}">
                <a16:creationId xmlns:a16="http://schemas.microsoft.com/office/drawing/2014/main" id="{185AD21E-5397-4C5C-98CF-7B64ABDC9F37}"/>
              </a:ext>
            </a:extLst>
          </p:cNvPr>
          <p:cNvSpPr>
            <a:spLocks noGrp="1"/>
          </p:cNvSpPr>
          <p:nvPr/>
        </p:nvSpPr>
        <p:spPr>
          <a:xfrm>
            <a:off x="1000125" y="1647825"/>
            <a:ext cx="10048875" cy="381000"/>
          </a:xfrm>
          <a:prstGeom prst="rect">
            <a:avLst/>
          </a:prstGeom>
          <a:noFill/>
          <a:ln w="0">
            <a:noFill/>
          </a:ln>
        </p:spPr>
        <p:txBody>
          <a:bodyPr wrap="square" lIns="0" tIns="0" rIns="0" bIns="0" anchor="t">
            <a:noAutofit/>
          </a:bodyPr>
          <a:lstStyle>
            <a:defPPr algn="l">
              <a:defRPr sz="2100" b="1">
                <a:solidFill>
                  <a:srgbClr val="142A4A"/>
                </a:solidFill>
                <a:latin typeface="Calibri"/>
                <a:ea typeface="Calibri"/>
                <a:cs typeface="Calibri"/>
              </a:defRPr>
            </a:defPPr>
          </a:lstStyle>
          <a:p>
            <a:pPr algn="l">
              <a:defRPr sz="2100" b="1">
                <a:solidFill>
                  <a:srgbClr val="142A4A"/>
                </a:solidFill>
                <a:latin typeface="Calibri"/>
                <a:ea typeface="Calibri"/>
                <a:cs typeface="Calibri"/>
              </a:defRPr>
            </a:pPr>
            <a:r>
              <a:rPr sz="2100" b="1">
                <a:solidFill>
                  <a:srgbClr val="142A4A"/>
                </a:solidFill>
                <a:latin typeface="Calibri"/>
                <a:ea typeface="Calibri"/>
                <a:cs typeface="Calibri"/>
              </a:rPr>
              <a:t>Implemented contribution</a:t>
            </a:r>
          </a:p>
        </p:txBody>
      </p:sp>
      <p:sp>
        <p:nvSpPr>
          <p:cNvPr id="12" name="An editable machine state connects a trained class">
            <a:extLst>
              <a:ext uri="{FF2B5EF4-FFF2-40B4-BE49-F238E27FC236}">
                <a16:creationId xmlns:a16="http://schemas.microsoft.com/office/drawing/2014/main" id="{D72FDAFC-2C81-422E-B2E0-68AF06AD73FA}"/>
              </a:ext>
            </a:extLst>
          </p:cNvPr>
          <p:cNvSpPr>
            <a:spLocks noGrp="1"/>
          </p:cNvSpPr>
          <p:nvPr/>
        </p:nvSpPr>
        <p:spPr>
          <a:xfrm>
            <a:off x="1000125" y="2143125"/>
            <a:ext cx="10048875" cy="742950"/>
          </a:xfrm>
          <a:prstGeom prst="rect">
            <a:avLst/>
          </a:prstGeom>
          <a:noFill/>
          <a:ln w="0">
            <a:noFill/>
          </a:ln>
        </p:spPr>
        <p:txBody>
          <a:bodyPr wrap="square" lIns="0" tIns="0" rIns="0" bIns="0" anchor="t">
            <a:noAutofit/>
          </a:bodyPr>
          <a:lstStyle>
            <a:defPPr algn="l">
              <a:defRPr sz="1800" b="0">
                <a:solidFill>
                  <a:srgbClr val="232323"/>
                </a:solidFill>
                <a:latin typeface="Calibri"/>
                <a:ea typeface="Calibri"/>
                <a:cs typeface="Calibri"/>
              </a:defRPr>
            </a:defPPr>
          </a:lstStyle>
          <a:p>
            <a:pPr algn="l">
              <a:defRPr sz="1800" b="0">
                <a:solidFill>
                  <a:srgbClr val="232323"/>
                </a:solidFill>
                <a:latin typeface="Calibri"/>
                <a:ea typeface="Calibri"/>
                <a:cs typeface="Calibri"/>
              </a:defRPr>
            </a:pPr>
            <a:r>
              <a:rPr sz="1800" b="0">
                <a:solidFill>
                  <a:srgbClr val="232323"/>
                </a:solidFill>
                <a:latin typeface="Calibri"/>
                <a:ea typeface="Calibri"/>
                <a:cs typeface="Calibri"/>
              </a:rPr>
              <a:t>An editable machine state connects a trained classifier to conversational</a:t>
            </a:r>
          </a:p>
          <a:p>
            <a:pPr algn="l">
              <a:defRPr sz="1800" b="0">
                <a:solidFill>
                  <a:srgbClr val="232323"/>
                </a:solidFill>
                <a:latin typeface="Calibri"/>
                <a:ea typeface="Calibri"/>
                <a:cs typeface="Calibri"/>
              </a:defRPr>
            </a:pPr>
            <a:r>
              <a:rPr sz="1800" b="0">
                <a:solidFill>
                  <a:srgbClr val="232323"/>
                </a:solidFill>
                <a:latin typeface="Calibri"/>
                <a:ea typeface="Calibri"/>
                <a:cs typeface="Calibri"/>
              </a:rPr>
              <a:t>scenario comparison, with saved evidence for each tool interaction.</a:t>
            </a:r>
          </a:p>
        </p:txBody>
      </p:sp>
      <p:sp>
        <p:nvSpPr>
          <p:cNvPr id="13" name="Recorded finding">
            <a:extLst>
              <a:ext uri="{FF2B5EF4-FFF2-40B4-BE49-F238E27FC236}">
                <a16:creationId xmlns:a16="http://schemas.microsoft.com/office/drawing/2014/main" id="{341DDEC0-EF46-4393-9963-659ADD46AEDF}"/>
              </a:ext>
            </a:extLst>
          </p:cNvPr>
          <p:cNvSpPr>
            <a:spLocks noGrp="1"/>
          </p:cNvSpPr>
          <p:nvPr/>
        </p:nvSpPr>
        <p:spPr>
          <a:xfrm>
            <a:off x="1000125" y="3076575"/>
            <a:ext cx="10048875" cy="381000"/>
          </a:xfrm>
          <a:prstGeom prst="rect">
            <a:avLst/>
          </a:prstGeom>
          <a:noFill/>
          <a:ln w="0">
            <a:noFill/>
          </a:ln>
        </p:spPr>
        <p:txBody>
          <a:bodyPr wrap="square" lIns="0" tIns="0" rIns="0" bIns="0" anchor="t">
            <a:noAutofit/>
          </a:bodyPr>
          <a:lstStyle>
            <a:defPPr algn="l">
              <a:defRPr sz="2100" b="1">
                <a:solidFill>
                  <a:srgbClr val="142A4A"/>
                </a:solidFill>
                <a:latin typeface="Calibri"/>
                <a:ea typeface="Calibri"/>
                <a:cs typeface="Calibri"/>
              </a:defRPr>
            </a:defPPr>
          </a:lstStyle>
          <a:p>
            <a:pPr algn="l">
              <a:defRPr sz="2100" b="1">
                <a:solidFill>
                  <a:srgbClr val="142A4A"/>
                </a:solidFill>
                <a:latin typeface="Calibri"/>
                <a:ea typeface="Calibri"/>
                <a:cs typeface="Calibri"/>
              </a:defRPr>
            </a:pPr>
            <a:r>
              <a:rPr sz="2100" b="1">
                <a:solidFill>
                  <a:srgbClr val="142A4A"/>
                </a:solidFill>
                <a:latin typeface="Calibri"/>
                <a:ea typeface="Calibri"/>
                <a:cs typeface="Calibri"/>
              </a:rPr>
              <a:t>Recorded finding</a:t>
            </a:r>
          </a:p>
        </p:txBody>
      </p:sp>
      <p:sp>
        <p:nvSpPr>
          <p:cNvPr id="14" name="Random Forest reaches 85.94% failure F1. The copil">
            <a:extLst>
              <a:ext uri="{FF2B5EF4-FFF2-40B4-BE49-F238E27FC236}">
                <a16:creationId xmlns:a16="http://schemas.microsoft.com/office/drawing/2014/main" id="{84171E8D-5033-4AFD-A1DA-B8526D67CA4C}"/>
              </a:ext>
            </a:extLst>
          </p:cNvPr>
          <p:cNvSpPr>
            <a:spLocks noGrp="1"/>
          </p:cNvSpPr>
          <p:nvPr/>
        </p:nvSpPr>
        <p:spPr>
          <a:xfrm>
            <a:off x="1000125" y="3571875"/>
            <a:ext cx="10048875" cy="742950"/>
          </a:xfrm>
          <a:prstGeom prst="rect">
            <a:avLst/>
          </a:prstGeom>
          <a:noFill/>
          <a:ln w="0">
            <a:noFill/>
          </a:ln>
        </p:spPr>
        <p:txBody>
          <a:bodyPr wrap="square" lIns="0" tIns="0" rIns="0" bIns="0" anchor="t">
            <a:noAutofit/>
          </a:bodyPr>
          <a:lstStyle>
            <a:defPPr algn="l">
              <a:defRPr sz="1800" b="0">
                <a:solidFill>
                  <a:srgbClr val="232323"/>
                </a:solidFill>
                <a:latin typeface="Calibri"/>
                <a:ea typeface="Calibri"/>
                <a:cs typeface="Calibri"/>
              </a:defRPr>
            </a:defPPr>
          </a:lstStyle>
          <a:p>
            <a:pPr algn="l">
              <a:defRPr sz="1800" b="0">
                <a:solidFill>
                  <a:srgbClr val="232323"/>
                </a:solidFill>
                <a:latin typeface="Calibri"/>
                <a:ea typeface="Calibri"/>
                <a:cs typeface="Calibri"/>
              </a:defRPr>
            </a:pPr>
            <a:r>
              <a:rPr sz="1800" b="0">
                <a:solidFill>
                  <a:srgbClr val="232323"/>
                </a:solidFill>
                <a:latin typeface="Calibri"/>
                <a:ea typeface="Calibri"/>
                <a:cs typeface="Calibri"/>
              </a:rPr>
              <a:t>Random Forest reaches 85.94% failure F1. The copilot passes 80.56% of</a:t>
            </a:r>
          </a:p>
          <a:p>
            <a:pPr algn="l">
              <a:defRPr sz="1800" b="0">
                <a:solidFill>
                  <a:srgbClr val="232323"/>
                </a:solidFill>
                <a:latin typeface="Calibri"/>
                <a:ea typeface="Calibri"/>
                <a:cs typeface="Calibri"/>
              </a:defRPr>
            </a:pPr>
            <a:r>
              <a:rPr sz="1800" b="0">
                <a:solidFill>
                  <a:srgbClr val="232323"/>
                </a:solidFill>
                <a:latin typeface="Calibri"/>
                <a:ea typeface="Calibri"/>
                <a:cs typeface="Calibri"/>
              </a:rPr>
              <a:t>strict execution trials, with the weakest behavior on ambiguous inputs.</a:t>
            </a:r>
          </a:p>
        </p:txBody>
      </p:sp>
      <p:sp>
        <p:nvSpPr>
          <p:cNvPr id="15" name="Next experiment">
            <a:extLst>
              <a:ext uri="{FF2B5EF4-FFF2-40B4-BE49-F238E27FC236}">
                <a16:creationId xmlns:a16="http://schemas.microsoft.com/office/drawing/2014/main" id="{E04EB7D8-CB18-401A-8010-3F74DB395F28}"/>
              </a:ext>
            </a:extLst>
          </p:cNvPr>
          <p:cNvSpPr>
            <a:spLocks noGrp="1"/>
          </p:cNvSpPr>
          <p:nvPr/>
        </p:nvSpPr>
        <p:spPr>
          <a:xfrm>
            <a:off x="1000125" y="4505325"/>
            <a:ext cx="10048875" cy="381000"/>
          </a:xfrm>
          <a:prstGeom prst="rect">
            <a:avLst/>
          </a:prstGeom>
          <a:noFill/>
          <a:ln w="0">
            <a:noFill/>
          </a:ln>
        </p:spPr>
        <p:txBody>
          <a:bodyPr wrap="square" lIns="0" tIns="0" rIns="0" bIns="0" anchor="t">
            <a:noAutofit/>
          </a:bodyPr>
          <a:lstStyle>
            <a:defPPr algn="l">
              <a:defRPr sz="2100" b="1">
                <a:solidFill>
                  <a:srgbClr val="142A4A"/>
                </a:solidFill>
                <a:latin typeface="Calibri"/>
                <a:ea typeface="Calibri"/>
                <a:cs typeface="Calibri"/>
              </a:defRPr>
            </a:defPPr>
          </a:lstStyle>
          <a:p>
            <a:pPr algn="l">
              <a:defRPr sz="2100" b="1">
                <a:solidFill>
                  <a:srgbClr val="142A4A"/>
                </a:solidFill>
                <a:latin typeface="Calibri"/>
                <a:ea typeface="Calibri"/>
                <a:cs typeface="Calibri"/>
              </a:defRPr>
            </a:pPr>
            <a:r>
              <a:rPr sz="2100" b="1">
                <a:solidFill>
                  <a:srgbClr val="142A4A"/>
                </a:solidFill>
                <a:latin typeface="Calibri"/>
                <a:ea typeface="Calibri"/>
                <a:cs typeface="Calibri"/>
              </a:rPr>
              <a:t>Next experiment</a:t>
            </a:r>
          </a:p>
        </p:txBody>
      </p:sp>
      <p:sp>
        <p:nvSpPr>
          <p:cNvPr id="16" name="Require explicit scenario values and units, compar">
            <a:extLst>
              <a:ext uri="{FF2B5EF4-FFF2-40B4-BE49-F238E27FC236}">
                <a16:creationId xmlns:a16="http://schemas.microsoft.com/office/drawing/2014/main" id="{78C5B4BA-28B2-40F2-8633-7A1F5A250047}"/>
              </a:ext>
            </a:extLst>
          </p:cNvPr>
          <p:cNvSpPr>
            <a:spLocks noGrp="1"/>
          </p:cNvSpPr>
          <p:nvPr/>
        </p:nvSpPr>
        <p:spPr>
          <a:xfrm>
            <a:off x="1000125" y="5000625"/>
            <a:ext cx="10048875" cy="742950"/>
          </a:xfrm>
          <a:prstGeom prst="rect">
            <a:avLst/>
          </a:prstGeom>
          <a:noFill/>
          <a:ln w="0">
            <a:noFill/>
          </a:ln>
        </p:spPr>
        <p:txBody>
          <a:bodyPr wrap="square" lIns="0" tIns="0" rIns="0" bIns="0" anchor="t">
            <a:noAutofit/>
          </a:bodyPr>
          <a:lstStyle>
            <a:defPPr algn="l">
              <a:defRPr sz="1800" b="0">
                <a:solidFill>
                  <a:srgbClr val="232323"/>
                </a:solidFill>
                <a:latin typeface="Calibri"/>
                <a:ea typeface="Calibri"/>
                <a:cs typeface="Calibri"/>
              </a:defRPr>
            </a:defPPr>
          </a:lstStyle>
          <a:p>
            <a:pPr algn="l">
              <a:defRPr sz="1800" b="0">
                <a:solidFill>
                  <a:srgbClr val="232323"/>
                </a:solidFill>
                <a:latin typeface="Calibri"/>
                <a:ea typeface="Calibri"/>
                <a:cs typeface="Calibri"/>
              </a:defRPr>
            </a:pPr>
            <a:r>
              <a:rPr sz="1800" b="0">
                <a:solidFill>
                  <a:srgbClr val="232323"/>
                </a:solidFill>
                <a:latin typeface="Calibri"/>
                <a:ea typeface="Calibri"/>
                <a:cs typeface="Calibri"/>
              </a:rPr>
              <a:t>Require explicit scenario values and units, compare LLMs on development</a:t>
            </a:r>
          </a:p>
          <a:p>
            <a:pPr algn="l">
              <a:defRPr sz="1800" b="0">
                <a:solidFill>
                  <a:srgbClr val="232323"/>
                </a:solidFill>
                <a:latin typeface="Calibri"/>
                <a:ea typeface="Calibri"/>
                <a:cs typeface="Calibri"/>
              </a:defRPr>
            </a:pPr>
            <a:r>
              <a:rPr sz="1800" b="0">
                <a:solidFill>
                  <a:srgbClr val="232323"/>
                </a:solidFill>
                <a:latin typeface="Calibri"/>
                <a:ea typeface="Calibri"/>
                <a:cs typeface="Calibri"/>
              </a:rPr>
              <a:t>cases, and collect a fresh final set before making improvement claims.</a:t>
            </a:r>
          </a:p>
        </p:txBody>
      </p:sp>
    </p:spTree>
    <p:extLst>
      <p:ext uri="{BB962C8B-B14F-4D97-AF65-F5344CB8AC3E}">
        <p14:creationId xmlns:p14="http://schemas.microsoft.com/office/powerpoint/2010/main" val="3368522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96CCFF-82AE-0750-3211-D828833EE4B7}"/>
              </a:ext>
            </a:extLst>
          </p:cNvPr>
          <p:cNvSpPr>
            <a:spLocks noGrp="1"/>
          </p:cNvSpPr>
          <p:nvPr/>
        </p:nvSpPr>
        <p:spPr>
          <a:xfrm>
            <a:off x="3352800" y="2878666"/>
            <a:ext cx="5147734" cy="1724378"/>
          </a:xfrm>
          <a:prstGeom prst="rect">
            <a:avLst/>
          </a:prstGeom>
          <a:noFill/>
        </p:spPr>
        <p:txBody>
          <a:bodyPr wrap="square" lIns="0" tIns="0" rIns="0" bIns="0">
            <a:noAutofit/>
          </a:bodyPr>
          <a:lstStyle>
            <a:defPPr>
              <a:defRPr sz="2800" b="1">
                <a:solidFill>
                  <a:srgbClr val="142A4A"/>
                </a:solidFill>
                <a:latin typeface="Calibri"/>
                <a:ea typeface="Calibri"/>
                <a:cs typeface="Calibri"/>
              </a:defRPr>
            </a:defPPr>
          </a:lstStyle>
          <a:p>
            <a:pPr algn="ctr">
              <a:defRPr sz="2100" b="1">
                <a:solidFill>
                  <a:srgbClr val="2F66AD"/>
                </a:solidFill>
                <a:latin typeface="Calibri"/>
                <a:ea typeface="Calibri"/>
                <a:cs typeface="Calibri"/>
              </a:defRPr>
            </a:pPr>
            <a:r>
              <a:rPr lang="en-US" sz="3600" b="1" dirty="0">
                <a:solidFill>
                  <a:srgbClr val="2F66AD"/>
                </a:solidFill>
                <a:latin typeface="Calibri"/>
                <a:ea typeface="Calibri"/>
                <a:cs typeface="Calibri"/>
              </a:rPr>
              <a:t>Questions </a:t>
            </a:r>
          </a:p>
        </p:txBody>
      </p:sp>
      <p:sp>
        <p:nvSpPr>
          <p:cNvPr id="9" name="Rectangle 8">
            <a:extLst>
              <a:ext uri="{FF2B5EF4-FFF2-40B4-BE49-F238E27FC236}">
                <a16:creationId xmlns:a16="http://schemas.microsoft.com/office/drawing/2014/main" id="{C4C530C1-0558-30FF-9E2E-1606BF0DDA5B}"/>
              </a:ext>
            </a:extLst>
          </p:cNvPr>
          <p:cNvSpPr>
            <a:spLocks noGrp="1"/>
          </p:cNvSpPr>
          <p:nvPr/>
        </p:nvSpPr>
        <p:spPr>
          <a:xfrm>
            <a:off x="0" y="6656832"/>
            <a:ext cx="12191695" cy="201168"/>
          </a:xfrm>
          <a:prstGeom prst="rect">
            <a:avLst/>
          </a:prstGeom>
          <a:solidFill>
            <a:srgbClr val="142A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8C922B9-7FB6-F5D1-5CB6-EFB4DF825650}"/>
              </a:ext>
            </a:extLst>
          </p:cNvPr>
          <p:cNvSpPr>
            <a:spLocks noGrp="1"/>
          </p:cNvSpPr>
          <p:nvPr/>
        </p:nvSpPr>
        <p:spPr>
          <a:xfrm>
            <a:off x="11247120" y="6400800"/>
            <a:ext cx="141287" cy="152400"/>
          </a:xfrm>
          <a:prstGeom prst="rect">
            <a:avLst/>
          </a:prstGeom>
          <a:noFill/>
        </p:spPr>
        <p:txBody>
          <a:bodyPr wrap="none" lIns="0" tIns="0" rIns="0" bIns="0">
            <a:spAutoFit/>
          </a:bodyPr>
          <a:lstStyle>
            <a:defPPr>
              <a:defRPr sz="1000">
                <a:solidFill>
                  <a:srgbClr val="5F6973"/>
                </a:solidFill>
                <a:latin typeface="Calibri"/>
                <a:ea typeface="Calibri"/>
                <a:cs typeface="Calibri"/>
              </a:defRPr>
            </a:defPPr>
          </a:lstStyle>
          <a:p>
            <a:pPr>
              <a:buNone/>
              <a:defRPr sz="1000">
                <a:solidFill>
                  <a:srgbClr val="5F6973"/>
                </a:solidFill>
                <a:latin typeface="Calibri"/>
                <a:ea typeface="Calibri"/>
                <a:cs typeface="Calibri"/>
              </a:defRPr>
            </a:pPr>
            <a:r>
              <a:rPr sz="1000">
                <a:solidFill>
                  <a:srgbClr val="5F6973"/>
                </a:solidFill>
                <a:latin typeface="Calibri"/>
                <a:ea typeface="Calibri"/>
                <a:cs typeface="Calibri"/>
              </a:rPr>
              <a:t>18</a:t>
            </a:r>
          </a:p>
        </p:txBody>
      </p:sp>
    </p:spTree>
    <p:extLst>
      <p:ext uri="{BB962C8B-B14F-4D97-AF65-F5344CB8AC3E}">
        <p14:creationId xmlns:p14="http://schemas.microsoft.com/office/powerpoint/2010/main" val="3368522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1908</TotalTime>
  <Words>3869</Words>
  <Application>Microsoft Macintosh PowerPoint</Application>
  <DocSecurity>0</DocSecurity>
  <PresentationFormat>Widescreen</PresentationFormat>
  <Paragraphs>452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 Abu Yusuf</cp:lastModifiedBy>
  <cp:revision>5</cp:revision>
  <dcterms:created xsi:type="dcterms:W3CDTF">2026-10-17T18:35:59Z</dcterms:created>
  <dcterms:modified xsi:type="dcterms:W3CDTF">2026-10-20T02:46:08Z</dcterms:modified>
</cp:coreProperties>
</file>