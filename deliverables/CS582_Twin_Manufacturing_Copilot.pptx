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9f36e66d4c848b1" /><Relationship Type="http://schemas.openxmlformats.org/officeDocument/2006/relationships/extended-properties" Target="/docProps/app.xml" Id="R0d90898354174011" /><Relationship Type="http://schemas.openxmlformats.org/officeDocument/2006/relationships/officeDocument" Target="/ppt/presentation.xml" Id="R9c027b7d839540f4" /></Relationships>
</file>

<file path=ppt/presentation.xml><?xml version="1.0" encoding="utf-8"?>
<p:presentation xmlns:p="http://schemas.openxmlformats.org/presentationml/2006/main">
  <p:sldMasterIdLst>
    <p:sldMasterId xmlns:r="http://schemas.openxmlformats.org/officeDocument/2006/relationships" id="2147483648" r:id="R8c451c14185a4d35"/>
  </p:sldMasterIdLst>
  <p:notesMasterIdLst>
    <p:notesMasterId xmlns:r="http://schemas.openxmlformats.org/officeDocument/2006/relationships" r:id="R906930f0f4814347"/>
  </p:notesMasterIdLst>
  <p:sldIdLst>
    <p:sldId xmlns:r="http://schemas.openxmlformats.org/officeDocument/2006/relationships" id="256" r:id="Re7c8021d88c74638"/>
    <p:sldId xmlns:r="http://schemas.openxmlformats.org/officeDocument/2006/relationships" id="257" r:id="R3a2d670781d8486e"/>
    <p:sldId xmlns:r="http://schemas.openxmlformats.org/officeDocument/2006/relationships" id="258" r:id="R3c533cb7c2fc48f2"/>
    <p:sldId xmlns:r="http://schemas.openxmlformats.org/officeDocument/2006/relationships" id="259" r:id="Raa8b20adcaab45c2"/>
    <p:sldId xmlns:r="http://schemas.openxmlformats.org/officeDocument/2006/relationships" id="260" r:id="R7fe92cc002ee40aa"/>
    <p:sldId xmlns:r="http://schemas.openxmlformats.org/officeDocument/2006/relationships" id="261" r:id="R5f259d3c4c4e4439"/>
    <p:sldId xmlns:r="http://schemas.openxmlformats.org/officeDocument/2006/relationships" id="262" r:id="Reb713498b50b4509"/>
    <p:sldId xmlns:r="http://schemas.openxmlformats.org/officeDocument/2006/relationships" id="263" r:id="Rc11944f5b8574bce"/>
    <p:sldId xmlns:r="http://schemas.openxmlformats.org/officeDocument/2006/relationships" id="264" r:id="R4509fcc702f54247"/>
    <p:sldId xmlns:r="http://schemas.openxmlformats.org/officeDocument/2006/relationships" id="265" r:id="R5bda43e4cf104d9e"/>
    <p:sldId xmlns:r="http://schemas.openxmlformats.org/officeDocument/2006/relationships" id="266" r:id="Rc7ef8eb13c304cf8"/>
    <p:sldId xmlns:r="http://schemas.openxmlformats.org/officeDocument/2006/relationships" id="267" r:id="R6f9c870617c74b1e"/>
    <p:sldId xmlns:r="http://schemas.openxmlformats.org/officeDocument/2006/relationships" id="268" r:id="R8403887025dc4ff1"/>
    <p:sldId xmlns:r="http://schemas.openxmlformats.org/officeDocument/2006/relationships" id="269" r:id="R353ad479bfd34cef"/>
    <p:sldId xmlns:r="http://schemas.openxmlformats.org/officeDocument/2006/relationships" id="270" r:id="R17a36c07a3f345e4"/>
    <p:sldId xmlns:r="http://schemas.openxmlformats.org/officeDocument/2006/relationships" id="271" r:id="R4b4e5e000c0442f1"/>
    <p:sldId xmlns:r="http://schemas.openxmlformats.org/officeDocument/2006/relationships" id="272" r:id="Re61fca6e9bc9484f"/>
    <p:sldId xmlns:r="http://schemas.openxmlformats.org/officeDocument/2006/relationships" id="273" r:id="R2999471a95c745dc"/>
  </p:sldIdLst>
  <p:sldSz cx="12192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bbbfba3ea1f43d9" /><Relationship Type="http://schemas.openxmlformats.org/officeDocument/2006/relationships/slideMaster" Target="/ppt/slideMasters/slideMaster1.xml" Id="R8c451c14185a4d35" /><Relationship Type="http://schemas.openxmlformats.org/officeDocument/2006/relationships/notesMaster" Target="/ppt/notesMasters/notesMaster1.xml" Id="R906930f0f4814347" /><Relationship Type="http://schemas.openxmlformats.org/officeDocument/2006/relationships/presProps" Target="/ppt/presProps.xml" Id="R974926d3540f4a44" /><Relationship Type="http://schemas.openxmlformats.org/officeDocument/2006/relationships/viewProps" Target="/ppt/viewProps.xml" Id="Rb037385eb3f04d87" /><Relationship Type="http://schemas.openxmlformats.org/officeDocument/2006/relationships/tableStyles" Target="/ppt/tableStyles.xml" Id="Re3ef8f9314794537" /><Relationship Type="http://schemas.openxmlformats.org/officeDocument/2006/relationships/slide" Target="/ppt/slides/slide1.xml" Id="Re7c8021d88c74638" /><Relationship Type="http://schemas.openxmlformats.org/officeDocument/2006/relationships/slide" Target="/ppt/slides/slide2.xml" Id="R3a2d670781d8486e" /><Relationship Type="http://schemas.openxmlformats.org/officeDocument/2006/relationships/slide" Target="/ppt/slides/slide3.xml" Id="R3c533cb7c2fc48f2" /><Relationship Type="http://schemas.openxmlformats.org/officeDocument/2006/relationships/slide" Target="/ppt/slides/slide4.xml" Id="Raa8b20adcaab45c2" /><Relationship Type="http://schemas.openxmlformats.org/officeDocument/2006/relationships/slide" Target="/ppt/slides/slide5.xml" Id="R7fe92cc002ee40aa" /><Relationship Type="http://schemas.openxmlformats.org/officeDocument/2006/relationships/slide" Target="/ppt/slides/slide6.xml" Id="R5f259d3c4c4e4439" /><Relationship Type="http://schemas.openxmlformats.org/officeDocument/2006/relationships/slide" Target="/ppt/slides/slide7.xml" Id="Reb713498b50b4509" /><Relationship Type="http://schemas.openxmlformats.org/officeDocument/2006/relationships/slide" Target="/ppt/slides/slide8.xml" Id="Rc11944f5b8574bce" /><Relationship Type="http://schemas.openxmlformats.org/officeDocument/2006/relationships/slide" Target="/ppt/slides/slide9.xml" Id="R4509fcc702f54247" /><Relationship Type="http://schemas.openxmlformats.org/officeDocument/2006/relationships/slide" Target="/ppt/slides/slide10.xml" Id="R5bda43e4cf104d9e" /><Relationship Type="http://schemas.openxmlformats.org/officeDocument/2006/relationships/slide" Target="/ppt/slides/slide11.xml" Id="Rc7ef8eb13c304cf8" /><Relationship Type="http://schemas.openxmlformats.org/officeDocument/2006/relationships/slide" Target="/ppt/slides/slide12.xml" Id="R6f9c870617c74b1e" /><Relationship Type="http://schemas.openxmlformats.org/officeDocument/2006/relationships/slide" Target="/ppt/slides/slide13.xml" Id="R8403887025dc4ff1" /><Relationship Type="http://schemas.openxmlformats.org/officeDocument/2006/relationships/slide" Target="/ppt/slides/slide14.xml" Id="R353ad479bfd34cef" /><Relationship Type="http://schemas.openxmlformats.org/officeDocument/2006/relationships/slide" Target="/ppt/slides/slide15.xml" Id="R17a36c07a3f345e4" /><Relationship Type="http://schemas.openxmlformats.org/officeDocument/2006/relationships/slide" Target="/ppt/slides/slide16.xml" Id="R4b4e5e000c0442f1" /><Relationship Type="http://schemas.openxmlformats.org/officeDocument/2006/relationships/slide" Target="/ppt/slides/slide17.xml" Id="Re61fca6e9bc9484f" /><Relationship Type="http://schemas.openxmlformats.org/officeDocument/2006/relationships/slide" Target="/ppt/slides/slide18.xml" Id="R2999471a95c745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4c4e8e930643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13d112ebab441f" /><Relationship Type="http://schemas.openxmlformats.org/officeDocument/2006/relationships/notesMaster" Target="/ppt/notesMasters/notesMaster1.xml" Id="R25a7a5354b544b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428defc1f84305" /><Relationship Type="http://schemas.openxmlformats.org/officeDocument/2006/relationships/notesMaster" Target="/ppt/notesMasters/notesMaster1.xml" Id="R35b37cfce9874a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7ef931ce1540ab" /><Relationship Type="http://schemas.openxmlformats.org/officeDocument/2006/relationships/notesMaster" Target="/ppt/notesMasters/notesMaster1.xml" Id="R397773a3357545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49637bf09941c8" /><Relationship Type="http://schemas.openxmlformats.org/officeDocument/2006/relationships/notesMaster" Target="/ppt/notesMasters/notesMaster1.xml" Id="Rfa453083771a4b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df437c13d043b2" /><Relationship Type="http://schemas.openxmlformats.org/officeDocument/2006/relationships/notesMaster" Target="/ppt/notesMasters/notesMaster1.xml" Id="R9a300767f2c04d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d0bdd66b0745c4" /><Relationship Type="http://schemas.openxmlformats.org/officeDocument/2006/relationships/notesMaster" Target="/ppt/notesMasters/notesMaster1.xml" Id="Ra34ad401a9db44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0d442684d643b3" /><Relationship Type="http://schemas.openxmlformats.org/officeDocument/2006/relationships/notesMaster" Target="/ppt/notesMasters/notesMaster1.xml" Id="R1def6a20688147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0a1079d4584006" /><Relationship Type="http://schemas.openxmlformats.org/officeDocument/2006/relationships/notesMaster" Target="/ppt/notesMasters/notesMaster1.xml" Id="R45572ba0ae5742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deb9aecde74f48" /><Relationship Type="http://schemas.openxmlformats.org/officeDocument/2006/relationships/notesMaster" Target="/ppt/notesMasters/notesMaster1.xml" Id="R8f29d99a452049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6f7fbad755459e" /><Relationship Type="http://schemas.openxmlformats.org/officeDocument/2006/relationships/notesMaster" Target="/ppt/notesMasters/notesMaster1.xml" Id="R78b0a9f4fec746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bdd0bfd156410c" /><Relationship Type="http://schemas.openxmlformats.org/officeDocument/2006/relationships/notesMaster" Target="/ppt/notesMasters/notesMaster1.xml" Id="R7c48bb06a02449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923799a2b404636" /><Relationship Type="http://schemas.openxmlformats.org/officeDocument/2006/relationships/notesMaster" Target="/ppt/notesMasters/notesMaster1.xml" Id="Rf7a5bf6ec09e4f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12a375b9a74ace" /><Relationship Type="http://schemas.openxmlformats.org/officeDocument/2006/relationships/notesMaster" Target="/ppt/notesMasters/notesMaster1.xml" Id="Rd79bbf5fa87f43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62e20614da4b72" /><Relationship Type="http://schemas.openxmlformats.org/officeDocument/2006/relationships/notesMaster" Target="/ppt/notesMasters/notesMaster1.xml" Id="R6825a0926c6e43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a7644cd2b24c9b" /><Relationship Type="http://schemas.openxmlformats.org/officeDocument/2006/relationships/notesMaster" Target="/ppt/notesMasters/notesMaster1.xml" Id="Rc4e063626e444e3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14c3287a6894728" /><Relationship Type="http://schemas.openxmlformats.org/officeDocument/2006/relationships/notesMaster" Target="/ppt/notesMasters/notesMaster1.xml" Id="Rec72ccead87c44f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1972941dff142d8" /><Relationship Type="http://schemas.openxmlformats.org/officeDocument/2006/relationships/notesMaster" Target="/ppt/notesMasters/notesMaster1.xml" Id="R1233d63cdb6e45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c5f6c86bfb24af1" /><Relationship Type="http://schemas.openxmlformats.org/officeDocument/2006/relationships/notesMaster" Target="/ppt/notesMasters/notesMaster1.xml" Id="R72388bba6d534a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implemented Twin Manufacturing Copilot. This presentation reports the saved Random Forest and XGBoost experiment plus the GPT-4.1 mini tool/state evaluation completed on October 17, 2026. Keep the predictive model and LLM results separate. Team 15 and course details come from the supplied template.</a:t>
            </a:r>
          </a:p>
          <a:p xmlns:a="http://schemas.openxmlformats.org/drawingml/2006/main">
            <a:r>
              <a:t/>
            </a:r>
          </a:p>
          <a:p xmlns:a="http://schemas.openxmlformats.org/drawingml/2006/main">
            <a:r>
              <a:t>Sources:</a:t>
            </a:r>
          </a:p>
          <a:p xmlns:a="http://schemas.openxmlformats.org/drawingml/2006/main">
            <a:r>
              <a:t>/Users/yusuf/MIU/courses/DE/ML/Project/CS582_Agentic_Digital_Twin_Primary_Presentation.pptx</a:t>
            </a:r>
          </a:p>
          <a:p xmlns:a="http://schemas.openxmlformats.org/drawingml/2006/main">
            <a:r>
              <a:t>/Users/yusuf/MIU/courses/DE/ML/Project/Twin-Manufacturing-Copilot/README.md</a:t>
            </a:r>
          </a:p>
          <a:p xmlns:a="http://schemas.openxmlformats.org/drawingml/2006/main">
            <a:r>
              <a:t>/Users/yusuf/MIU/courses/DE/ML/Project/Twin-Manufacturing-Copilot/reports/copilot_evaluation/20261017T173307Z_evaluation/manifest.json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system is a course prototype. Discuss downtime and maintenance support as motivation and potential benefits, not measured outcomes. The dataset does not supply a prospective failure horizon, so avoid claiming that the prototype predicts how many hours remain before failure.</a:t>
            </a:r>
          </a:p>
          <a:p xmlns:a="http://schemas.openxmlformats.org/drawingml/2006/main">
            <a:r>
              <a:t/>
            </a:r>
          </a:p>
          <a:p xmlns:a="http://schemas.openxmlformats.org/drawingml/2006/main">
            <a:r>
              <a:t>Sources:</a:t>
            </a:r>
          </a:p>
          <a:p xmlns:a="http://schemas.openxmlformats.org/drawingml/2006/main">
            <a:r>
              <a:t>/Users/yusuf/MIU/courses/DE/ML/Project/Twin-Manufacturing-Copilot/README.md</a:t>
            </a:r>
          </a:p>
          <a:p xmlns:a="http://schemas.openxmlformats.org/drawingml/2006/main">
            <a:r>
              <a:t>/Users/yusuf/MIU/courses/DE/ML/Project/Twin-Manufacturing-Copilot/src/digital_twin/twin.py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AI4I is a synthetic dataset. The repository contains 10,000 records and 339 failures. The held-out test set contains 2,000 records, including 68 failures. Source-row failure labels describe the observation, not failure within a future time interval. The paper reports the existing fixed split with random_state=42.</a:t>
            </a:r>
          </a:p>
          <a:p xmlns:a="http://schemas.openxmlformats.org/drawingml/2006/main">
            <a:r>
              <a:t/>
            </a:r>
          </a:p>
          <a:p xmlns:a="http://schemas.openxmlformats.org/drawingml/2006/main">
            <a:r>
              <a:t>Sources:</a:t>
            </a:r>
          </a:p>
          <a:p xmlns:a="http://schemas.openxmlformats.org/drawingml/2006/main">
            <a:r>
              <a:t>https://archive.ics.uci.edu/dataset/601/ai4i+2020+predictive+maintenance+dataset</a:t>
            </a:r>
          </a:p>
          <a:p xmlns:a="http://schemas.openxmlformats.org/drawingml/2006/main">
            <a:r>
              <a:t>https://doi.org/10.24432/C5HS5C</a:t>
            </a:r>
          </a:p>
          <a:p xmlns:a="http://schemas.openxmlformats.org/drawingml/2006/main">
            <a:r>
              <a:t>/Users/yusuf/MIU/courses/DE/ML/Project/Twin-Manufacturing-Copilot/reports/tables/target_class_distribution.csv</a:t>
            </a:r>
          </a:p>
          <a:p xmlns:a="http://schemas.openxmlformats.org/drawingml/2006/main">
            <a:r>
              <a:t>/Users/yusuf/MIU/courses/DE/ML/Project/Twin-Manufacturing-Copilot/src/prediction/split_data.py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descriptive associations across the full synthetic dataset. They do not establish the effect of changing an individual machine input. Quality L has 235/6,000 failures, M has 83/2,997, and H has 21/1,003. Full-dataset EDA preceded the current final evaluation and should be disclosed when discussing experimental independence.</a:t>
            </a:r>
          </a:p>
          <a:p xmlns:a="http://schemas.openxmlformats.org/drawingml/2006/main">
            <a:r>
              <a:t/>
            </a:r>
          </a:p>
          <a:p xmlns:a="http://schemas.openxmlformats.org/drawingml/2006/main">
            <a:r>
              <a:t>Sources:</a:t>
            </a:r>
          </a:p>
          <a:p xmlns:a="http://schemas.openxmlformats.org/drawingml/2006/main">
            <a:r>
              <a:t>/Users/yusuf/MIU/courses/DE/ML/Project/Twin-Manufacturing-Copilot/reports/eda_slide_notes.md</a:t>
            </a:r>
          </a:p>
          <a:p xmlns:a="http://schemas.openxmlformats.org/drawingml/2006/main">
            <a:r>
              <a:t>/Users/yusuf/MIU/courses/DE/ML/Project/Twin-Manufacturing-Copilot/reports/tables/failure_rate_by_product_quality.csv</a:t>
            </a:r>
          </a:p>
          <a:p xmlns:a="http://schemas.openxmlformats.org/drawingml/2006/main">
            <a:r>
              <a:t>/Users/yusuf/MIU/courses/DE/ML/Project/Twin-Manufacturing-Copilot/reports/tables/feature_summary_by_failure.csv</a:t>
            </a:r>
          </a:p>
          <a:p xmlns:a="http://schemas.openxmlformats.org/drawingml/2006/main">
            <a:r>
              <a:t>https://archive.ics.uci.edu/dataset/601/ai4i+2020+predictive+maintenance+dataset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14 features comprise five original numeric measurements, six engineered numeric features, and three fixed-category quality indicators. IDs UDI and Product ID and target-derived TWF/HDF/PWF/OSF/RNF are excluded. Features are target-independent formulas. No resampling or learned scaling is applied. XGBoost uses 7,729/271=28.5203 for scale_pos_weight. No prospective validation or hyperparameter-search advantage is claimed.</a:t>
            </a:r>
          </a:p>
          <a:p xmlns:a="http://schemas.openxmlformats.org/drawingml/2006/main">
            <a:r>
              <a:t/>
            </a:r>
          </a:p>
          <a:p xmlns:a="http://schemas.openxmlformats.org/drawingml/2006/main">
            <a:r>
              <a:t>Sources:</a:t>
            </a:r>
          </a:p>
          <a:p xmlns:a="http://schemas.openxmlformats.org/drawingml/2006/main">
            <a:r>
              <a:t>/Users/yusuf/MIU/courses/DE/ML/Project/Twin-Manufacturing-Copilot/src/prediction/preprocess_data.py</a:t>
            </a:r>
          </a:p>
          <a:p xmlns:a="http://schemas.openxmlformats.org/drawingml/2006/main">
            <a:r>
              <a:t>/Users/yusuf/MIU/courses/DE/ML/Project/Twin-Manufacturing-Copilot/src/prediction/feature_engineering.py</a:t>
            </a:r>
          </a:p>
          <a:p xmlns:a="http://schemas.openxmlformats.org/drawingml/2006/main">
            <a:r>
              <a:t>/Users/yusuf/MIU/courses/DE/ML/Project/Twin-Manufacturing-Copilot/src/prediction/train_model.py</a:t>
            </a:r>
          </a:p>
          <a:p xmlns:a="http://schemas.openxmlformats.org/drawingml/2006/main">
            <a:r>
              <a:t>/Users/yusuf/MIU/courses/DE/ML/Project/Twin-Manufacturing-Copilot/models/random_forest_metadata.json</a:t>
            </a:r>
          </a:p>
          <a:p xmlns:a="http://schemas.openxmlformats.org/drawingml/2006/main">
            <a:r>
              <a:t>/Users/yusuf/MIU/courses/DE/ML/Project/Twin-Manufacturing-Copilot/models/xgboost_metadata.json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metrics come from saved model metadata with a fixed threshold of 0.5. Random Forest is the active twin model. XGBoost has higher recall, ROC-AUC and average precision. Do not say that Random Forest wins every metric. Selection reflects the reported precision/F1 trade-off and has not been independently validated against a maintenance cost function. Average precision is the sklearn precision-recall summary, not trapezoidal PR-AUC.</a:t>
            </a:r>
          </a:p>
          <a:p xmlns:a="http://schemas.openxmlformats.org/drawingml/2006/main">
            <a:r>
              <a:t/>
            </a:r>
          </a:p>
          <a:p xmlns:a="http://schemas.openxmlformats.org/drawingml/2006/main">
            <a:r>
              <a:t>Sources:</a:t>
            </a:r>
          </a:p>
          <a:p xmlns:a="http://schemas.openxmlformats.org/drawingml/2006/main">
            <a:r>
              <a:t>/Users/yusuf/MIU/courses/DE/ML/Project/Twin-Manufacturing-Copilot/reports/tables/model_comparison.csv</a:t>
            </a:r>
          </a:p>
          <a:p xmlns:a="http://schemas.openxmlformats.org/drawingml/2006/main">
            <a:r>
              <a:t>/Users/yusuf/MIU/courses/DE/ML/Project/Twin-Manufacturing-Copilot/models/random_forest_metadata.json</a:t>
            </a:r>
          </a:p>
          <a:p xmlns:a="http://schemas.openxmlformats.org/drawingml/2006/main">
            <a:r>
              <a:t>/Users/yusuf/MIU/courses/DE/ML/Project/Twin-Manufacturing-Copilot/models/xgboost_metadata.json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Rows show actual labels and columns show predicted labels. Both models evaluate 1,932 actual normal cases and 68 actual failures. Random Forest failure recall is 55/68 and XGBoost recall is 57/68. The appropriate operational trade-off depends on costs that the project has not measured.</a:t>
            </a:r>
          </a:p>
          <a:p xmlns:a="http://schemas.openxmlformats.org/drawingml/2006/main">
            <a:r>
              <a:t/>
            </a:r>
          </a:p>
          <a:p xmlns:a="http://schemas.openxmlformats.org/drawingml/2006/main">
            <a:r>
              <a:t>Sources:</a:t>
            </a:r>
          </a:p>
          <a:p xmlns:a="http://schemas.openxmlformats.org/drawingml/2006/main">
            <a:r>
              <a:t>/Users/yusuf/MIU/courses/DE/ML/Project/Twin-Manufacturing-Copilot/reports/tables/model_comparison.csv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updates the architecture supplied in the template. The current system uses entered or dataset-derived inputs, not a connected live sensor feed. The twin uses Random Forest. XGBoost remains a saved comparator. The graph injects fresh twin context at the start of each question, allows bounded tool calls, and returns explanations. What-if simulation preserves the baseline. No physical machine control is implemented.</a:t>
            </a:r>
          </a:p>
          <a:p xmlns:a="http://schemas.openxmlformats.org/drawingml/2006/main">
            <a:r>
              <a:t/>
            </a:r>
          </a:p>
          <a:p xmlns:a="http://schemas.openxmlformats.org/drawingml/2006/main">
            <a:r>
              <a:t>Sources:</a:t>
            </a:r>
          </a:p>
          <a:p xmlns:a="http://schemas.openxmlformats.org/drawingml/2006/main">
            <a:r>
              <a:t>/Users/yusuf/MIU/courses/DE/ML/Project/Twin-Manufacturing-Copilot/app.py</a:t>
            </a:r>
          </a:p>
          <a:p xmlns:a="http://schemas.openxmlformats.org/drawingml/2006/main">
            <a:r>
              <a:t>/Users/yusuf/MIU/courses/DE/ML/Project/Twin-Manufacturing-Copilot/src/digital_twin/twin.py</a:t>
            </a:r>
          </a:p>
          <a:p xmlns:a="http://schemas.openxmlformats.org/drawingml/2006/main">
            <a:r>
              <a:t>/Users/yusuf/MIU/courses/DE/ML/Project/Twin-Manufacturing-Copilot/src/copilot/agent.py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UpdateState evaluates a candidate before committing, leaving the prior state intact after invalid updates. PredictFailure reuses the saved snapshot rather than re-running inference. Simulate creates an independent scenario with timestamped baseline/scenario snapshots. Risk is an uncalibrated model score and the health indicator is 100 minus risk, not an independently measured health quantity or remaining useful life.</a:t>
            </a:r>
          </a:p>
          <a:p xmlns:a="http://schemas.openxmlformats.org/drawingml/2006/main">
            <a:r>
              <a:t/>
            </a:r>
          </a:p>
          <a:p xmlns:a="http://schemas.openxmlformats.org/drawingml/2006/main">
            <a:r>
              <a:t>Sources:</a:t>
            </a:r>
          </a:p>
          <a:p xmlns:a="http://schemas.openxmlformats.org/drawingml/2006/main">
            <a:r>
              <a:t>/Users/yusuf/MIU/courses/DE/ML/Project/Twin-Manufacturing-Copilot/src/digital_twin/twin.py</a:t>
            </a:r>
          </a:p>
          <a:p xmlns:a="http://schemas.openxmlformats.org/drawingml/2006/main">
            <a:r>
              <a:t>/Users/yusuf/MIU/courses/DE/ML/Project/Twin-Manufacturing-Copilot/tests/test_digital_twin.py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Tools are get_current_state, get_machine_history, simulate_scenario, get_latest_simulation and get_model_results. The current snapshot is already injected into each system context, so current-state questions do not require a redundant tool call. The agent uses the Responses API, a maximum of six tool rounds, and up to ten completed conversational turns. Ordinary machine questions should reuse existing inference. There is no SHAP, maintenance-manual retrieval or automatic machine control.</a:t>
            </a:r>
          </a:p>
          <a:p xmlns:a="http://schemas.openxmlformats.org/drawingml/2006/main">
            <a:r>
              <a:t/>
            </a:r>
          </a:p>
          <a:p xmlns:a="http://schemas.openxmlformats.org/drawingml/2006/main">
            <a:r>
              <a:t>Sources:</a:t>
            </a:r>
          </a:p>
          <a:p xmlns:a="http://schemas.openxmlformats.org/drawingml/2006/main">
            <a:r>
              <a:t>/Users/yusuf/MIU/courses/DE/ML/Project/Twin-Manufacturing-Copilot/src/copilot/agent.py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actual project UI provided by the user. It shows a separate dashboard demonstration, not evaluation case EVAL-what_if-01 shown later. In this screenshot, the baseline score is 0 and scenario score is 1.33. Changes include process temperature, RPM, torque and wear. The four app tabs are Machine state, What-if simulation, Model results and Copilot. Describe the dashboard as a single-session prototype.</a:t>
            </a:r>
          </a:p>
          <a:p xmlns:a="http://schemas.openxmlformats.org/drawingml/2006/main">
            <a:r>
              <a:t/>
            </a:r>
          </a:p>
          <a:p xmlns:a="http://schemas.openxmlformats.org/drawingml/2006/main">
            <a:r>
              <a:t>Sources:</a:t>
            </a:r>
          </a:p>
          <a:p xmlns:a="http://schemas.openxmlformats.org/drawingml/2006/main">
            <a:r>
              <a:t>/Users/yusuf/MIU/courses/DE/ML/Project/Twin-Manufacturing-Copilot/app.py</a:t>
            </a:r>
          </a:p>
          <a:p xmlns:a="http://schemas.openxmlformats.org/drawingml/2006/main">
            <a:r>
              <a:t>User-provided screenshot, codex-clipboard-5a4b19b3-43b7-4c50-beca-776ef0fb54af.png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newly authored suite contains six categories with ten final tasks each. Development has twelve different tasks with distinct base source rows. Selection covers observed failures, low-score normal records and records nearest the model threshold. This balanced stress test does not estimate real-world task prevalence. Labels select coverage and never enter agent prompts. Each case gets three independent trials; the ten history cases add a warm-up turn, giving 210 turns. Numerical outputs are referenced to direct twin calls. This adapts outcome-based repeated-trial evaluation, not the tau-bench dataset itself. Final language-quality grading remains pending.</a:t>
            </a:r>
          </a:p>
          <a:p xmlns:a="http://schemas.openxmlformats.org/drawingml/2006/main">
            <a:r>
              <a:t/>
            </a:r>
          </a:p>
          <a:p xmlns:a="http://schemas.openxmlformats.org/drawingml/2006/main">
            <a:r>
              <a:t>Sources:</a:t>
            </a:r>
          </a:p>
          <a:p xmlns:a="http://schemas.openxmlformats.org/drawingml/2006/main">
            <a:r>
              <a:t>/Users/yusuf/MIU/courses/DE/ML/Project/Twin-Manufacturing-Copilot/evaluation/copilot_v1/README.md</a:t>
            </a:r>
          </a:p>
          <a:p xmlns:a="http://schemas.openxmlformats.org/drawingml/2006/main">
            <a:r>
              <a:t>/Users/yusuf/MIU/courses/DE/ML/Project/Twin-Manufacturing-Copilot/evaluation/copilot_v1/scenarios.json</a:t>
            </a:r>
          </a:p>
          <a:p xmlns:a="http://schemas.openxmlformats.org/drawingml/2006/main">
            <a:r>
              <a:t>/Users/yusuf/MIU/courses/DE/ML/Project/Twin-Manufacturing-Copilot/reports/copilot_evaluation/20261017T173307Z_evaluation/manifest.json</a:t>
            </a:r>
          </a:p>
          <a:p xmlns:a="http://schemas.openxmlformats.org/drawingml/2006/main">
            <a:r>
              <a:t>https://arxiv.org/abs/2406.12045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strict automatic execution checks, not overall Copilot accuracy. All 180 trials completed without execution errors. A task-trial must pass every turn. Forty-six of sixty tasks passed the checks in all three repeats, 76.67%. The mean latency is per completed turn, excluding agent initialization. Category counts total 145 passes from 180 trials. No human-review result column appears on this slide as requested. Human review has not yet established explanation quality or unsupported-claim rate. Exact-argument scoring counts redundant unchanged fields as violations even when numerical outputs agree.</a:t>
            </a:r>
          </a:p>
          <a:p xmlns:a="http://schemas.openxmlformats.org/drawingml/2006/main">
            <a:r>
              <a:t/>
            </a:r>
          </a:p>
          <a:p xmlns:a="http://schemas.openxmlformats.org/drawingml/2006/main">
            <a:r>
              <a:t>Sources:</a:t>
            </a:r>
          </a:p>
          <a:p xmlns:a="http://schemas.openxmlformats.org/drawingml/2006/main">
            <a:r>
              <a:t>/Users/yusuf/MIU/courses/DE/ML/Project/Twin-Manufacturing-Copilot/reports/copilot_evaluation/20261017T173307Z_evaluation/summary.json</a:t>
            </a:r>
          </a:p>
          <a:p xmlns:a="http://schemas.openxmlformats.org/drawingml/2006/main">
            <a:r>
              <a:t>/Users/yusuf/MIU/courses/DE/ML/Project/Twin-Manufacturing-Copilot/reports/copilot_evaluation/20261017T173307Z_evaluation/results_table.csv</a:t>
            </a:r>
          </a:p>
          <a:p xmlns:a="http://schemas.openxmlformats.org/drawingml/2006/main">
            <a:r>
              <a:t>/Users/yusuf/MIU/courses/DE/ML/Project/Twin-Manufacturing-Copilot/reports/copilot_evaluation/20261017T173307Z_evaluation/interpretation_notes.md</a:t>
            </a:r>
          </a:p>
          <a:p xmlns:a="http://schemas.openxmlformats.org/drawingml/2006/main">
            <a:r>
              <a:t>/Users/yusuf/MIU/courses/DE/ML/Project/Twin-Manufacturing-Copilot/reports/copilot_evaluation/20261017T173307Z_evaluation/trials.jsonl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EVAL-what_if-01 uses AI4I test row 502, zero-based. Initial inputs: quality L, air 302.6 K, process 310.9 K, speed 1,331 rpm, torque 52 Nm and wear 154 min. Replacing the tool sets wear to zero. Scores are 98.3333 and 80.3333, difference -18. All three trials called the correct tool, preserved baseline and matched the output. Latencies: 3.074747709, 2.925330333 and 2.639545209 s. Actual responses still require independent review for appropriate causal wording. This scenario does not prove a real physical benefit.</a:t>
            </a:r>
          </a:p>
          <a:p xmlns:a="http://schemas.openxmlformats.org/drawingml/2006/main">
            <a:r>
              <a:t/>
            </a:r>
          </a:p>
          <a:p xmlns:a="http://schemas.openxmlformats.org/drawingml/2006/main">
            <a:r>
              <a:t>Sources:</a:t>
            </a:r>
          </a:p>
          <a:p xmlns:a="http://schemas.openxmlformats.org/drawingml/2006/main">
            <a:r>
              <a:t>/Users/yusuf/MIU/courses/DE/ML/Project/Twin-Manufacturing-Copilot/reports/copilot_evaluation/20261017T173307Z_evaluation/EVAL-what_if-01.json</a:t>
            </a:r>
          </a:p>
          <a:p xmlns:a="http://schemas.openxmlformats.org/drawingml/2006/main">
            <a:r>
              <a:t>/Users/yusuf/MIU/courses/DE/ML/Project/Twin-Manufacturing-Copilot/reports/copilot_evaluation/20261017T173307Z_evaluation/EVAL-what_if-01.md</a:t>
            </a:r>
          </a:p>
          <a:p xmlns:a="http://schemas.openxmlformats.org/drawingml/2006/main">
            <a:r>
              <a:t>/Users/yusuf/MIU/courses/DE/ML/Project/Twin-Manufacturing-Copilot/reports/copilot_evaluation/20261017T173307Z_evaluation/trials.jsonl, lines 31–33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35 failed task-trials are preserved. What-if failures: ten calls included additional baseline values but all thirty requested numerical comparisons were correct. Two history trials did not call get_machine_history. Ambiguous/invalid failures include guessed speeds, replacing zero with a tiny positive value, assuming unspecified temperature units and mapping bearing replacement to tool wear. Three unsupported-case failures all involved the guarantee question and a replacement simulation; their answers denied a guarantee. Do not label these three flags as observed hallucinations. Do not adjust the original scoring after seeing outcomes. Use the findings to design changes on development cases, then use a new final set if tuning consumes the current one.</a:t>
            </a:r>
          </a:p>
          <a:p xmlns:a="http://schemas.openxmlformats.org/drawingml/2006/main">
            <a:r>
              <a:t/>
            </a:r>
          </a:p>
          <a:p xmlns:a="http://schemas.openxmlformats.org/drawingml/2006/main">
            <a:r>
              <a:t>Sources:</a:t>
            </a:r>
          </a:p>
          <a:p xmlns:a="http://schemas.openxmlformats.org/drawingml/2006/main">
            <a:r>
              <a:t>/Users/yusuf/MIU/courses/DE/ML/Project/Twin-Manufacturing-Copilot/reports/copilot_evaluation/20261017T173307Z_evaluation/flagged_trials.csv</a:t>
            </a:r>
          </a:p>
          <a:p xmlns:a="http://schemas.openxmlformats.org/drawingml/2006/main">
            <a:r>
              <a:t>/Users/yusuf/MIU/courses/DE/ML/Project/Twin-Manufacturing-Copilot/reports/copilot_evaluation/20261017T173307Z_evaluation/interpretation_notes.md</a:t>
            </a:r>
          </a:p>
          <a:p xmlns:a="http://schemas.openxmlformats.org/drawingml/2006/main">
            <a:r>
              <a:t>/Users/yusuf/MIU/courses/DE/ML/Project/Twin-Manufacturing-Copilot/reports/copilot_evaluation/20261017T173307Z_evaluation/trials.jsonl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twin is a virtual state model, not a synchronized physics-based digital replica. Session history can include manually entered scenarios and is not a live sensor stream. Health is an inverse-risk indicator, not measured condition. The study has not calibrated scores, estimated remaining useful life, demonstrated causal intervention effects, or measured maintenance outcomes. The 60-task suite is balanced for stress coverage and is small at the category level. Human answer grading and a dashboard-only operator comparison remain future work.</a:t>
            </a:r>
          </a:p>
          <a:p xmlns:a="http://schemas.openxmlformats.org/drawingml/2006/main">
            <a:r>
              <a:t/>
            </a:r>
          </a:p>
          <a:p xmlns:a="http://schemas.openxmlformats.org/drawingml/2006/main">
            <a:r>
              <a:t>Sources:</a:t>
            </a:r>
          </a:p>
          <a:p xmlns:a="http://schemas.openxmlformats.org/drawingml/2006/main">
            <a:r>
              <a:t>/Users/yusuf/MIU/courses/DE/ML/Project/Twin-Manufacturing-Copilot/README.md</a:t>
            </a:r>
          </a:p>
          <a:p xmlns:a="http://schemas.openxmlformats.org/drawingml/2006/main">
            <a:r>
              <a:t>/Users/yusuf/MIU/courses/DE/ML/Project/Twin-Manufacturing-Copilot/src/digital_twin/twin.py</a:t>
            </a:r>
          </a:p>
          <a:p xmlns:a="http://schemas.openxmlformats.org/drawingml/2006/main">
            <a:r>
              <a:t>/Users/yusuf/MIU/courses/DE/ML/Project/Twin-Manufacturing-Copilot/evaluation/copilot_v1/README.md</a:t>
            </a:r>
          </a:p>
          <a:p xmlns:a="http://schemas.openxmlformats.org/drawingml/2006/main">
            <a:r>
              <a:t>https://archive.ics.uci.edu/dataset/601/ai4i+2020+predictive+maintenance+dataset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project contribution as an implemented integration and a measured execution benchmark. The deck does not establish first-of-its-kind novelty. Practical next work includes enforcing explicit requested changes at the application boundary, improving clarification on development cases, comparing models without overwriting the GPT-4.1 mini baseline, calibrating scores on validation data, and obtaining real or prospective operational data. Any model change requires separate results. A fresh final set is needed if the current held-out tasks guide tuning.</a:t>
            </a:r>
          </a:p>
          <a:p xmlns:a="http://schemas.openxmlformats.org/drawingml/2006/main">
            <a:r>
              <a:t/>
            </a:r>
          </a:p>
          <a:p xmlns:a="http://schemas.openxmlformats.org/drawingml/2006/main">
            <a:r>
              <a:t>Sources:</a:t>
            </a:r>
          </a:p>
          <a:p xmlns:a="http://schemas.openxmlformats.org/drawingml/2006/main">
            <a:r>
              <a:t>/Users/yusuf/MIU/courses/DE/ML/Project/Twin-Manufacturing-Copilot/README.md</a:t>
            </a:r>
          </a:p>
          <a:p xmlns:a="http://schemas.openxmlformats.org/drawingml/2006/main">
            <a:r>
              <a:t>/Users/yusuf/MIU/courses/DE/ML/Project/Twin-Manufacturing-Copilot/reports/copilot_evaluation/20261017T173307Z_evaluation/summary.json</a:t>
            </a:r>
          </a:p>
          <a:p xmlns:a="http://schemas.openxmlformats.org/drawingml/2006/main">
            <a:r>
              <a:t>/Users/yusuf/MIU/courses/DE/ML/Project/Twin-Manufacturing-Copilot/models/random_forest_metadata.json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source: https://archive.ics.uci.edu/dataset/601/ai4i+2020+predictive+maintenance+dataset</a:t>
            </a:r>
          </a:p>
          <a:p xmlns:a="http://schemas.openxmlformats.org/drawingml/2006/main">
            <a:r>
              <a:t>Dataset DOI: https://doi.org/10.24432/C5HS5C</a:t>
            </a:r>
          </a:p>
          <a:p xmlns:a="http://schemas.openxmlformats.org/drawingml/2006/main">
            <a:r>
              <a:t>Evaluation methodology reference: https://arxiv.org/abs/2406.12045</a:t>
            </a:r>
          </a:p>
          <a:p xmlns:a="http://schemas.openxmlformats.org/drawingml/2006/main">
            <a:r>
              <a:t>Tau-bench motivates verifiable outcomes and reliability across repeats; this is a custom manufacturing task suite and does not reproduce tau-bench. Primary project evidence is the saved metadata, scenarios, manifests, traces, summaries and interpretation notes. All screenshots come from the user’s actual project UI.</a:t>
            </a:r>
          </a:p>
          <a:p xmlns:a="http://schemas.openxmlformats.org/drawingml/2006/main">
            <a:r>
              <a:t/>
            </a:r>
          </a:p>
          <a:p xmlns:a="http://schemas.openxmlformats.org/drawingml/2006/main">
            <a:r>
              <a:t>Sources:</a:t>
            </a:r>
          </a:p>
          <a:p xmlns:a="http://schemas.openxmlformats.org/drawingml/2006/main">
            <a:r>
              <a:t>https://archive.ics.uci.edu/dataset/601/ai4i+2020+predictive+maintenance+dataset</a:t>
            </a:r>
          </a:p>
          <a:p xmlns:a="http://schemas.openxmlformats.org/drawingml/2006/main">
            <a:r>
              <a:t>https://arxiv.org/abs/2406.12045</a:t>
            </a:r>
          </a:p>
          <a:p xmlns:a="http://schemas.openxmlformats.org/drawingml/2006/main">
            <a:r>
              <a:t>/Users/yusuf/MIU/courses/DE/ML/Project/Twin-Manufacturing-Copilot/models/random_forest_metadata.json</a:t>
            </a:r>
          </a:p>
          <a:p xmlns:a="http://schemas.openxmlformats.org/drawingml/2006/main">
            <a:r>
              <a:t>/Users/yusuf/MIU/courses/DE/ML/Project/Twin-Manufacturing-Copilot/models/xgboost_metadata.json</a:t>
            </a:r>
          </a:p>
          <a:p xmlns:a="http://schemas.openxmlformats.org/drawingml/2006/main">
            <a:r>
              <a:t>/Users/yusuf/MIU/courses/DE/ML/Project/Twin-Manufacturing-Copilot/reports/copilot_evaluation/20261017T173307Z_evaluation/manifest.json</a:t>
            </a:r>
          </a:p>
          <a:p xmlns:a="http://schemas.openxmlformats.org/drawingml/2006/main">
            <a:r>
              <a:t>/Users/yusuf/MIU/courses/DE/ML/Project/Twin-Manufacturing-Copilot/reports/copilot_evaluation/20261017T173307Z_evaluation/trials.jsonl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f17e00b41b47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cda868a0ed49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5f942e019140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c46d6f584a4d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bcac3567f84b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5945cdf7c5430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affcdd818924ea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fb9a7cd7910422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8e1fff9981b459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918ddc01ac9418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3b519e239784f5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054067-C87B-444D-ABAF-CD13B1F9883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08C3546-765B-4413-9C60-DBE9E042619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EF9910FC-C311-4C34-B2D0-85108083B9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9/13/26</a:t>
            </a:fld>
            <a:endParaRPr/>
          </a:p>
        </p:txBody>
      </p:sp>
      <p:sp>
        <p:nvSpPr>
          <p:cNvPr id="5" name="Footer Placeholder 4">
            <a:extLst xmlns:a="http://schemas.openxmlformats.org/drawingml/2006/main">
              <a:ext uri="{FF2B5EF4-FFF2-40B4-BE49-F238E27FC236}">
                <a16:creationId xmlns:a16="http://schemas.microsoft.com/office/drawing/2014/main" id="{10853B9C-B247-4A4D-AE86-C3F709377A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AF600F8-851C-4C8D-8922-3F948B1B0EC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AE39E94-65DC-42B5-B327-CCECC4B4B9A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A2B82FF-435B-4D5B-87B7-D70AD2DBB48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49293CF-7D41-4713-96D2-4642EB6656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9/13/26</a:t>
            </a:fld>
            <a:endParaRPr/>
          </a:p>
        </p:txBody>
      </p:sp>
      <p:sp>
        <p:nvSpPr>
          <p:cNvPr id="5" name="Footer Placeholder 4">
            <a:extLst xmlns:a="http://schemas.openxmlformats.org/drawingml/2006/main">
              <a:ext uri="{FF2B5EF4-FFF2-40B4-BE49-F238E27FC236}">
                <a16:creationId xmlns:a16="http://schemas.microsoft.com/office/drawing/2014/main" id="{3DB0A739-7107-4A2F-AA2F-220FE2FDFC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5A87539-6A2A-43C3-A493-B9032741CE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A5BBF95-A34F-498A-8BBD-84AA7A3B3FF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B65313A-5931-49D0-BB82-EAFE2680236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EC1C19E-EF2F-463D-BD90-59A1506CC0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9/13/26</a:t>
            </a:fld>
            <a:endParaRPr/>
          </a:p>
        </p:txBody>
      </p:sp>
      <p:sp>
        <p:nvSpPr>
          <p:cNvPr id="5" name="Footer Placeholder 4">
            <a:extLst xmlns:a="http://schemas.openxmlformats.org/drawingml/2006/main">
              <a:ext uri="{FF2B5EF4-FFF2-40B4-BE49-F238E27FC236}">
                <a16:creationId xmlns:a16="http://schemas.microsoft.com/office/drawing/2014/main" id="{26D2E69A-C62C-47FB-B7D2-E506F844576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6CAF8D2-1934-4902-82B6-67AD60C3D0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B35884B-CE27-4A2F-BD7E-52E46044A64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0CB69C7-FD0F-4129-B461-EAAC6E0D967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D91CCBF6-C0A9-4794-8E45-A317009DAE6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DDEE8AE9-D4BB-4FA8-84E9-95CE1495BA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9/13/26</a:t>
            </a:fld>
            <a:endParaRPr/>
          </a:p>
        </p:txBody>
      </p:sp>
      <p:sp>
        <p:nvSpPr>
          <p:cNvPr id="6" name="Footer Placeholder 5">
            <a:extLst xmlns:a="http://schemas.openxmlformats.org/drawingml/2006/main">
              <a:ext uri="{FF2B5EF4-FFF2-40B4-BE49-F238E27FC236}">
                <a16:creationId xmlns:a16="http://schemas.microsoft.com/office/drawing/2014/main" id="{BC423C5B-F608-463C-8CDE-4D456A2486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807FC91-A1F9-4C64-9ACF-7AE721E21A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FE92957-1F66-4D8F-936E-20DA8A09419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6E92224-FEBE-4B2D-A960-BEFA7A50457E}"/>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ACB59C3E-1B74-4CFC-8EF8-FC8C7CCA8E77}"/>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3D9A25ED-7538-46B2-B093-5446FD00455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04B9CC8-9AA0-463E-BC28-D918C417304E}"/>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DF7B61B1-5B0A-471F-B3E1-50DF21394C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9/13/26</a:t>
            </a:fld>
            <a:endParaRPr/>
          </a:p>
        </p:txBody>
      </p:sp>
      <p:sp>
        <p:nvSpPr>
          <p:cNvPr id="8" name="Footer Placeholder 7">
            <a:extLst xmlns:a="http://schemas.openxmlformats.org/drawingml/2006/main">
              <a:ext uri="{FF2B5EF4-FFF2-40B4-BE49-F238E27FC236}">
                <a16:creationId xmlns:a16="http://schemas.microsoft.com/office/drawing/2014/main" id="{11B45B5A-B255-4B8F-A355-626599215E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BEE1ECC9-C826-4EB9-893E-DAE0234D3C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D6FE3D6-25AE-4A03-8D80-533A719EEC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35EDD0BA-0544-45C8-ABF7-E96FAD2C8D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9/13/26</a:t>
            </a:fld>
            <a:endParaRPr/>
          </a:p>
        </p:txBody>
      </p:sp>
      <p:sp>
        <p:nvSpPr>
          <p:cNvPr id="4" name="Footer Placeholder 3">
            <a:extLst xmlns:a="http://schemas.openxmlformats.org/drawingml/2006/main">
              <a:ext uri="{FF2B5EF4-FFF2-40B4-BE49-F238E27FC236}">
                <a16:creationId xmlns:a16="http://schemas.microsoft.com/office/drawing/2014/main" id="{97A17936-A7FD-44C6-B1BC-6E9FEAAE04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F6F74F2-2DCB-41B5-8A5C-C0BD99BE0D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0284312-D777-47F4-AC9E-E451D3448D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9/13/26</a:t>
            </a:fld>
            <a:endParaRPr/>
          </a:p>
        </p:txBody>
      </p:sp>
      <p:sp>
        <p:nvSpPr>
          <p:cNvPr id="3" name="Footer Placeholder 2">
            <a:extLst xmlns:a="http://schemas.openxmlformats.org/drawingml/2006/main">
              <a:ext uri="{FF2B5EF4-FFF2-40B4-BE49-F238E27FC236}">
                <a16:creationId xmlns:a16="http://schemas.microsoft.com/office/drawing/2014/main" id="{EE475B8B-8739-4235-BC70-5A5C780D477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D75001C4-9F31-4C41-821D-BF109F8D9D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086A8A7-A3CE-4869-965F-F277B2B943E2}"/>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55F086C-250D-438A-9308-352BE31C11BD}"/>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CF165E6A-CB6C-47F7-9E85-B28B0228B3B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A51D800-0C77-4EF3-8F0C-65A2D8EBE83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9/13/26</a:t>
            </a:fld>
            <a:endParaRPr/>
          </a:p>
        </p:txBody>
      </p:sp>
      <p:sp>
        <p:nvSpPr>
          <p:cNvPr id="6" name="Footer Placeholder 5">
            <a:extLst xmlns:a="http://schemas.openxmlformats.org/drawingml/2006/main">
              <a:ext uri="{FF2B5EF4-FFF2-40B4-BE49-F238E27FC236}">
                <a16:creationId xmlns:a16="http://schemas.microsoft.com/office/drawing/2014/main" id="{64A3DA4D-DBB8-43E2-B794-3CADA255086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FF85DEF-7969-4DC1-B4E1-F14907D687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2358F4-EFDE-4F54-B9A7-7F2E523BCC5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865661F-0BB7-4040-843F-8B8C5869D469}"/>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566B9464-EB17-49C8-B53A-C87826FE1166}"/>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2F8B05F-B43D-4E8C-A90C-61781E47F1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9/13/26</a:t>
            </a:fld>
            <a:endParaRPr/>
          </a:p>
        </p:txBody>
      </p:sp>
      <p:sp>
        <p:nvSpPr>
          <p:cNvPr id="6" name="Footer Placeholder 5">
            <a:extLst xmlns:a="http://schemas.openxmlformats.org/drawingml/2006/main">
              <a:ext uri="{FF2B5EF4-FFF2-40B4-BE49-F238E27FC236}">
                <a16:creationId xmlns:a16="http://schemas.microsoft.com/office/drawing/2014/main" id="{4388880F-DF4E-43F2-A418-9D1E24E42E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725E15B-2396-4564-B450-469755E5AC6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61A0754-8C08-4D42-857C-275CE6DAAB2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9F20872-0D4E-4616-9563-EAA99DAC4A8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906999C-4227-4AF7-89A7-52889CE37F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9/13/26</a:t>
            </a:fld>
            <a:endParaRPr/>
          </a:p>
        </p:txBody>
      </p:sp>
      <p:sp>
        <p:nvSpPr>
          <p:cNvPr id="5" name="Footer Placeholder 4">
            <a:extLst xmlns:a="http://schemas.openxmlformats.org/drawingml/2006/main">
              <a:ext uri="{FF2B5EF4-FFF2-40B4-BE49-F238E27FC236}">
                <a16:creationId xmlns:a16="http://schemas.microsoft.com/office/drawing/2014/main" id="{7C78DDDB-1DEC-4ED4-B04F-895FC7457FE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1416226-B2C4-4F1E-B131-5BF32B2AC9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7C8CFC96-8DC4-4097-9972-4849740ADE1C}"/>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7CBA68A-D64F-4A65-98E1-99D922024368}"/>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D03C354-6261-4AF7-9018-BD03284976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9/13/26</a:t>
            </a:fld>
            <a:endParaRPr/>
          </a:p>
        </p:txBody>
      </p:sp>
      <p:sp>
        <p:nvSpPr>
          <p:cNvPr id="5" name="Footer Placeholder 4">
            <a:extLst xmlns:a="http://schemas.openxmlformats.org/drawingml/2006/main">
              <a:ext uri="{FF2B5EF4-FFF2-40B4-BE49-F238E27FC236}">
                <a16:creationId xmlns:a16="http://schemas.microsoft.com/office/drawing/2014/main" id="{25DA0FF0-CF48-47BB-9A09-3F514AE814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53DF9C0-19EB-4541-94BD-3941FF7A80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50c6833bb5452f" /><Relationship Type="http://schemas.openxmlformats.org/officeDocument/2006/relationships/slideLayout" Target="/ppt/slideLayouts/slideLayout1.xml" Id="R9c46b4fc46324341" /><Relationship Type="http://schemas.openxmlformats.org/officeDocument/2006/relationships/slideLayout" Target="/ppt/slideLayouts/slideLayout2.xml" Id="R56f91283104b4fa4" /><Relationship Type="http://schemas.openxmlformats.org/officeDocument/2006/relationships/slideLayout" Target="/ppt/slideLayouts/slideLayout3.xml" Id="R1320f8ad1fa64341" /><Relationship Type="http://schemas.openxmlformats.org/officeDocument/2006/relationships/slideLayout" Target="/ppt/slideLayouts/slideLayout4.xml" Id="R5e0d8ba50f924ff4" /><Relationship Type="http://schemas.openxmlformats.org/officeDocument/2006/relationships/slideLayout" Target="/ppt/slideLayouts/slideLayout5.xml" Id="Rae9dff4660f044a6" /><Relationship Type="http://schemas.openxmlformats.org/officeDocument/2006/relationships/slideLayout" Target="/ppt/slideLayouts/slideLayout6.xml" Id="R4b55a01ae52342e4" /><Relationship Type="http://schemas.openxmlformats.org/officeDocument/2006/relationships/slideLayout" Target="/ppt/slideLayouts/slideLayout7.xml" Id="Rff90a10f398b4cd9" /><Relationship Type="http://schemas.openxmlformats.org/officeDocument/2006/relationships/slideLayout" Target="/ppt/slideLayouts/slideLayout8.xml" Id="Rccbaedb0adf442b8" /><Relationship Type="http://schemas.openxmlformats.org/officeDocument/2006/relationships/slideLayout" Target="/ppt/slideLayouts/slideLayout9.xml" Id="Rb5838d91abc44dc8" /><Relationship Type="http://schemas.openxmlformats.org/officeDocument/2006/relationships/slideLayout" Target="/ppt/slideLayouts/slideLayout10.xml" Id="Rd84524a7dfe9454e" /><Relationship Type="http://schemas.openxmlformats.org/officeDocument/2006/relationships/slideLayout" Target="/ppt/slideLayouts/slideLayout11.xml" Id="Rb80cabfab4ac467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4763632-94C6-459C-AFF0-98FC7B7AB50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A07F08B-FC91-4E32-8588-2E8A9737738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6B965A18-BF8E-4F06-9982-A97701BFA359}"/>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9/13/26</a:t>
            </a:fld>
            <a:endParaRPr/>
          </a:p>
        </p:txBody>
      </p:sp>
      <p:sp>
        <p:nvSpPr>
          <p:cNvPr id="5" name="Footer Placeholder 4">
            <a:extLst xmlns:a="http://schemas.openxmlformats.org/drawingml/2006/main">
              <a:ext uri="{FF2B5EF4-FFF2-40B4-BE49-F238E27FC236}">
                <a16:creationId xmlns:a16="http://schemas.microsoft.com/office/drawing/2014/main" id="{4E0666EB-8347-4DB0-9E34-84CAFB074089}"/>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6578A19-3A55-4E50-BB6E-93BE8A6165AA}"/>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46b4fc46324341"/>
    <p:sldLayoutId xmlns:r="http://schemas.openxmlformats.org/officeDocument/2006/relationships" id="2147483650" r:id="R56f91283104b4fa4"/>
    <p:sldLayoutId xmlns:r="http://schemas.openxmlformats.org/officeDocument/2006/relationships" id="2147483651" r:id="R1320f8ad1fa64341"/>
    <p:sldLayoutId xmlns:r="http://schemas.openxmlformats.org/officeDocument/2006/relationships" id="2147483652" r:id="R5e0d8ba50f924ff4"/>
    <p:sldLayoutId xmlns:r="http://schemas.openxmlformats.org/officeDocument/2006/relationships" id="2147483653" r:id="Rae9dff4660f044a6"/>
    <p:sldLayoutId xmlns:r="http://schemas.openxmlformats.org/officeDocument/2006/relationships" id="2147483654" r:id="R4b55a01ae52342e4"/>
    <p:sldLayoutId xmlns:r="http://schemas.openxmlformats.org/officeDocument/2006/relationships" id="2147483655" r:id="Rff90a10f398b4cd9"/>
    <p:sldLayoutId xmlns:r="http://schemas.openxmlformats.org/officeDocument/2006/relationships" id="2147483656" r:id="Rccbaedb0adf442b8"/>
    <p:sldLayoutId xmlns:r="http://schemas.openxmlformats.org/officeDocument/2006/relationships" id="2147483657" r:id="Rb5838d91abc44dc8"/>
    <p:sldLayoutId xmlns:r="http://schemas.openxmlformats.org/officeDocument/2006/relationships" id="2147483658" r:id="Rd84524a7dfe9454e"/>
    <p:sldLayoutId xmlns:r="http://schemas.openxmlformats.org/officeDocument/2006/relationships" id="2147483659" r:id="Rb80cabfab4ac467e"/>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d4150cd160c48d7" /><Relationship Type="http://schemas.openxmlformats.org/officeDocument/2006/relationships/notesSlide" Target="/ppt/notesSlides/notesSlide1.xml" Id="R127c3086a78043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41c83724e98b498e" /><Relationship Type="http://schemas.openxmlformats.org/officeDocument/2006/relationships/notesSlide" Target="/ppt/notesSlides/notesSlide2.xml" Id="Rd33892b30fe243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250bd0ec541447cb" /><Relationship Type="http://schemas.openxmlformats.org/officeDocument/2006/relationships/notesSlide" Target="/ppt/notesSlides/notesSlide3.xml" Id="R41c623c25eb14b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890146919b87467b" /><Relationship Type="http://schemas.openxmlformats.org/officeDocument/2006/relationships/chart" Target="/ppt/slides/charts/chart1.xml" Id="R4457e08f796e4cb5" /><Relationship Type="http://schemas.openxmlformats.org/officeDocument/2006/relationships/notesSlide" Target="/ppt/notesSlides/notesSlide4.xml" Id="R76a60d0cd3d64d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48ee30a8d00c44eb" /><Relationship Type="http://schemas.openxmlformats.org/officeDocument/2006/relationships/notesSlide" Target="/ppt/notesSlides/notesSlide5.xml" Id="R44748a98846b43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f2bc2ece95c54da9" /><Relationship Type="http://schemas.openxmlformats.org/officeDocument/2006/relationships/chart" Target="/ppt/slides/charts/chart2.xml" Id="R1e74529dde57494d" /><Relationship Type="http://schemas.openxmlformats.org/officeDocument/2006/relationships/notesSlide" Target="/ppt/notesSlides/notesSlide6.xml" Id="R349783dce8a445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c3d15062a4f743b0" /><Relationship Type="http://schemas.openxmlformats.org/officeDocument/2006/relationships/notesSlide" Target="/ppt/notesSlides/notesSlide7.xml" Id="Rdf3cd77394ef42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5418ff35c915467c" /><Relationship Type="http://schemas.openxmlformats.org/officeDocument/2006/relationships/notesSlide" Target="/ppt/notesSlides/notesSlide8.xml" Id="Refd16a11b2164d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f5a8bacca62b41a7" /><Relationship Type="http://schemas.openxmlformats.org/officeDocument/2006/relationships/notesSlide" Target="/ppt/notesSlides/notesSlide9.xml" Id="R9c135c4f76e743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7c86a8b8c6bc4bad" /><Relationship Type="http://schemas.openxmlformats.org/officeDocument/2006/relationships/notesSlide" Target="/ppt/notesSlides/notesSlide10.xml" Id="Rcb4ed5f0d51846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9bf3d37d04074420" /><Relationship Type="http://schemas.openxmlformats.org/officeDocument/2006/relationships/image" Target="/ppt/media/image.png" Id="R7ea2c3324a5a4a40" /><Relationship Type="http://schemas.openxmlformats.org/officeDocument/2006/relationships/notesSlide" Target="/ppt/notesSlides/notesSlide11.xml" Id="R22344002dc4249b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76e87f2b462b4025" /><Relationship Type="http://schemas.openxmlformats.org/officeDocument/2006/relationships/notesSlide" Target="/ppt/notesSlides/notesSlide12.xml" Id="Rccdae978142c43a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9da2c2d4659c4b92" /><Relationship Type="http://schemas.openxmlformats.org/officeDocument/2006/relationships/notesSlide" Target="/ppt/notesSlides/notesSlide13.xml" Id="R363418bae7c34b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1ecc96ad24dd4769" /><Relationship Type="http://schemas.openxmlformats.org/officeDocument/2006/relationships/notesSlide" Target="/ppt/notesSlides/notesSlide14.xml" Id="R31c19bed1b0740c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4e73d94072c84733" /><Relationship Type="http://schemas.openxmlformats.org/officeDocument/2006/relationships/notesSlide" Target="/ppt/notesSlides/notesSlide15.xml" Id="R5f3dd1acfb844a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4686eaa83e174d52" /><Relationship Type="http://schemas.openxmlformats.org/officeDocument/2006/relationships/notesSlide" Target="/ppt/notesSlides/notesSlide16.xml" Id="R52c54f3bc7244e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49ca367bf1ef4c8f" /><Relationship Type="http://schemas.openxmlformats.org/officeDocument/2006/relationships/notesSlide" Target="/ppt/notesSlides/notesSlide17.xml" Id="R448c1d8505c54e6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99e57e8f4ea0484f" /><Relationship Type="http://schemas.openxmlformats.org/officeDocument/2006/relationships/notesSlide" Target="/ppt/notesSlides/notesSlide18.xml" Id="R6e3183e9e6eb443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42A4A"/>
                </a:solidFill>
                <a:latin typeface="Calibri"/>
                <a:ea typeface="Calibri"/>
                <a:cs typeface="Calibri"/>
              </a:rPr>
              <a:t>Failure rate by product quality</a:t>
            </a:r>
          </a:p>
        </c:rich>
      </c:tx>
      <c:overlay val="0"/>
      <c:txPr>
        <a:bodyPr xmlns:a="http://schemas.openxmlformats.org/drawingml/2006/main" anchorCtr="1"/>
        <a:lstStyle xmlns:a="http://schemas.openxmlformats.org/drawingml/2006/main"/>
        <a:p xmlns:a="http://schemas.openxmlformats.org/drawingml/2006/main">
          <a:pPr>
            <a:defRPr sz="1800" b="1">
              <a:solidFill>
                <a:srgbClr val="142A4A"/>
              </a:solidFill>
              <a:latin typeface="Calibri"/>
              <a:ea typeface="Calibri"/>
              <a:cs typeface="Calibri"/>
            </a:defRPr>
          </a:pPr>
        </a:p>
      </c:txPr>
    </c:title>
    <c:plotArea>
      <c:barChart>
        <c:barDir val="col"/>
        <c:grouping val="clustered"/>
        <c:varyColors val="0"/>
        <c:ser>
          <c:idx val="0"/>
          <c:order val="0"/>
          <c:tx>
            <c:v>Failure rate</c:v>
          </c:tx>
          <c:spPr>
            <a:solidFill xmlns:a="http://schemas.openxmlformats.org/drawingml/2006/main">
              <a:srgbClr val="2F66AD"/>
            </a:solidFill>
          </c:spPr>
          <c:cat>
            <c:strRef>
              <c:f>'Chart Data'!$A$2:$A$4</c:f>
              <c:strCache>
                <c:ptCount val="3"/>
                <c:pt idx="0">
                  <c:v>L</c:v>
                </c:pt>
                <c:pt idx="1">
                  <c:v>M</c:v>
                </c:pt>
                <c:pt idx="2">
                  <c:v>H</c:v>
                </c:pt>
              </c:strCache>
            </c:strRef>
          </c:cat>
          <c:val>
            <c:numRef>
              <c:f>'Chart Data'!$B$2:$B$4</c:f>
              <c:numCache>
                <c:formatCode>0.0%</c:formatCode>
                <c:ptCount val="3"/>
                <c:pt idx="0">
                  <c:v>0.0391666667</c:v>
                </c:pt>
                <c:pt idx="1">
                  <c:v>0.027694361</c:v>
                </c:pt>
                <c:pt idx="2">
                  <c:v>0.0209371884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b="1">
                  <a:solidFill>
                    <a:srgbClr val="142A4A"/>
                  </a:solidFill>
                  <a:latin typeface="Calibri"/>
                  <a:ea typeface="Calibri"/>
                  <a:cs typeface="Calibri"/>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6668">
            <a:solidFill>
              <a:srgbClr val="D2DCE6"/>
            </a:solidFill>
          </a:ln>
        </c:spPr>
        <c:txPr>
          <a:bodyPr xmlns:a="http://schemas.openxmlformats.org/drawingml/2006/main" anchorCtr="1"/>
          <a:lstStyle xmlns:a="http://schemas.openxmlformats.org/drawingml/2006/main"/>
          <a:p xmlns:a="http://schemas.openxmlformats.org/drawingml/2006/main">
            <a:pPr>
              <a:defRPr sz="1275">
                <a:solidFill>
                  <a:srgbClr val="232323"/>
                </a:solidFill>
                <a:latin typeface="Calibri"/>
                <a:ea typeface="Calibri"/>
                <a:cs typeface="Calibri"/>
              </a:defRPr>
            </a:pPr>
          </a:p>
        </c:txPr>
        <c:crossAx val="48672768"/>
      </c:catAx>
      <c:valAx>
        <c:axId val="48672768"/>
        <c:scaling>
          <c:orientation val="minMax"/>
          <c:max val="0.05"/>
          <c:min val="0"/>
        </c:scaling>
        <c:delete val="0"/>
        <c:axPos val="l"/>
        <c:majorGridlines>
          <c:spPr>
            <a:ln xmlns:a="http://schemas.openxmlformats.org/drawingml/2006/main" w="5715">
              <a:solidFill>
                <a:srgbClr val="D2DCE6"/>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64696E"/>
                </a:solidFill>
                <a:latin typeface="Calibri"/>
                <a:ea typeface="Calibri"/>
                <a:cs typeface="Calibri"/>
              </a:defRPr>
            </a:pPr>
          </a:p>
        </c:txPr>
        <c:crossAx val="48650112"/>
        <c:crossBetween val="between"/>
        <c:majorUnit val="0.01"/>
      </c:valAx>
      <c:spPr>
        <a:solidFill xmlns:a="http://schemas.openxmlformats.org/drawingml/2006/main">
          <a:srgbClr val="F2F6FA"/>
        </a:solidFill>
      </c:spPr>
    </c:plotArea>
    <c:plotVisOnly val="1"/>
  </c:chart>
  <c:spPr>
    <a:solidFill xmlns:a="http://schemas.openxmlformats.org/drawingml/2006/main">
      <a:srgbClr val="F2F6F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42A4A"/>
                </a:solidFill>
                <a:latin typeface="Calibri"/>
                <a:ea typeface="Calibri"/>
                <a:cs typeface="Calibri"/>
              </a:rPr>
              <a:t>Failure detection trade-off</a:t>
            </a:r>
          </a:p>
        </c:rich>
      </c:tx>
      <c:overlay val="0"/>
      <c:txPr>
        <a:bodyPr xmlns:a="http://schemas.openxmlformats.org/drawingml/2006/main" anchorCtr="1"/>
        <a:lstStyle xmlns:a="http://schemas.openxmlformats.org/drawingml/2006/main"/>
        <a:p xmlns:a="http://schemas.openxmlformats.org/drawingml/2006/main">
          <a:pPr>
            <a:defRPr sz="1800" b="1">
              <a:solidFill>
                <a:srgbClr val="142A4A"/>
              </a:solidFill>
              <a:latin typeface="Calibri"/>
              <a:ea typeface="Calibri"/>
              <a:cs typeface="Calibri"/>
            </a:defRPr>
          </a:pPr>
        </a:p>
      </c:txPr>
    </c:title>
    <c:plotArea>
      <c:barChart>
        <c:barDir val="col"/>
        <c:grouping val="clustered"/>
        <c:varyColors val="0"/>
        <c:ser>
          <c:idx val="0"/>
          <c:order val="0"/>
          <c:tx>
            <c:v>Random Forest</c:v>
          </c:tx>
          <c:spPr>
            <a:solidFill xmlns:a="http://schemas.openxmlformats.org/drawingml/2006/main">
              <a:srgbClr val="2F66AD"/>
            </a:solidFill>
          </c:spPr>
          <c:cat>
            <c:strRef>
              <c:f>'Chart Data'!$A$2:$A$4</c:f>
              <c:strCache>
                <c:ptCount val="3"/>
                <c:pt idx="0">
                  <c:v>Precision</c:v>
                </c:pt>
                <c:pt idx="1">
                  <c:v>Recall</c:v>
                </c:pt>
                <c:pt idx="2">
                  <c:v>F1</c:v>
                </c:pt>
              </c:strCache>
            </c:strRef>
          </c:cat>
          <c:val>
            <c:numRef>
              <c:f>'Chart Data'!$B$2:$B$4</c:f>
              <c:numCache>
                <c:formatCode>0%</c:formatCode>
                <c:ptCount val="3"/>
                <c:pt idx="0">
                  <c:v>0.9166666667</c:v>
                </c:pt>
                <c:pt idx="1">
                  <c:v>0.8088235294</c:v>
                </c:pt>
                <c:pt idx="2">
                  <c:v>0.859375</c:v>
                </c:pt>
              </c:numCache>
            </c:numRef>
          </c:val>
        </c:ser>
        <c:ser>
          <c:idx val="1"/>
          <c:order val="1"/>
          <c:tx>
            <c:v>XGBoost</c:v>
          </c:tx>
          <c:spPr>
            <a:solidFill xmlns:a="http://schemas.openxmlformats.org/drawingml/2006/main">
              <a:srgbClr val="142A4A"/>
            </a:solidFill>
          </c:spPr>
          <c:cat>
            <c:strRef>
              <c:f>'Chart Data'!$C$2:$C$4</c:f>
              <c:strCache>
                <c:ptCount val="3"/>
                <c:pt idx="0">
                  <c:v>Precision</c:v>
                </c:pt>
                <c:pt idx="1">
                  <c:v>Recall</c:v>
                </c:pt>
                <c:pt idx="2">
                  <c:v>F1</c:v>
                </c:pt>
              </c:strCache>
            </c:strRef>
          </c:cat>
          <c:val>
            <c:numRef>
              <c:f>'Chart Data'!$D$2:$D$4</c:f>
              <c:numCache>
                <c:formatCode>0%</c:formatCode>
                <c:ptCount val="3"/>
                <c:pt idx="0">
                  <c:v>0.75</c:v>
                </c:pt>
                <c:pt idx="1">
                  <c:v>0.8382352941</c:v>
                </c:pt>
                <c:pt idx="2">
                  <c:v>0.7916666667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b="1">
                  <a:solidFill>
                    <a:srgbClr val="142A4A"/>
                  </a:solidFill>
                  <a:latin typeface="Calibri"/>
                  <a:ea typeface="Calibri"/>
                  <a:cs typeface="Calibri"/>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6668">
            <a:solidFill>
              <a:srgbClr val="D2DCE6"/>
            </a:solidFill>
          </a:ln>
        </c:spPr>
        <c:txPr>
          <a:bodyPr xmlns:a="http://schemas.openxmlformats.org/drawingml/2006/main" anchorCtr="1"/>
          <a:lstStyle xmlns:a="http://schemas.openxmlformats.org/drawingml/2006/main"/>
          <a:p xmlns:a="http://schemas.openxmlformats.org/drawingml/2006/main">
            <a:pPr>
              <a:defRPr sz="1275">
                <a:solidFill>
                  <a:srgbClr val="232323"/>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5715">
              <a:solidFill>
                <a:srgbClr val="D2DCE6"/>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64696E"/>
                </a:solidFill>
                <a:latin typeface="Calibri"/>
                <a:ea typeface="Calibri"/>
                <a:cs typeface="Calibri"/>
              </a:defRPr>
            </a:pPr>
          </a:p>
        </c:txPr>
        <c:crossAx val="48650112"/>
        <c:crossBetween val="between"/>
        <c:majorUnit val="0.2"/>
      </c:valAx>
      <c:spPr>
        <a:solidFill xmlns:a="http://schemas.openxmlformats.org/drawingml/2006/main">
          <a:srgbClr val="F2F6FA"/>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32323"/>
              </a:solidFill>
              <a:latin typeface="Calibri"/>
              <a:ea typeface="Calibri"/>
              <a:cs typeface="Calibri"/>
            </a:defRPr>
          </a:pPr>
        </a:p>
      </c:txPr>
    </c:legend>
    <c:plotVisOnly val="1"/>
  </c:chart>
  <c:spPr>
    <a:solidFill xmlns:a="http://schemas.openxmlformats.org/drawingml/2006/main">
      <a:srgbClr val="F2F6F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94E5CAB-4B01-4CFD-AD85-00EC81E4A1B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678C19E4-FDAA-4518-9357-D49395E93FBF}"/>
              </a:ext>
            </a:extLst>
          </p:cNvPr>
          <p:cNvSpPr>
            <a:spLocks xmlns:a="http://schemas.openxmlformats.org/drawingml/2006/main" noGrp="1"/>
          </p:cNvSpPr>
          <p:nvPr/>
        </p:nvSpPr>
        <p:spPr>
          <a:xfrm xmlns:a="http://schemas.openxmlformats.org/drawingml/2006/main">
            <a:off x="914400" y="1463040"/>
            <a:ext cx="8777467" cy="234936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3400" b="1">
                <a:solidFill>
                  <a:srgbClr val="FFFFFF"/>
                </a:solidFill>
              </a:defRPr>
            </a:pPr>
            <a:r>
              <a:t>Agentic Digital Twin for Predictive Maintenance</a:t>
            </a:r>
          </a:p>
          <a:p xmlns:a="http://schemas.openxmlformats.org/drawingml/2006/main">
            <a:pPr>
              <a:buNone/>
              <a:defRPr sz="2500">
                <a:solidFill>
                  <a:srgbClr val="FFFFFF"/>
                </a:solidFill>
              </a:defRPr>
            </a:pPr>
            <a:r>
              <a:t>in Manufacturing Using Machine Learning and Generative AI</a:t>
            </a:r>
          </a:p>
          <a:p xmlns:a="http://schemas.openxmlformats.org/drawingml/2006/main">
            <a:pPr>
              <a:spcBef>
                <a:spcPts val="2000"/>
              </a:spcBef>
              <a:buNone/>
              <a:defRPr sz="1700">
                <a:solidFill>
                  <a:srgbClr val="D2E1F0"/>
                </a:solidFill>
              </a:defRPr>
            </a:pPr>
            <a:r>
              <a:t>CS 582 Machine Learning </a:t>
            </a:r>
          </a:p>
          <a:p xmlns:a="http://schemas.openxmlformats.org/drawingml/2006/main">
            <a:pPr>
              <a:buNone/>
              <a:defRPr sz="1500">
                <a:solidFill>
                  <a:srgbClr val="D2E1F0"/>
                </a:solidFill>
              </a:defRPr>
            </a:pPr>
            <a:r>
              <a:t>Dataset: AI4I 2020 Predictive Maintenance Dataset (UCI)</a:t>
            </a:r>
            <a:endParaRPr/>
          </a:p>
          <a:p xmlns:a="http://schemas.openxmlformats.org/drawingml/2006/main">
            <a:pPr>
              <a:buNone/>
              <a:defRPr sz="1500">
                <a:solidFill>
                  <a:srgbClr val="D2E1F0"/>
                </a:solidFill>
              </a:defRPr>
            </a:pPr>
            <a:endParaRPr/>
          </a:p>
          <a:p xmlns:a="http://schemas.openxmlformats.org/drawingml/2006/main">
            <a:pPr algn="ctr">
              <a:buNone/>
              <a:defRPr sz="1500">
                <a:solidFill>
                  <a:srgbClr val="D2E1F0"/>
                </a:solidFill>
              </a:defRPr>
            </a:pPr>
            <a:r>
              <a:rPr sz="2400"/>
              <a:t>Team 15</a:t>
            </a:r>
            <a:endParaRPr sz="2400"/>
          </a:p>
        </p:txBody>
      </p:sp>
    </p:spTree>
    <p:extLst>
      <p:ext uri="{BB962C8B-B14F-4D97-AF65-F5344CB8AC3E}">
        <p14:creationId xmlns:p14="http://schemas.microsoft.com/office/powerpoint/2010/main" val="172230402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F9133D2-A487-482F-BE42-D2594541439C}"/>
              </a:ext>
            </a:extLst>
          </p:cNvPr>
          <p:cNvSpPr>
            <a:spLocks xmlns:a="http://schemas.openxmlformats.org/drawingml/2006/main" noGrp="1"/>
          </p:cNvSpPr>
          <p:nvPr/>
        </p:nvSpPr>
        <p:spPr>
          <a:xfrm xmlns:a="http://schemas.openxmlformats.org/drawingml/2006/main">
            <a:off x="640080" y="411480"/>
            <a:ext cx="7559993"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Maintenance problem and project objective</a:t>
            </a:r>
          </a:p>
        </p:txBody>
      </p:sp>
      <p:sp>
        <p:nvSpPr>
          <p:cNvPr id="3" name="Rounded Rectangle 2">
            <a:extLst xmlns:a="http://schemas.openxmlformats.org/drawingml/2006/main">
              <a:ext uri="{FF2B5EF4-FFF2-40B4-BE49-F238E27FC236}">
                <a16:creationId xmlns:a16="http://schemas.microsoft.com/office/drawing/2014/main" id="{5EE02329-3BE5-43A5-AE4A-C8C9BFC6FBD2}"/>
              </a:ext>
            </a:extLst>
          </p:cNvPr>
          <p:cNvSpPr>
            <a:spLocks xmlns:a="http://schemas.openxmlformats.org/drawingml/2006/main" noGrp="1"/>
          </p:cNvSpPr>
          <p:nvPr/>
        </p:nvSpPr>
        <p:spPr>
          <a:xfrm xmlns:a="http://schemas.openxmlformats.org/drawingml/2006/main">
            <a:off x="640080" y="1325880"/>
            <a:ext cx="3474720" cy="182880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34DF9013-1D74-4834-B79E-B2FB0AAED69C}"/>
              </a:ext>
            </a:extLst>
          </p:cNvPr>
          <p:cNvSpPr>
            <a:spLocks xmlns:a="http://schemas.openxmlformats.org/drawingml/2006/main" noGrp="1"/>
          </p:cNvSpPr>
          <p:nvPr/>
        </p:nvSpPr>
        <p:spPr>
          <a:xfrm xmlns:a="http://schemas.openxmlformats.org/drawingml/2006/main">
            <a:off x="822959" y="1463039"/>
            <a:ext cx="2359343"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800" b="1">
                <a:solidFill>
                  <a:srgbClr val="142A4A"/>
                </a:solidFill>
                <a:latin typeface="Calibri"/>
                <a:ea typeface="Calibri"/>
                <a:cs typeface="Calibri"/>
              </a:defRPr>
            </a:defPPr>
          </a:lstStyle>
          <a:p xmlns:a="http://schemas.openxmlformats.org/drawingml/2006/main">
            <a:pPr>
              <a:buNone/>
              <a:defRPr sz="1800" b="1">
                <a:solidFill>
                  <a:srgbClr val="142A4A"/>
                </a:solidFill>
                <a:latin typeface="Calibri"/>
                <a:ea typeface="Calibri"/>
                <a:cs typeface="Calibri"/>
              </a:defRPr>
            </a:pPr>
            <a:r>
              <a:rPr sz="1800" b="1">
                <a:solidFill>
                  <a:srgbClr val="142A4A"/>
                </a:solidFill>
                <a:latin typeface="Calibri"/>
                <a:ea typeface="Calibri"/>
                <a:cs typeface="Calibri"/>
              </a:rPr>
              <a:t>Unexpected failures</a:t>
            </a:r>
          </a:p>
        </p:txBody>
      </p:sp>
      <p:sp>
        <p:nvSpPr>
          <p:cNvPr id="5" name="TextBox 4">
            <a:extLst xmlns:a="http://schemas.openxmlformats.org/drawingml/2006/main">
              <a:ext uri="{FF2B5EF4-FFF2-40B4-BE49-F238E27FC236}">
                <a16:creationId xmlns:a16="http://schemas.microsoft.com/office/drawing/2014/main" id="{C105A2B5-BECE-4F87-B563-51B9C40587F7}"/>
              </a:ext>
            </a:extLst>
          </p:cNvPr>
          <p:cNvSpPr>
            <a:spLocks xmlns:a="http://schemas.openxmlformats.org/drawingml/2006/main" noGrp="1"/>
          </p:cNvSpPr>
          <p:nvPr/>
        </p:nvSpPr>
        <p:spPr>
          <a:xfrm xmlns:a="http://schemas.openxmlformats.org/drawingml/2006/main">
            <a:off x="822959" y="1965960"/>
            <a:ext cx="3108960" cy="1047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Machine failures can disrupt production. Operators need support interpreting operating conditions.</a:t>
            </a:r>
            <a:endParaRPr/>
          </a:p>
        </p:txBody>
      </p:sp>
      <p:sp>
        <p:nvSpPr>
          <p:cNvPr id="6" name="Rounded Rectangle 5">
            <a:extLst xmlns:a="http://schemas.openxmlformats.org/drawingml/2006/main">
              <a:ext uri="{FF2B5EF4-FFF2-40B4-BE49-F238E27FC236}">
                <a16:creationId xmlns:a16="http://schemas.microsoft.com/office/drawing/2014/main" id="{639BA3B7-C144-4BD5-A0DF-D329B0E805B9}"/>
              </a:ext>
            </a:extLst>
          </p:cNvPr>
          <p:cNvSpPr>
            <a:spLocks xmlns:a="http://schemas.openxmlformats.org/drawingml/2006/main" noGrp="1"/>
          </p:cNvSpPr>
          <p:nvPr/>
        </p:nvSpPr>
        <p:spPr>
          <a:xfrm xmlns:a="http://schemas.openxmlformats.org/drawingml/2006/main">
            <a:off x="4343400" y="1325880"/>
            <a:ext cx="3474720" cy="182880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CCBC4E0-CBAF-4EF0-AFE4-6E057F0A60AC}"/>
              </a:ext>
            </a:extLst>
          </p:cNvPr>
          <p:cNvSpPr>
            <a:spLocks xmlns:a="http://schemas.openxmlformats.org/drawingml/2006/main" noGrp="1"/>
          </p:cNvSpPr>
          <p:nvPr/>
        </p:nvSpPr>
        <p:spPr>
          <a:xfrm xmlns:a="http://schemas.openxmlformats.org/drawingml/2006/main">
            <a:off x="4526280" y="1463039"/>
            <a:ext cx="2626043"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800" b="1">
                <a:solidFill>
                  <a:srgbClr val="142A4A"/>
                </a:solidFill>
                <a:latin typeface="Calibri"/>
                <a:ea typeface="Calibri"/>
                <a:cs typeface="Calibri"/>
              </a:defRPr>
            </a:defPPr>
          </a:lstStyle>
          <a:p xmlns:a="http://schemas.openxmlformats.org/drawingml/2006/main">
            <a:pPr>
              <a:buNone/>
              <a:defRPr sz="1800" b="1">
                <a:solidFill>
                  <a:srgbClr val="142A4A"/>
                </a:solidFill>
                <a:latin typeface="Calibri"/>
                <a:ea typeface="Calibri"/>
                <a:cs typeface="Calibri"/>
              </a:defRPr>
            </a:pPr>
            <a:r>
              <a:rPr sz="1800" b="1">
                <a:solidFill>
                  <a:srgbClr val="142A4A"/>
                </a:solidFill>
                <a:latin typeface="Calibri"/>
                <a:ea typeface="Calibri"/>
                <a:cs typeface="Calibri"/>
              </a:rPr>
              <a:t>Reading interpretation</a:t>
            </a:r>
          </a:p>
        </p:txBody>
      </p:sp>
      <p:sp>
        <p:nvSpPr>
          <p:cNvPr id="8" name="TextBox 7">
            <a:extLst xmlns:a="http://schemas.openxmlformats.org/drawingml/2006/main">
              <a:ext uri="{FF2B5EF4-FFF2-40B4-BE49-F238E27FC236}">
                <a16:creationId xmlns:a16="http://schemas.microsoft.com/office/drawing/2014/main" id="{C30B20A4-57A8-4648-A0DF-FA8DD855DB2E}"/>
              </a:ext>
            </a:extLst>
          </p:cNvPr>
          <p:cNvSpPr>
            <a:spLocks xmlns:a="http://schemas.openxmlformats.org/drawingml/2006/main" noGrp="1"/>
          </p:cNvSpPr>
          <p:nvPr/>
        </p:nvSpPr>
        <p:spPr>
          <a:xfrm xmlns:a="http://schemas.openxmlformats.org/drawingml/2006/main">
            <a:off x="4526280" y="1965960"/>
            <a:ext cx="3108960" cy="1047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A prediction alone does not explain the evaluated readings or a requested operating scenario.</a:t>
            </a:r>
            <a:endParaRPr/>
          </a:p>
        </p:txBody>
      </p:sp>
      <p:sp>
        <p:nvSpPr>
          <p:cNvPr id="9" name="Rounded Rectangle 8">
            <a:extLst xmlns:a="http://schemas.openxmlformats.org/drawingml/2006/main">
              <a:ext uri="{FF2B5EF4-FFF2-40B4-BE49-F238E27FC236}">
                <a16:creationId xmlns:a16="http://schemas.microsoft.com/office/drawing/2014/main" id="{1EC84C2B-7955-4772-BB79-802BE4E51BD4}"/>
              </a:ext>
            </a:extLst>
          </p:cNvPr>
          <p:cNvSpPr>
            <a:spLocks xmlns:a="http://schemas.openxmlformats.org/drawingml/2006/main" noGrp="1"/>
          </p:cNvSpPr>
          <p:nvPr/>
        </p:nvSpPr>
        <p:spPr>
          <a:xfrm xmlns:a="http://schemas.openxmlformats.org/drawingml/2006/main">
            <a:off x="8046720" y="1325880"/>
            <a:ext cx="3474720" cy="182880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A1629C3D-DF21-431E-982A-B48CD2248F5E}"/>
              </a:ext>
            </a:extLst>
          </p:cNvPr>
          <p:cNvSpPr>
            <a:spLocks xmlns:a="http://schemas.openxmlformats.org/drawingml/2006/main" noGrp="1"/>
          </p:cNvSpPr>
          <p:nvPr/>
        </p:nvSpPr>
        <p:spPr>
          <a:xfrm xmlns:a="http://schemas.openxmlformats.org/drawingml/2006/main">
            <a:off x="8229600" y="1463039"/>
            <a:ext cx="2506980"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800" b="1">
                <a:solidFill>
                  <a:srgbClr val="142A4A"/>
                </a:solidFill>
                <a:latin typeface="Calibri"/>
                <a:ea typeface="Calibri"/>
                <a:cs typeface="Calibri"/>
              </a:defRPr>
            </a:defPPr>
          </a:lstStyle>
          <a:p xmlns:a="http://schemas.openxmlformats.org/drawingml/2006/main">
            <a:pPr>
              <a:buNone/>
              <a:defRPr sz="1800" b="1">
                <a:solidFill>
                  <a:srgbClr val="142A4A"/>
                </a:solidFill>
                <a:latin typeface="Calibri"/>
                <a:ea typeface="Calibri"/>
                <a:cs typeface="Calibri"/>
              </a:defRPr>
            </a:pPr>
            <a:r>
              <a:rPr sz="1800" b="1">
                <a:solidFill>
                  <a:srgbClr val="142A4A"/>
                </a:solidFill>
                <a:latin typeface="Calibri"/>
                <a:ea typeface="Calibri"/>
                <a:cs typeface="Calibri"/>
              </a:rPr>
              <a:t>Scenario comparison</a:t>
            </a:r>
          </a:p>
        </p:txBody>
      </p:sp>
      <p:sp>
        <p:nvSpPr>
          <p:cNvPr id="11" name="TextBox 10">
            <a:extLst xmlns:a="http://schemas.openxmlformats.org/drawingml/2006/main">
              <a:ext uri="{FF2B5EF4-FFF2-40B4-BE49-F238E27FC236}">
                <a16:creationId xmlns:a16="http://schemas.microsoft.com/office/drawing/2014/main" id="{71CEDB39-2756-43FB-9979-F71EB95E8946}"/>
              </a:ext>
            </a:extLst>
          </p:cNvPr>
          <p:cNvSpPr>
            <a:spLocks xmlns:a="http://schemas.openxmlformats.org/drawingml/2006/main" noGrp="1"/>
          </p:cNvSpPr>
          <p:nvPr/>
        </p:nvSpPr>
        <p:spPr>
          <a:xfrm xmlns:a="http://schemas.openxmlformats.org/drawingml/2006/main">
            <a:off x="8229600" y="1965960"/>
            <a:ext cx="3108960" cy="1047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Engineers need a way to compare hypothetical inputs while preserving the original machine state.</a:t>
            </a:r>
            <a:endParaRPr/>
          </a:p>
        </p:txBody>
      </p:sp>
      <p:sp>
        <p:nvSpPr>
          <p:cNvPr id="12" name="TextBox 11">
            <a:extLst xmlns:a="http://schemas.openxmlformats.org/drawingml/2006/main">
              <a:ext uri="{FF2B5EF4-FFF2-40B4-BE49-F238E27FC236}">
                <a16:creationId xmlns:a16="http://schemas.microsoft.com/office/drawing/2014/main" id="{812F3B2C-E0BC-428A-9EDA-6D860C1037F2}"/>
              </a:ext>
            </a:extLst>
          </p:cNvPr>
          <p:cNvSpPr>
            <a:spLocks xmlns:a="http://schemas.openxmlformats.org/drawingml/2006/main" noGrp="1"/>
          </p:cNvSpPr>
          <p:nvPr/>
        </p:nvSpPr>
        <p:spPr>
          <a:xfrm xmlns:a="http://schemas.openxmlformats.org/drawingml/2006/main">
            <a:off x="822960" y="3794760"/>
            <a:ext cx="10477500" cy="16192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000" b="0">
                <a:solidFill>
                  <a:srgbClr val="142A4A"/>
                </a:solidFill>
                <a:latin typeface="Calibri"/>
                <a:ea typeface="Calibri"/>
                <a:cs typeface="Calibri"/>
              </a:defRPr>
            </a:defPPr>
          </a:lstStyle>
          <a:p xmlns:a="http://schemas.openxmlformats.org/drawingml/2006/main">
            <a:pPr algn="l">
              <a:spcAft>
                <a:spcPts val="1000"/>
              </a:spcAft>
              <a:buNone/>
              <a:defRPr sz="2000" b="0">
                <a:solidFill>
                  <a:srgbClr val="142A4A"/>
                </a:solidFill>
                <a:latin typeface="Calibri"/>
                <a:ea typeface="Calibri"/>
                <a:cs typeface="Calibri"/>
              </a:defRPr>
            </a:pPr>
            <a:r>
              <a:rPr sz="2000" b="0">
                <a:solidFill>
                  <a:srgbClr val="142A4A"/>
                </a:solidFill>
                <a:latin typeface="Calibri"/>
                <a:ea typeface="Calibri"/>
                <a:cs typeface="Calibri"/>
              </a:rPr>
              <a:t>Project objective</a:t>
            </a:r>
          </a:p>
          <a:p xmlns:a="http://schemas.openxmlformats.org/drawingml/2006/main">
            <a:pPr algn="l">
              <a:spcAft>
                <a:spcPts val="1000"/>
              </a:spcAft>
              <a:buNone/>
              <a:defRPr sz="2000" b="0">
                <a:solidFill>
                  <a:srgbClr val="142A4A"/>
                </a:solidFill>
                <a:latin typeface="Calibri"/>
                <a:ea typeface="Calibri"/>
                <a:cs typeface="Calibri"/>
              </a:defRPr>
            </a:pPr>
            <a:r>
              <a:rPr sz="2000" b="0">
                <a:solidFill>
                  <a:srgbClr val="142A4A"/>
                </a:solidFill>
                <a:latin typeface="Calibri"/>
                <a:ea typeface="Calibri"/>
                <a:cs typeface="Calibri"/>
              </a:rPr>
              <a:t>Connect a failure classifier to a virtual machine state and a tool-using copilot for evidence-based questions and scenario comparisons.</a:t>
            </a:r>
          </a:p>
        </p:txBody>
      </p:sp>
      <p:sp>
        <p:nvSpPr>
          <p:cNvPr id="13" name="Rectangle 12">
            <a:extLst xmlns:a="http://schemas.openxmlformats.org/drawingml/2006/main">
              <a:ext uri="{FF2B5EF4-FFF2-40B4-BE49-F238E27FC236}">
                <a16:creationId xmlns:a16="http://schemas.microsoft.com/office/drawing/2014/main" id="{CCFDE763-CC30-42D6-8732-7A4BB8CC2B87}"/>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F3715F67-1EF9-4160-BDE1-5F4DED833A07}"/>
              </a:ext>
            </a:extLst>
          </p:cNvPr>
          <p:cNvSpPr>
            <a:spLocks xmlns:a="http://schemas.openxmlformats.org/drawingml/2006/main" noGrp="1"/>
          </p:cNvSpPr>
          <p:nvPr/>
        </p:nvSpPr>
        <p:spPr>
          <a:xfrm xmlns:a="http://schemas.openxmlformats.org/drawingml/2006/main">
            <a:off x="11247120" y="6400800"/>
            <a:ext cx="69850"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2</a:t>
            </a:r>
          </a:p>
        </p:txBody>
      </p:sp>
    </p:spTree>
    <p:extLst>
      <p:ext uri="{BB962C8B-B14F-4D97-AF65-F5344CB8AC3E}">
        <p14:creationId xmlns:p14="http://schemas.microsoft.com/office/powerpoint/2010/main" val="179547152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A8EEE2F-962F-4768-A040-8AD167439A55}"/>
              </a:ext>
            </a:extLst>
          </p:cNvPr>
          <p:cNvSpPr>
            <a:spLocks xmlns:a="http://schemas.openxmlformats.org/drawingml/2006/main" noGrp="1"/>
          </p:cNvSpPr>
          <p:nvPr/>
        </p:nvSpPr>
        <p:spPr>
          <a:xfrm xmlns:a="http://schemas.openxmlformats.org/drawingml/2006/main">
            <a:off x="640080" y="411480"/>
            <a:ext cx="6742430"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AI4I 2020 dataset and prediction target</a:t>
            </a:r>
          </a:p>
        </p:txBody>
      </p:sp>
      <p:sp>
        <p:nvSpPr>
          <p:cNvPr id="4" name="Rounded Rectangle 3">
            <a:extLst xmlns:a="http://schemas.openxmlformats.org/drawingml/2006/main">
              <a:ext uri="{FF2B5EF4-FFF2-40B4-BE49-F238E27FC236}">
                <a16:creationId xmlns:a16="http://schemas.microsoft.com/office/drawing/2014/main" id="{3E763294-75C9-4451-B00B-B2A8F267D6FA}"/>
              </a:ext>
            </a:extLst>
          </p:cNvPr>
          <p:cNvSpPr>
            <a:spLocks xmlns:a="http://schemas.openxmlformats.org/drawingml/2006/main" noGrp="1"/>
          </p:cNvSpPr>
          <p:nvPr/>
        </p:nvSpPr>
        <p:spPr>
          <a:xfrm xmlns:a="http://schemas.openxmlformats.org/drawingml/2006/main">
            <a:off x="594360" y="1417320"/>
            <a:ext cx="5212080" cy="4480560"/>
          </a:xfrm>
          <a:prstGeom xmlns:a="http://schemas.openxmlformats.org/drawingml/2006/main" prst="roundRect">
            <a:avLst/>
          </a:prstGeom>
          <a:solidFill xmlns:a="http://schemas.openxmlformats.org/drawingml/2006/main">
            <a:srgbClr val="F2F6FA"/>
          </a:solidFill>
          <a:ln xmlns:a="http://schemas.openxmlformats.org/drawingml/2006/main">
            <a:solidFill>
              <a:srgbClr val="D7E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Rounded Rectangle 16">
            <a:extLst xmlns:a="http://schemas.openxmlformats.org/drawingml/2006/main">
              <a:ext uri="{FF2B5EF4-FFF2-40B4-BE49-F238E27FC236}">
                <a16:creationId xmlns:a16="http://schemas.microsoft.com/office/drawing/2014/main" id="{C0D3394F-C844-4432-8091-A5858FA25F7A}"/>
              </a:ext>
            </a:extLst>
          </p:cNvPr>
          <p:cNvSpPr>
            <a:spLocks xmlns:a="http://schemas.openxmlformats.org/drawingml/2006/main" noGrp="1"/>
          </p:cNvSpPr>
          <p:nvPr/>
        </p:nvSpPr>
        <p:spPr>
          <a:xfrm xmlns:a="http://schemas.openxmlformats.org/drawingml/2006/main">
            <a:off x="6080760" y="1417320"/>
            <a:ext cx="5486400" cy="2057400"/>
          </a:xfrm>
          <a:prstGeom xmlns:a="http://schemas.openxmlformats.org/drawingml/2006/main" prst="roundRect">
            <a:avLst/>
          </a:prstGeom>
          <a:solidFill xmlns:a="http://schemas.openxmlformats.org/drawingml/2006/main">
            <a:srgbClr val="F2F6FA"/>
          </a:solidFill>
          <a:ln xmlns:a="http://schemas.openxmlformats.org/drawingml/2006/main">
            <a:solidFill>
              <a:srgbClr val="D7E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Rounded Rectangle 27">
            <a:extLst xmlns:a="http://schemas.openxmlformats.org/drawingml/2006/main">
              <a:ext uri="{FF2B5EF4-FFF2-40B4-BE49-F238E27FC236}">
                <a16:creationId xmlns:a16="http://schemas.microsoft.com/office/drawing/2014/main" id="{6AD84EB8-74FF-4049-A87C-8C5FC0CB5FF5}"/>
              </a:ext>
            </a:extLst>
          </p:cNvPr>
          <p:cNvSpPr>
            <a:spLocks xmlns:a="http://schemas.openxmlformats.org/drawingml/2006/main" noGrp="1"/>
          </p:cNvSpPr>
          <p:nvPr/>
        </p:nvSpPr>
        <p:spPr>
          <a:xfrm xmlns:a="http://schemas.openxmlformats.org/drawingml/2006/main">
            <a:off x="6080760" y="3703320"/>
            <a:ext cx="5486400" cy="2194560"/>
          </a:xfrm>
          <a:prstGeom xmlns:a="http://schemas.openxmlformats.org/drawingml/2006/main" prst="roundRect">
            <a:avLst/>
          </a:prstGeom>
          <a:solidFill xmlns:a="http://schemas.openxmlformats.org/drawingml/2006/main">
            <a:srgbClr val="F2F6FA"/>
          </a:solidFill>
          <a:ln xmlns:a="http://schemas.openxmlformats.org/drawingml/2006/main">
            <a:solidFill>
              <a:srgbClr val="D7E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Rectangle 39">
            <a:extLst xmlns:a="http://schemas.openxmlformats.org/drawingml/2006/main">
              <a:ext uri="{FF2B5EF4-FFF2-40B4-BE49-F238E27FC236}">
                <a16:creationId xmlns:a16="http://schemas.microsoft.com/office/drawing/2014/main" id="{C1144C59-1DBE-4E3B-92B3-0E9478A8D6CD}"/>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Synthetic manufacturing observations">
            <a:extLst xmlns:a="http://schemas.openxmlformats.org/drawingml/2006/main">
              <a:ext uri="{FF2B5EF4-FFF2-40B4-BE49-F238E27FC236}">
                <a16:creationId xmlns:a16="http://schemas.microsoft.com/office/drawing/2014/main" id="{C5FABD80-B831-4B09-B0BE-C1664AD1039A}"/>
              </a:ext>
            </a:extLst>
          </p:cNvPr>
          <p:cNvSpPr>
            <a:spLocks xmlns:a="http://schemas.openxmlformats.org/drawingml/2006/main" noGrp="1"/>
          </p:cNvSpPr>
          <p:nvPr/>
        </p:nvSpPr>
        <p:spPr>
          <a:xfrm xmlns:a="http://schemas.openxmlformats.org/drawingml/2006/main">
            <a:off x="640080" y="10287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4696E"/>
                </a:solidFill>
                <a:latin typeface="Calibri"/>
                <a:ea typeface="Calibri"/>
                <a:cs typeface="Calibri"/>
              </a:defRPr>
            </a:defPPr>
          </a:lstStyle>
          <a:p xmlns:a="http://schemas.openxmlformats.org/drawingml/2006/main">
            <a:pPr algn="l">
              <a:defRPr sz="1500" b="0">
                <a:solidFill>
                  <a:srgbClr val="64696E"/>
                </a:solidFill>
                <a:latin typeface="Calibri"/>
                <a:ea typeface="Calibri"/>
                <a:cs typeface="Calibri"/>
              </a:defRPr>
            </a:pPr>
            <a:r>
              <a:rPr sz="1500" b="0">
                <a:solidFill>
                  <a:srgbClr val="64696E"/>
                </a:solidFill>
                <a:latin typeface="Calibri"/>
                <a:ea typeface="Calibri"/>
                <a:cs typeface="Calibri"/>
              </a:rPr>
              <a:t>Synthetic manufacturing observations</a:t>
            </a:r>
          </a:p>
        </p:txBody>
      </p:sp>
      <p:sp>
        <p:nvSpPr>
          <p:cNvPr id="42" name="Dataset statistics">
            <a:extLst xmlns:a="http://schemas.openxmlformats.org/drawingml/2006/main">
              <a:ext uri="{FF2B5EF4-FFF2-40B4-BE49-F238E27FC236}">
                <a16:creationId xmlns:a16="http://schemas.microsoft.com/office/drawing/2014/main" id="{2B079E1B-262F-4FB1-BF71-4CCAC411BDA2}"/>
              </a:ext>
            </a:extLst>
          </p:cNvPr>
          <p:cNvSpPr>
            <a:spLocks xmlns:a="http://schemas.openxmlformats.org/drawingml/2006/main" noGrp="1"/>
          </p:cNvSpPr>
          <p:nvPr/>
        </p:nvSpPr>
        <p:spPr>
          <a:xfrm xmlns:a="http://schemas.openxmlformats.org/drawingml/2006/main">
            <a:off x="822960" y="1628775"/>
            <a:ext cx="471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142A4A"/>
                </a:solidFill>
                <a:latin typeface="Calibri"/>
                <a:ea typeface="Calibri"/>
                <a:cs typeface="Calibri"/>
              </a:defRPr>
            </a:defPPr>
          </a:lstStyle>
          <a:p xmlns:a="http://schemas.openxmlformats.org/drawingml/2006/main">
            <a:pPr algn="l">
              <a:defRPr sz="2000" b="1">
                <a:solidFill>
                  <a:srgbClr val="142A4A"/>
                </a:solidFill>
                <a:latin typeface="Calibri"/>
                <a:ea typeface="Calibri"/>
                <a:cs typeface="Calibri"/>
              </a:defRPr>
            </a:pPr>
            <a:r>
              <a:rPr sz="2000" b="1">
                <a:solidFill>
                  <a:srgbClr val="142A4A"/>
                </a:solidFill>
                <a:latin typeface="Calibri"/>
                <a:ea typeface="Calibri"/>
                <a:cs typeface="Calibri"/>
              </a:rPr>
              <a:t>Dataset statistics</a:t>
            </a:r>
          </a:p>
        </p:txBody>
      </p:sp>
      <p:graphicFrame>
        <p:nvGraphicFramePr>
          <p:cNvPr id="43" name="">
            <a:extLst xmlns:a="http://schemas.openxmlformats.org/drawingml/2006/main">
              <a:ext uri="{FF2B5EF4-FFF2-40B4-BE49-F238E27FC236}">
                <a16:creationId xmlns:a16="http://schemas.microsoft.com/office/drawing/2014/main" id="{113D7FAA-7A7D-442D-90FC-7A39DCDB3D4B}"/>
              </a:ext>
            </a:extLst>
          </p:cNvPr>
          <p:cNvGraphicFramePr/>
          <p:nvPr/>
        </p:nvGraphicFramePr>
        <p:xfrm>
          <a:off xmlns:a="http://schemas.openxmlformats.org/drawingml/2006/main" x="857250" y="2143125"/>
          <a:ext xmlns:a="http://schemas.openxmlformats.org/drawingml/2006/main" cx="4667250" cy="2514600"/>
        </p:xfrm>
        <a:graphic xmlns:a="http://schemas.openxmlformats.org/drawingml/2006/main">
          <a:graphicData uri="http://schemas.openxmlformats.org/drawingml/2006/table">
            <a:tbl>
              <a:tblPr firstRow="0" bandRow="0"/>
              <a:tblGrid>
                <a:gridCol w="2857500"/>
                <a:gridCol w="1809750"/>
              </a:tblGrid>
              <a:tr h="419100">
                <a:tc>
                  <a:txBody>
                    <a:bodyPr/>
                    <a:lstStyle/>
                    <a:p>
                      <a:pPr algn="l"/>
                      <a:r>
                        <a:rPr sz="1500" b="1">
                          <a:solidFill>
                            <a:srgbClr val="FFFFFF"/>
                          </a:solidFill>
                          <a:latin typeface="Calibri"/>
                          <a:ea typeface="Calibri"/>
                          <a:cs typeface="Calibri"/>
                        </a:rPr>
                        <a:t>Measure</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Value</a:t>
                      </a:r>
                    </a:p>
                  </a:txBody>
                  <a:tcPr marL="95250" marR="95250" marT="76200" marB="76200" anchor="ctr">
                    <a:solidFill>
                      <a:srgbClr val="142A4A"/>
                    </a:solidFill>
                  </a:tcPr>
                </a:tc>
              </a:tr>
              <a:tr h="419100">
                <a:tc>
                  <a:txBody>
                    <a:bodyPr/>
                    <a:lstStyle/>
                    <a:p>
                      <a:pPr algn="l"/>
                      <a:r>
                        <a:rPr sz="1500" b="0">
                          <a:solidFill>
                            <a:srgbClr val="232323"/>
                          </a:solidFill>
                          <a:latin typeface="Calibri"/>
                          <a:ea typeface="Calibri"/>
                          <a:cs typeface="Calibri"/>
                        </a:rPr>
                        <a:t>Observations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10,000</a:t>
                      </a:r>
                    </a:p>
                  </a:txBody>
                  <a:tcPr marL="95250" marR="95250" marT="76200" marB="76200" anchor="ctr">
                    <a:solidFill>
                      <a:srgbClr val="FFFFFF"/>
                    </a:solidFill>
                  </a:tcPr>
                </a:tc>
              </a:tr>
              <a:tr h="419100">
                <a:tc>
                  <a:txBody>
                    <a:bodyPr/>
                    <a:lstStyle/>
                    <a:p>
                      <a:pPr algn="l"/>
                      <a:r>
                        <a:rPr sz="1500" b="0">
                          <a:solidFill>
                            <a:srgbClr val="232323"/>
                          </a:solidFill>
                          <a:latin typeface="Calibri"/>
                          <a:ea typeface="Calibri"/>
                          <a:cs typeface="Calibri"/>
                        </a:rPr>
                        <a:t>Normal records</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9,661</a:t>
                      </a:r>
                    </a:p>
                  </a:txBody>
                  <a:tcPr marL="95250" marR="95250" marT="76200" marB="76200" anchor="ctr">
                    <a:solidFill>
                      <a:srgbClr val="F2F6FA"/>
                    </a:solidFill>
                  </a:tcPr>
                </a:tc>
              </a:tr>
              <a:tr h="419100">
                <a:tc>
                  <a:txBody>
                    <a:bodyPr/>
                    <a:lstStyle/>
                    <a:p>
                      <a:pPr algn="l"/>
                      <a:r>
                        <a:rPr sz="1500" b="0">
                          <a:solidFill>
                            <a:srgbClr val="232323"/>
                          </a:solidFill>
                          <a:latin typeface="Calibri"/>
                          <a:ea typeface="Calibri"/>
                          <a:cs typeface="Calibri"/>
                        </a:rPr>
                        <a:t>Failure records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339</a:t>
                      </a:r>
                    </a:p>
                  </a:txBody>
                  <a:tcPr marL="95250" marR="95250" marT="76200" marB="76200" anchor="ctr">
                    <a:solidFill>
                      <a:srgbClr val="FFFFFF"/>
                    </a:solidFill>
                  </a:tcPr>
                </a:tc>
              </a:tr>
              <a:tr h="419100">
                <a:tc>
                  <a:txBody>
                    <a:bodyPr/>
                    <a:lstStyle/>
                    <a:p>
                      <a:pPr algn="l"/>
                      <a:r>
                        <a:rPr sz="1500" b="0">
                          <a:solidFill>
                            <a:srgbClr val="232323"/>
                          </a:solidFill>
                          <a:latin typeface="Calibri"/>
                          <a:ea typeface="Calibri"/>
                          <a:cs typeface="Calibri"/>
                        </a:rPr>
                        <a:t>Failure prevalence</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3.39%</a:t>
                      </a:r>
                    </a:p>
                  </a:txBody>
                  <a:tcPr marL="95250" marR="95250" marT="76200" marB="76200" anchor="ctr">
                    <a:solidFill>
                      <a:srgbClr val="F2F6FA"/>
                    </a:solidFill>
                  </a:tcPr>
                </a:tc>
              </a:tr>
              <a:tr h="419100">
                <a:tc>
                  <a:txBody>
                    <a:bodyPr/>
                    <a:lstStyle/>
                    <a:p>
                      <a:pPr algn="l"/>
                      <a:r>
                        <a:rPr sz="1500" b="0">
                          <a:solidFill>
                            <a:srgbClr val="232323"/>
                          </a:solidFill>
                          <a:latin typeface="Calibri"/>
                          <a:ea typeface="Calibri"/>
                          <a:cs typeface="Calibri"/>
                        </a:rPr>
                        <a:t>Missing values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None</a:t>
                      </a:r>
                    </a:p>
                  </a:txBody>
                  <a:tcPr marL="95250" marR="95250" marT="76200" marB="76200" anchor="ctr">
                    <a:solidFill>
                      <a:srgbClr val="FFFFFF"/>
                    </a:solidFill>
                  </a:tcPr>
                </a:tc>
              </a:tr>
            </a:tbl>
          </a:graphicData>
        </a:graphic>
      </p:graphicFrame>
      <p:sp>
        <p:nvSpPr>
          <p:cNvPr id="44" name="Target: machine_failure (0 or 1)">
            <a:extLst xmlns:a="http://schemas.openxmlformats.org/drawingml/2006/main">
              <a:ext uri="{FF2B5EF4-FFF2-40B4-BE49-F238E27FC236}">
                <a16:creationId xmlns:a16="http://schemas.microsoft.com/office/drawing/2014/main" id="{0DFD6B1F-BC31-4FD6-853A-B51FC6CB0917}"/>
              </a:ext>
            </a:extLst>
          </p:cNvPr>
          <p:cNvSpPr>
            <a:spLocks xmlns:a="http://schemas.openxmlformats.org/drawingml/2006/main" noGrp="1"/>
          </p:cNvSpPr>
          <p:nvPr/>
        </p:nvSpPr>
        <p:spPr>
          <a:xfrm xmlns:a="http://schemas.openxmlformats.org/drawingml/2006/main">
            <a:off x="914400" y="4905375"/>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42A4A"/>
                </a:solidFill>
                <a:latin typeface="Calibri"/>
                <a:ea typeface="Calibri"/>
                <a:cs typeface="Calibri"/>
              </a:defRPr>
            </a:defPPr>
          </a:lstStyle>
          <a:p xmlns:a="http://schemas.openxmlformats.org/drawingml/2006/main">
            <a:pPr algn="l">
              <a:defRPr sz="1500" b="1">
                <a:solidFill>
                  <a:srgbClr val="142A4A"/>
                </a:solidFill>
                <a:latin typeface="Calibri"/>
                <a:ea typeface="Calibri"/>
                <a:cs typeface="Calibri"/>
              </a:defRPr>
            </a:pPr>
            <a:r>
              <a:rPr sz="1500" b="1">
                <a:solidFill>
                  <a:srgbClr val="142A4A"/>
                </a:solidFill>
                <a:latin typeface="Calibri"/>
                <a:ea typeface="Calibri"/>
                <a:cs typeface="Calibri"/>
              </a:rPr>
              <a:t>Target: machine_failure (0 or 1)</a:t>
            </a:r>
          </a:p>
        </p:txBody>
      </p:sp>
      <p:sp>
        <p:nvSpPr>
          <p:cNvPr id="45" name="Stratified split">
            <a:extLst xmlns:a="http://schemas.openxmlformats.org/drawingml/2006/main">
              <a:ext uri="{FF2B5EF4-FFF2-40B4-BE49-F238E27FC236}">
                <a16:creationId xmlns:a16="http://schemas.microsoft.com/office/drawing/2014/main" id="{71EC9132-3CAF-4CEC-A7D5-68BB04B09132}"/>
              </a:ext>
            </a:extLst>
          </p:cNvPr>
          <p:cNvSpPr>
            <a:spLocks xmlns:a="http://schemas.openxmlformats.org/drawingml/2006/main" noGrp="1"/>
          </p:cNvSpPr>
          <p:nvPr/>
        </p:nvSpPr>
        <p:spPr>
          <a:xfrm xmlns:a="http://schemas.openxmlformats.org/drawingml/2006/main">
            <a:off x="6353175" y="1628775"/>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142A4A"/>
                </a:solidFill>
                <a:latin typeface="Calibri"/>
                <a:ea typeface="Calibri"/>
                <a:cs typeface="Calibri"/>
              </a:defRPr>
            </a:defPPr>
          </a:lstStyle>
          <a:p xmlns:a="http://schemas.openxmlformats.org/drawingml/2006/main">
            <a:pPr algn="l">
              <a:defRPr sz="2000" b="1">
                <a:solidFill>
                  <a:srgbClr val="142A4A"/>
                </a:solidFill>
                <a:latin typeface="Calibri"/>
                <a:ea typeface="Calibri"/>
                <a:cs typeface="Calibri"/>
              </a:defRPr>
            </a:pPr>
            <a:r>
              <a:rPr sz="2000" b="1">
                <a:solidFill>
                  <a:srgbClr val="142A4A"/>
                </a:solidFill>
                <a:latin typeface="Calibri"/>
                <a:ea typeface="Calibri"/>
                <a:cs typeface="Calibri"/>
              </a:rPr>
              <a:t>Stratified split</a:t>
            </a:r>
          </a:p>
        </p:txBody>
      </p:sp>
      <p:graphicFrame>
        <p:nvGraphicFramePr>
          <p:cNvPr id="46" name="">
            <a:extLst xmlns:a="http://schemas.openxmlformats.org/drawingml/2006/main">
              <a:ext uri="{FF2B5EF4-FFF2-40B4-BE49-F238E27FC236}">
                <a16:creationId xmlns:a16="http://schemas.microsoft.com/office/drawing/2014/main" id="{D74FCD4B-1D1D-41E4-8F12-1EF92FEFBB50}"/>
              </a:ext>
            </a:extLst>
          </p:cNvPr>
          <p:cNvGraphicFramePr/>
          <p:nvPr/>
        </p:nvGraphicFramePr>
        <p:xfrm>
          <a:off xmlns:a="http://schemas.openxmlformats.org/drawingml/2006/main" x="6362700" y="2114550"/>
          <a:ext xmlns:a="http://schemas.openxmlformats.org/drawingml/2006/main" cx="4857750" cy="1028700"/>
        </p:xfrm>
        <a:graphic xmlns:a="http://schemas.openxmlformats.org/drawingml/2006/main">
          <a:graphicData uri="http://schemas.openxmlformats.org/drawingml/2006/table">
            <a:tbl>
              <a:tblPr firstRow="0" bandRow="0"/>
              <a:tblGrid>
                <a:gridCol w="3143250"/>
                <a:gridCol w="1714500"/>
              </a:tblGrid>
              <a:tr h="342900">
                <a:tc>
                  <a:txBody>
                    <a:bodyPr/>
                    <a:lstStyle/>
                    <a:p>
                      <a:pPr algn="l"/>
                      <a:r>
                        <a:rPr sz="1425" b="1">
                          <a:solidFill>
                            <a:srgbClr val="FFFFFF"/>
                          </a:solidFill>
                          <a:latin typeface="Calibri"/>
                          <a:ea typeface="Calibri"/>
                          <a:cs typeface="Calibri"/>
                        </a:rPr>
                        <a:t>Partition</a:t>
                      </a:r>
                    </a:p>
                  </a:txBody>
                  <a:tcPr marL="95250" marR="95250" marT="76200" marB="76200" anchor="ctr">
                    <a:solidFill>
                      <a:srgbClr val="142A4A"/>
                    </a:solidFill>
                  </a:tcPr>
                </a:tc>
                <a:tc>
                  <a:txBody>
                    <a:bodyPr/>
                    <a:lstStyle/>
                    <a:p>
                      <a:pPr algn="ctr"/>
                      <a:r>
                        <a:rPr sz="1425" b="1">
                          <a:solidFill>
                            <a:srgbClr val="FFFFFF"/>
                          </a:solidFill>
                          <a:latin typeface="Calibri"/>
                          <a:ea typeface="Calibri"/>
                          <a:cs typeface="Calibri"/>
                        </a:rPr>
                        <a:t>Rows</a:t>
                      </a:r>
                    </a:p>
                  </a:txBody>
                  <a:tcPr marL="95250" marR="95250" marT="76200" marB="76200" anchor="ctr">
                    <a:solidFill>
                      <a:srgbClr val="142A4A"/>
                    </a:solidFill>
                  </a:tcPr>
                </a:tc>
              </a:tr>
              <a:tr h="342900">
                <a:tc>
                  <a:txBody>
                    <a:bodyPr/>
                    <a:lstStyle/>
                    <a:p>
                      <a:pPr algn="l"/>
                      <a:r>
                        <a:rPr sz="1425" b="0">
                          <a:solidFill>
                            <a:srgbClr val="232323"/>
                          </a:solidFill>
                          <a:latin typeface="Calibri"/>
                          <a:ea typeface="Calibri"/>
                          <a:cs typeface="Calibri"/>
                        </a:rPr>
                        <a:t>Training</a:t>
                      </a:r>
                    </a:p>
                  </a:txBody>
                  <a:tcPr marL="95250" marR="95250" marT="76200" marB="76200" anchor="ctr">
                    <a:solidFill>
                      <a:srgbClr val="FFFFFF"/>
                    </a:solidFill>
                  </a:tcPr>
                </a:tc>
                <a:tc>
                  <a:txBody>
                    <a:bodyPr/>
                    <a:lstStyle/>
                    <a:p>
                      <a:pPr algn="ctr"/>
                      <a:r>
                        <a:rPr sz="1425" b="0">
                          <a:solidFill>
                            <a:srgbClr val="232323"/>
                          </a:solidFill>
                          <a:latin typeface="Calibri"/>
                          <a:ea typeface="Calibri"/>
                          <a:cs typeface="Calibri"/>
                        </a:rPr>
                        <a:t>8,000</a:t>
                      </a:r>
                    </a:p>
                  </a:txBody>
                  <a:tcPr marL="95250" marR="95250" marT="76200" marB="76200" anchor="ctr">
                    <a:solidFill>
                      <a:srgbClr val="FFFFFF"/>
                    </a:solidFill>
                  </a:tcPr>
                </a:tc>
              </a:tr>
              <a:tr h="342900">
                <a:tc>
                  <a:txBody>
                    <a:bodyPr/>
                    <a:lstStyle/>
                    <a:p>
                      <a:pPr algn="l"/>
                      <a:r>
                        <a:rPr sz="1425" b="0">
                          <a:solidFill>
                            <a:srgbClr val="232323"/>
                          </a:solidFill>
                          <a:latin typeface="Calibri"/>
                          <a:ea typeface="Calibri"/>
                          <a:cs typeface="Calibri"/>
                        </a:rPr>
                        <a:t>Test</a:t>
                      </a:r>
                    </a:p>
                  </a:txBody>
                  <a:tcPr marL="95250" marR="95250" marT="76200" marB="76200" anchor="ctr">
                    <a:solidFill>
                      <a:srgbClr val="F2F6FA"/>
                    </a:solidFill>
                  </a:tcPr>
                </a:tc>
                <a:tc>
                  <a:txBody>
                    <a:bodyPr/>
                    <a:lstStyle/>
                    <a:p>
                      <a:pPr algn="ctr"/>
                      <a:r>
                        <a:rPr sz="1425" b="0">
                          <a:solidFill>
                            <a:srgbClr val="232323"/>
                          </a:solidFill>
                          <a:latin typeface="Calibri"/>
                          <a:ea typeface="Calibri"/>
                          <a:cs typeface="Calibri"/>
                        </a:rPr>
                        <a:t>2,000</a:t>
                      </a:r>
                    </a:p>
                  </a:txBody>
                  <a:tcPr marL="95250" marR="95250" marT="76200" marB="76200" anchor="ctr">
                    <a:solidFill>
                      <a:srgbClr val="F2F6FA"/>
                    </a:solidFill>
                  </a:tcPr>
                </a:tc>
              </a:tr>
            </a:tbl>
          </a:graphicData>
        </a:graphic>
      </p:graphicFrame>
      <p:sp>
        <p:nvSpPr>
          <p:cNvPr id="47" name="Six machine inputs">
            <a:extLst xmlns:a="http://schemas.openxmlformats.org/drawingml/2006/main">
              <a:ext uri="{FF2B5EF4-FFF2-40B4-BE49-F238E27FC236}">
                <a16:creationId xmlns:a16="http://schemas.microsoft.com/office/drawing/2014/main" id="{9EA6FD8F-5FB8-459B-93F4-464426698F28}"/>
              </a:ext>
            </a:extLst>
          </p:cNvPr>
          <p:cNvSpPr>
            <a:spLocks xmlns:a="http://schemas.openxmlformats.org/drawingml/2006/main" noGrp="1"/>
          </p:cNvSpPr>
          <p:nvPr/>
        </p:nvSpPr>
        <p:spPr>
          <a:xfrm xmlns:a="http://schemas.openxmlformats.org/drawingml/2006/main">
            <a:off x="6353175" y="390525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142A4A"/>
                </a:solidFill>
                <a:latin typeface="Calibri"/>
                <a:ea typeface="Calibri"/>
                <a:cs typeface="Calibri"/>
              </a:defRPr>
            </a:defPPr>
          </a:lstStyle>
          <a:p xmlns:a="http://schemas.openxmlformats.org/drawingml/2006/main">
            <a:pPr algn="l">
              <a:defRPr sz="2000" b="1">
                <a:solidFill>
                  <a:srgbClr val="142A4A"/>
                </a:solidFill>
                <a:latin typeface="Calibri"/>
                <a:ea typeface="Calibri"/>
                <a:cs typeface="Calibri"/>
              </a:defRPr>
            </a:pPr>
            <a:r>
              <a:rPr sz="2000" b="1">
                <a:solidFill>
                  <a:srgbClr val="142A4A"/>
                </a:solidFill>
                <a:latin typeface="Calibri"/>
                <a:ea typeface="Calibri"/>
                <a:cs typeface="Calibri"/>
              </a:rPr>
              <a:t>Six machine inputs</a:t>
            </a:r>
          </a:p>
        </p:txBody>
      </p:sp>
      <p:sp>
        <p:nvSpPr>
          <p:cNvPr id="48" name="Product quality (L, M, H)&#10;Air and process temperat">
            <a:extLst xmlns:a="http://schemas.openxmlformats.org/drawingml/2006/main">
              <a:ext uri="{FF2B5EF4-FFF2-40B4-BE49-F238E27FC236}">
                <a16:creationId xmlns:a16="http://schemas.microsoft.com/office/drawing/2014/main" id="{AE1BC6D1-5F61-4B82-ABBD-2935DFC8E0F8}"/>
              </a:ext>
            </a:extLst>
          </p:cNvPr>
          <p:cNvSpPr>
            <a:spLocks xmlns:a="http://schemas.openxmlformats.org/drawingml/2006/main" noGrp="1"/>
          </p:cNvSpPr>
          <p:nvPr/>
        </p:nvSpPr>
        <p:spPr>
          <a:xfrm xmlns:a="http://schemas.openxmlformats.org/drawingml/2006/main">
            <a:off x="6486525" y="4400550"/>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32323"/>
                </a:solidFill>
                <a:latin typeface="Calibri"/>
                <a:ea typeface="Calibri"/>
                <a:cs typeface="Calibri"/>
              </a:defRPr>
            </a:defPPr>
          </a:lstStyle>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Product quality (L, M, H)</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Air and process temperature (K)</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Rotational speed (rpm)</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Torque (Nm) and tool wear (min)</a:t>
            </a:r>
          </a:p>
        </p:txBody>
      </p:sp>
      <p:sp>
        <p:nvSpPr>
          <p:cNvPr id="49" name="An always-normal classifier reaches 96.61% accurac">
            <a:extLst xmlns:a="http://schemas.openxmlformats.org/drawingml/2006/main">
              <a:ext uri="{FF2B5EF4-FFF2-40B4-BE49-F238E27FC236}">
                <a16:creationId xmlns:a16="http://schemas.microsoft.com/office/drawing/2014/main" id="{D19B2F55-F02B-4ECB-A393-AAB844CCC514}"/>
              </a:ext>
            </a:extLst>
          </p:cNvPr>
          <p:cNvSpPr>
            <a:spLocks xmlns:a="http://schemas.openxmlformats.org/drawingml/2006/main" noGrp="1"/>
          </p:cNvSpPr>
          <p:nvPr/>
        </p:nvSpPr>
        <p:spPr>
          <a:xfrm xmlns:a="http://schemas.openxmlformats.org/drawingml/2006/main">
            <a:off x="822960" y="61150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66AD"/>
                </a:solidFill>
                <a:latin typeface="Calibri"/>
                <a:ea typeface="Calibri"/>
                <a:cs typeface="Calibri"/>
              </a:defRPr>
            </a:defPPr>
          </a:lstStyle>
          <a:p xmlns:a="http://schemas.openxmlformats.org/drawingml/2006/main">
            <a:pPr algn="l">
              <a:defRPr sz="1500" b="1">
                <a:solidFill>
                  <a:srgbClr val="2F66AD"/>
                </a:solidFill>
                <a:latin typeface="Calibri"/>
                <a:ea typeface="Calibri"/>
                <a:cs typeface="Calibri"/>
              </a:defRPr>
            </a:pPr>
            <a:r>
              <a:rPr sz="1500" b="1">
                <a:solidFill>
                  <a:srgbClr val="2F66AD"/>
                </a:solidFill>
                <a:latin typeface="Calibri"/>
                <a:ea typeface="Calibri"/>
                <a:cs typeface="Calibri"/>
              </a:rPr>
              <a:t>An always-normal classifier reaches 96.61% accuracy and 0% failure recall.</a:t>
            </a:r>
          </a:p>
        </p:txBody>
      </p:sp>
      <p:sp>
        <p:nvSpPr>
          <p:cNvPr id="50" name="3">
            <a:extLst xmlns:a="http://schemas.openxmlformats.org/drawingml/2006/main">
              <a:ext uri="{FF2B5EF4-FFF2-40B4-BE49-F238E27FC236}">
                <a16:creationId xmlns:a16="http://schemas.microsoft.com/office/drawing/2014/main" id="{9FFDFB69-6793-412B-8707-B26D14B21736}"/>
              </a:ext>
            </a:extLst>
          </p:cNvPr>
          <p:cNvSpPr>
            <a:spLocks xmlns:a="http://schemas.openxmlformats.org/drawingml/2006/main" noGrp="1"/>
          </p:cNvSpPr>
          <p:nvPr/>
        </p:nvSpPr>
        <p:spPr>
          <a:xfrm xmlns:a="http://schemas.openxmlformats.org/drawingml/2006/main">
            <a:off x="11247120" y="64008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5F6973"/>
                </a:solidFill>
                <a:latin typeface="Calibri"/>
                <a:ea typeface="Calibri"/>
                <a:cs typeface="Calibri"/>
              </a:defRPr>
            </a:defPPr>
          </a:lstStyle>
          <a:p xmlns:a="http://schemas.openxmlformats.org/drawingml/2006/main">
            <a:pPr algn="l">
              <a:defRPr sz="1000" b="0">
                <a:solidFill>
                  <a:srgbClr val="5F6973"/>
                </a:solidFill>
                <a:latin typeface="Calibri"/>
                <a:ea typeface="Calibri"/>
                <a:cs typeface="Calibri"/>
              </a:defRPr>
            </a:pPr>
            <a:r>
              <a:rPr sz="1000" b="0">
                <a:solidFill>
                  <a:srgbClr val="5F6973"/>
                </a:solidFill>
                <a:latin typeface="Calibri"/>
                <a:ea typeface="Calibri"/>
                <a:cs typeface="Calibri"/>
              </a:rPr>
              <a:t>3</a:t>
            </a:r>
          </a:p>
        </p:txBody>
      </p:sp>
    </p:spTree>
    <p:extLst>
      <p:ext uri="{BB962C8B-B14F-4D97-AF65-F5344CB8AC3E}">
        <p14:creationId xmlns:p14="http://schemas.microsoft.com/office/powerpoint/2010/main" val="170344980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1429351-CA31-48BA-946C-08DA052037E8}"/>
              </a:ext>
            </a:extLst>
          </p:cNvPr>
          <p:cNvSpPr>
            <a:spLocks xmlns:a="http://schemas.openxmlformats.org/drawingml/2006/main" noGrp="1"/>
          </p:cNvSpPr>
          <p:nvPr/>
        </p:nvSpPr>
        <p:spPr>
          <a:xfrm xmlns:a="http://schemas.openxmlformats.org/drawingml/2006/main">
            <a:off x="640080" y="411480"/>
            <a:ext cx="4458017"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Exploratory data analysis</a:t>
            </a:r>
          </a:p>
        </p:txBody>
      </p:sp>
      <p:sp>
        <p:nvSpPr>
          <p:cNvPr id="3" name="Rounded Rectangle 2">
            <a:extLst xmlns:a="http://schemas.openxmlformats.org/drawingml/2006/main">
              <a:ext uri="{FF2B5EF4-FFF2-40B4-BE49-F238E27FC236}">
                <a16:creationId xmlns:a16="http://schemas.microsoft.com/office/drawing/2014/main" id="{912FE116-D9BA-45D9-BB02-C812BB63E51E}"/>
              </a:ext>
            </a:extLst>
          </p:cNvPr>
          <p:cNvSpPr>
            <a:spLocks xmlns:a="http://schemas.openxmlformats.org/drawingml/2006/main" noGrp="1"/>
          </p:cNvSpPr>
          <p:nvPr/>
        </p:nvSpPr>
        <p:spPr>
          <a:xfrm xmlns:a="http://schemas.openxmlformats.org/drawingml/2006/main">
            <a:off x="731520" y="1325880"/>
            <a:ext cx="5120640" cy="429768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ounded Rectangle 5">
            <a:extLst xmlns:a="http://schemas.openxmlformats.org/drawingml/2006/main">
              <a:ext uri="{FF2B5EF4-FFF2-40B4-BE49-F238E27FC236}">
                <a16:creationId xmlns:a16="http://schemas.microsoft.com/office/drawing/2014/main" id="{7400F4C7-F36D-4588-841E-E2A55C196436}"/>
              </a:ext>
            </a:extLst>
          </p:cNvPr>
          <p:cNvSpPr>
            <a:spLocks xmlns:a="http://schemas.openxmlformats.org/drawingml/2006/main" noGrp="1"/>
          </p:cNvSpPr>
          <p:nvPr/>
        </p:nvSpPr>
        <p:spPr>
          <a:xfrm xmlns:a="http://schemas.openxmlformats.org/drawingml/2006/main">
            <a:off x="6309360" y="1325880"/>
            <a:ext cx="5120640" cy="429768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E0F1EB1C-9F39-438F-A8BB-7F5B18843C32}"/>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D6411640-4599-4A6A-B267-CC3AFDD26E11}"/>
              </a:ext>
            </a:extLst>
          </p:cNvPr>
          <p:cNvSpPr>
            <a:spLocks xmlns:a="http://schemas.openxmlformats.org/drawingml/2006/main" noGrp="1"/>
          </p:cNvSpPr>
          <p:nvPr/>
        </p:nvSpPr>
        <p:spPr>
          <a:xfrm xmlns:a="http://schemas.openxmlformats.org/drawingml/2006/main">
            <a:off x="11247120" y="6400800"/>
            <a:ext cx="69850"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4</a:t>
            </a:r>
          </a:p>
        </p:txBody>
      </p:sp>
      <p:graphicFrame>
        <p:nvGraphicFramePr>
          <p:cNvPr id="11" name="Chart">
            <a:extLst xmlns:a="http://schemas.openxmlformats.org/drawingml/2006/main">
              <a:ext uri="{FF2B5EF4-FFF2-40B4-BE49-F238E27FC236}">
                <a16:creationId xmlns:a16="http://schemas.microsoft.com/office/drawing/2014/main" id="{2B232DEB-28C6-4A0A-9F13-37C35D1AB14E}"/>
              </a:ext>
            </a:extLst>
          </p:cNvPr>
          <p:cNvGraphicFramePr/>
          <p:nvPr/>
        </p:nvGraphicFramePr>
        <p:xfrm>
          <a:off xmlns:a="http://schemas.openxmlformats.org/drawingml/2006/main" x="904875" y="1581150"/>
          <a:ext xmlns:a="http://schemas.openxmlformats.org/drawingml/2006/main" cx="4762500" cy="3486150"/>
        </p:xfrm>
        <a:graphic xmlns:a="http://schemas.openxmlformats.org/drawingml/2006/main">
          <a:graphicData uri="http://schemas.openxmlformats.org/drawingml/2006/chart">
            <c:chart xmlns:r="http://schemas.openxmlformats.org/officeDocument/2006/relationships" xmlns:c="http://schemas.openxmlformats.org/drawingml/2006/chart" r:id="R4457e08f796e4cb5"/>
          </a:graphicData>
        </a:graphic>
      </p:graphicFrame>
      <p:sp>
        <p:nvSpPr>
          <p:cNvPr id="12" name="Feature medians">
            <a:extLst xmlns:a="http://schemas.openxmlformats.org/drawingml/2006/main">
              <a:ext uri="{FF2B5EF4-FFF2-40B4-BE49-F238E27FC236}">
                <a16:creationId xmlns:a16="http://schemas.microsoft.com/office/drawing/2014/main" id="{1AAAAC14-217B-4188-8716-758A8C865D32}"/>
              </a:ext>
            </a:extLst>
          </p:cNvPr>
          <p:cNvSpPr>
            <a:spLocks xmlns:a="http://schemas.openxmlformats.org/drawingml/2006/main" noGrp="1"/>
          </p:cNvSpPr>
          <p:nvPr/>
        </p:nvSpPr>
        <p:spPr>
          <a:xfrm xmlns:a="http://schemas.openxmlformats.org/drawingml/2006/main">
            <a:off x="6496050" y="157162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142A4A"/>
                </a:solidFill>
                <a:latin typeface="Calibri"/>
                <a:ea typeface="Calibri"/>
                <a:cs typeface="Calibri"/>
              </a:defRPr>
            </a:defPPr>
          </a:lstStyle>
          <a:p xmlns:a="http://schemas.openxmlformats.org/drawingml/2006/main">
            <a:pPr algn="l">
              <a:defRPr sz="2000" b="1">
                <a:solidFill>
                  <a:srgbClr val="142A4A"/>
                </a:solidFill>
                <a:latin typeface="Calibri"/>
                <a:ea typeface="Calibri"/>
                <a:cs typeface="Calibri"/>
              </a:defRPr>
            </a:pPr>
            <a:r>
              <a:rPr sz="2000" b="1">
                <a:solidFill>
                  <a:srgbClr val="142A4A"/>
                </a:solidFill>
                <a:latin typeface="Calibri"/>
                <a:ea typeface="Calibri"/>
                <a:cs typeface="Calibri"/>
              </a:rPr>
              <a:t>Feature medians</a:t>
            </a:r>
          </a:p>
        </p:txBody>
      </p:sp>
      <p:graphicFrame>
        <p:nvGraphicFramePr>
          <p:cNvPr id="13" name="">
            <a:extLst xmlns:a="http://schemas.openxmlformats.org/drawingml/2006/main">
              <a:ext uri="{FF2B5EF4-FFF2-40B4-BE49-F238E27FC236}">
                <a16:creationId xmlns:a16="http://schemas.microsoft.com/office/drawing/2014/main" id="{034BCFBB-6D84-41CD-B7EC-B6862D3FD56B}"/>
              </a:ext>
            </a:extLst>
          </p:cNvPr>
          <p:cNvGraphicFramePr/>
          <p:nvPr/>
        </p:nvGraphicFramePr>
        <p:xfrm>
          <a:off xmlns:a="http://schemas.openxmlformats.org/drawingml/2006/main" x="6505575" y="2133600"/>
          <a:ext xmlns:a="http://schemas.openxmlformats.org/drawingml/2006/main" cx="4714875" cy="2857500"/>
        </p:xfrm>
        <a:graphic xmlns:a="http://schemas.openxmlformats.org/drawingml/2006/main">
          <a:graphicData uri="http://schemas.openxmlformats.org/drawingml/2006/table">
            <a:tbl>
              <a:tblPr firstRow="0" bandRow="0"/>
              <a:tblGrid>
                <a:gridCol w="2524125"/>
                <a:gridCol w="1095375"/>
                <a:gridCol w="1095375"/>
              </a:tblGrid>
              <a:tr h="476250">
                <a:tc>
                  <a:txBody>
                    <a:bodyPr/>
                    <a:lstStyle/>
                    <a:p>
                      <a:pPr algn="l"/>
                      <a:r>
                        <a:rPr sz="1400" b="1">
                          <a:solidFill>
                            <a:srgbClr val="FFFFFF"/>
                          </a:solidFill>
                          <a:latin typeface="Calibri"/>
                          <a:ea typeface="Calibri"/>
                          <a:cs typeface="Calibri"/>
                        </a:rPr>
                        <a:t>Feature</a:t>
                      </a:r>
                    </a:p>
                  </a:txBody>
                  <a:tcPr marL="95250" marR="95250" marT="76200" marB="76200" anchor="ctr">
                    <a:solidFill>
                      <a:srgbClr val="142A4A"/>
                    </a:solidFill>
                  </a:tcPr>
                </a:tc>
                <a:tc>
                  <a:txBody>
                    <a:bodyPr/>
                    <a:lstStyle/>
                    <a:p>
                      <a:pPr algn="ctr"/>
                      <a:r>
                        <a:rPr sz="1400" b="1">
                          <a:solidFill>
                            <a:srgbClr val="FFFFFF"/>
                          </a:solidFill>
                          <a:latin typeface="Calibri"/>
                          <a:ea typeface="Calibri"/>
                          <a:cs typeface="Calibri"/>
                        </a:rPr>
                        <a:t>Normal</a:t>
                      </a:r>
                    </a:p>
                  </a:txBody>
                  <a:tcPr marL="95250" marR="95250" marT="76200" marB="76200" anchor="ctr">
                    <a:solidFill>
                      <a:srgbClr val="142A4A"/>
                    </a:solidFill>
                  </a:tcPr>
                </a:tc>
                <a:tc>
                  <a:txBody>
                    <a:bodyPr/>
                    <a:lstStyle/>
                    <a:p>
                      <a:pPr algn="ctr"/>
                      <a:r>
                        <a:rPr sz="1400" b="1">
                          <a:solidFill>
                            <a:srgbClr val="FFFFFF"/>
                          </a:solidFill>
                          <a:latin typeface="Calibri"/>
                          <a:ea typeface="Calibri"/>
                          <a:cs typeface="Calibri"/>
                        </a:rPr>
                        <a:t>Failure</a:t>
                      </a:r>
                    </a:p>
                  </a:txBody>
                  <a:tcPr marL="95250" marR="95250" marT="76200" marB="76200" anchor="ctr">
                    <a:solidFill>
                      <a:srgbClr val="142A4A"/>
                    </a:solidFill>
                  </a:tcPr>
                </a:tc>
              </a:tr>
              <a:tr h="476250">
                <a:tc>
                  <a:txBody>
                    <a:bodyPr/>
                    <a:lstStyle/>
                    <a:p>
                      <a:pPr algn="l"/>
                      <a:r>
                        <a:rPr sz="1400" b="0">
                          <a:solidFill>
                            <a:srgbClr val="232323"/>
                          </a:solidFill>
                          <a:latin typeface="Calibri"/>
                          <a:ea typeface="Calibri"/>
                          <a:cs typeface="Calibri"/>
                        </a:rPr>
                        <a:t>Air temperature (K)</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300.0</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301.6</a:t>
                      </a:r>
                    </a:p>
                  </a:txBody>
                  <a:tcPr marL="95250" marR="95250" marT="76200" marB="76200" anchor="ctr">
                    <a:solidFill>
                      <a:srgbClr val="FFFFFF"/>
                    </a:solidFill>
                  </a:tcPr>
                </a:tc>
              </a:tr>
              <a:tr h="476250">
                <a:tc>
                  <a:txBody>
                    <a:bodyPr/>
                    <a:lstStyle/>
                    <a:p>
                      <a:pPr algn="l"/>
                      <a:r>
                        <a:rPr sz="1400" b="0">
                          <a:solidFill>
                            <a:srgbClr val="232323"/>
                          </a:solidFill>
                          <a:latin typeface="Calibri"/>
                          <a:ea typeface="Calibri"/>
                          <a:cs typeface="Calibri"/>
                        </a:rPr>
                        <a:t>Process temp. (K)</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310.0</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310.4</a:t>
                      </a:r>
                    </a:p>
                  </a:txBody>
                  <a:tcPr marL="95250" marR="95250" marT="76200" marB="76200" anchor="ctr">
                    <a:solidFill>
                      <a:srgbClr val="F2F6FA"/>
                    </a:solidFill>
                  </a:tcPr>
                </a:tc>
              </a:tr>
              <a:tr h="476250">
                <a:tc>
                  <a:txBody>
                    <a:bodyPr/>
                    <a:lstStyle/>
                    <a:p>
                      <a:pPr algn="l"/>
                      <a:r>
                        <a:rPr sz="1400" b="0">
                          <a:solidFill>
                            <a:srgbClr val="232323"/>
                          </a:solidFill>
                          <a:latin typeface="Calibri"/>
                          <a:ea typeface="Calibri"/>
                          <a:cs typeface="Calibri"/>
                        </a:rPr>
                        <a:t>Speed (rpm)</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1,507</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1,365</a:t>
                      </a:r>
                    </a:p>
                  </a:txBody>
                  <a:tcPr marL="95250" marR="95250" marT="76200" marB="76200" anchor="ctr">
                    <a:solidFill>
                      <a:srgbClr val="FFFFFF"/>
                    </a:solidFill>
                  </a:tcPr>
                </a:tc>
              </a:tr>
              <a:tr h="476250">
                <a:tc>
                  <a:txBody>
                    <a:bodyPr/>
                    <a:lstStyle/>
                    <a:p>
                      <a:pPr algn="l"/>
                      <a:r>
                        <a:rPr sz="1400" b="0">
                          <a:solidFill>
                            <a:srgbClr val="232323"/>
                          </a:solidFill>
                          <a:latin typeface="Calibri"/>
                          <a:ea typeface="Calibri"/>
                          <a:cs typeface="Calibri"/>
                        </a:rPr>
                        <a:t>Torque (Nm)</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39.9</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53.7</a:t>
                      </a:r>
                    </a:p>
                  </a:txBody>
                  <a:tcPr marL="95250" marR="95250" marT="76200" marB="76200" anchor="ctr">
                    <a:solidFill>
                      <a:srgbClr val="F2F6FA"/>
                    </a:solidFill>
                  </a:tcPr>
                </a:tc>
              </a:tr>
              <a:tr h="476250">
                <a:tc>
                  <a:txBody>
                    <a:bodyPr/>
                    <a:lstStyle/>
                    <a:p>
                      <a:pPr algn="l"/>
                      <a:r>
                        <a:rPr sz="1400" b="0">
                          <a:solidFill>
                            <a:srgbClr val="232323"/>
                          </a:solidFill>
                          <a:latin typeface="Calibri"/>
                          <a:ea typeface="Calibri"/>
                          <a:cs typeface="Calibri"/>
                        </a:rPr>
                        <a:t>Tool wear (min)</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107</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165</a:t>
                      </a:r>
                    </a:p>
                  </a:txBody>
                  <a:tcPr marL="95250" marR="95250" marT="76200" marB="76200" anchor="ctr">
                    <a:solidFill>
                      <a:srgbClr val="FFFFFF"/>
                    </a:solidFill>
                  </a:tcPr>
                </a:tc>
              </a:tr>
            </a:tbl>
          </a:graphicData>
        </a:graphic>
      </p:graphicFrame>
      <p:sp>
        <p:nvSpPr>
          <p:cNvPr id="14" name="Failure records show higher median torque and wear">
            <a:extLst xmlns:a="http://schemas.openxmlformats.org/drawingml/2006/main">
              <a:ext uri="{FF2B5EF4-FFF2-40B4-BE49-F238E27FC236}">
                <a16:creationId xmlns:a16="http://schemas.microsoft.com/office/drawing/2014/main" id="{92F2C5FF-6247-4E64-8702-EC24E27C79A3}"/>
              </a:ext>
            </a:extLst>
          </p:cNvPr>
          <p:cNvSpPr>
            <a:spLocks xmlns:a="http://schemas.openxmlformats.org/drawingml/2006/main" noGrp="1"/>
          </p:cNvSpPr>
          <p:nvPr/>
        </p:nvSpPr>
        <p:spPr>
          <a:xfrm xmlns:a="http://schemas.openxmlformats.org/drawingml/2006/main">
            <a:off x="822960" y="58769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66AD"/>
                </a:solidFill>
                <a:latin typeface="Calibri"/>
                <a:ea typeface="Calibri"/>
                <a:cs typeface="Calibri"/>
              </a:defRPr>
            </a:defPPr>
          </a:lstStyle>
          <a:p xmlns:a="http://schemas.openxmlformats.org/drawingml/2006/main">
            <a:pPr algn="l">
              <a:defRPr sz="1500" b="1">
                <a:solidFill>
                  <a:srgbClr val="2F66AD"/>
                </a:solidFill>
                <a:latin typeface="Calibri"/>
                <a:ea typeface="Calibri"/>
                <a:cs typeface="Calibri"/>
              </a:defRPr>
            </a:pPr>
            <a:r>
              <a:rPr sz="1500" b="1">
                <a:solidFill>
                  <a:srgbClr val="2F66AD"/>
                </a:solidFill>
                <a:latin typeface="Calibri"/>
                <a:ea typeface="Calibri"/>
                <a:cs typeface="Calibri"/>
              </a:rPr>
              <a:t>Failure records show higher median torque and wear. The feature distributions still overlap.</a:t>
            </a:r>
          </a:p>
        </p:txBody>
      </p:sp>
    </p:spTree>
    <p:extLst>
      <p:ext uri="{BB962C8B-B14F-4D97-AF65-F5344CB8AC3E}">
        <p14:creationId xmlns:p14="http://schemas.microsoft.com/office/powerpoint/2010/main" val="42063983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0063855-9C61-4225-98A7-32E77CC501DC}"/>
              </a:ext>
            </a:extLst>
          </p:cNvPr>
          <p:cNvSpPr>
            <a:spLocks xmlns:a="http://schemas.openxmlformats.org/drawingml/2006/main" noGrp="1"/>
          </p:cNvSpPr>
          <p:nvPr/>
        </p:nvSpPr>
        <p:spPr>
          <a:xfrm xmlns:a="http://schemas.openxmlformats.org/drawingml/2006/main">
            <a:off x="640080" y="411480"/>
            <a:ext cx="6750367"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Feature engineering and training setup</a:t>
            </a:r>
          </a:p>
        </p:txBody>
      </p:sp>
      <p:sp>
        <p:nvSpPr>
          <p:cNvPr id="3" name="Rounded Rectangle 2">
            <a:extLst xmlns:a="http://schemas.openxmlformats.org/drawingml/2006/main">
              <a:ext uri="{FF2B5EF4-FFF2-40B4-BE49-F238E27FC236}">
                <a16:creationId xmlns:a16="http://schemas.microsoft.com/office/drawing/2014/main" id="{30849BD7-ECA1-427E-A97F-7FECC3896711}"/>
              </a:ext>
            </a:extLst>
          </p:cNvPr>
          <p:cNvSpPr>
            <a:spLocks xmlns:a="http://schemas.openxmlformats.org/drawingml/2006/main" noGrp="1"/>
          </p:cNvSpPr>
          <p:nvPr/>
        </p:nvSpPr>
        <p:spPr>
          <a:xfrm xmlns:a="http://schemas.openxmlformats.org/drawingml/2006/main">
            <a:off x="731520" y="1325880"/>
            <a:ext cx="3383280" cy="214884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73F09E7C-1267-4254-ACED-D3B7080C2844}"/>
              </a:ext>
            </a:extLst>
          </p:cNvPr>
          <p:cNvSpPr>
            <a:spLocks xmlns:a="http://schemas.openxmlformats.org/drawingml/2006/main" noGrp="1"/>
          </p:cNvSpPr>
          <p:nvPr/>
        </p:nvSpPr>
        <p:spPr>
          <a:xfrm xmlns:a="http://schemas.openxmlformats.org/drawingml/2006/main">
            <a:off x="914400" y="1463039"/>
            <a:ext cx="1716405"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800" b="1">
                <a:solidFill>
                  <a:srgbClr val="142A4A"/>
                </a:solidFill>
                <a:latin typeface="Calibri"/>
                <a:ea typeface="Calibri"/>
                <a:cs typeface="Calibri"/>
              </a:defRPr>
            </a:defPPr>
          </a:lstStyle>
          <a:p xmlns:a="http://schemas.openxmlformats.org/drawingml/2006/main">
            <a:pPr>
              <a:buNone/>
              <a:defRPr sz="1800" b="1">
                <a:solidFill>
                  <a:srgbClr val="142A4A"/>
                </a:solidFill>
                <a:latin typeface="Calibri"/>
                <a:ea typeface="Calibri"/>
                <a:cs typeface="Calibri"/>
              </a:defRPr>
            </a:pPr>
            <a:r>
              <a:rPr sz="1800" b="1">
                <a:solidFill>
                  <a:srgbClr val="142A4A"/>
                </a:solidFill>
                <a:latin typeface="Calibri"/>
                <a:ea typeface="Calibri"/>
                <a:cs typeface="Calibri"/>
              </a:rPr>
              <a:t>Six raw inputs</a:t>
            </a:r>
          </a:p>
        </p:txBody>
      </p:sp>
      <p:sp>
        <p:nvSpPr>
          <p:cNvPr id="5" name="TextBox 4">
            <a:extLst xmlns:a="http://schemas.openxmlformats.org/drawingml/2006/main">
              <a:ext uri="{FF2B5EF4-FFF2-40B4-BE49-F238E27FC236}">
                <a16:creationId xmlns:a16="http://schemas.microsoft.com/office/drawing/2014/main" id="{EECEA148-2146-47AA-987C-394B2C2FE92A}"/>
              </a:ext>
            </a:extLst>
          </p:cNvPr>
          <p:cNvSpPr>
            <a:spLocks xmlns:a="http://schemas.openxmlformats.org/drawingml/2006/main" noGrp="1"/>
          </p:cNvSpPr>
          <p:nvPr/>
        </p:nvSpPr>
        <p:spPr>
          <a:xfrm xmlns:a="http://schemas.openxmlformats.org/drawingml/2006/main">
            <a:off x="914400" y="1965960"/>
            <a:ext cx="3017520" cy="15240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Five numeric measurements</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Product quality category</a:t>
            </a:r>
          </a:p>
          <a:p xmlns:a="http://schemas.openxmlformats.org/drawingml/2006/main">
            <a:pPr>
              <a:buNone/>
              <a:defRPr sz="1500">
                <a:solidFill>
                  <a:srgbClr val="1E1E1E"/>
                </a:solidFill>
              </a:defRPr>
            </a:pPr>
            <a:r>
              <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Remove IDs and the five</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failure-mode target columns.</a:t>
            </a:r>
          </a:p>
        </p:txBody>
      </p:sp>
      <p:sp>
        <p:nvSpPr>
          <p:cNvPr id="6" name="Rounded Rectangle 5">
            <a:extLst xmlns:a="http://schemas.openxmlformats.org/drawingml/2006/main">
              <a:ext uri="{FF2B5EF4-FFF2-40B4-BE49-F238E27FC236}">
                <a16:creationId xmlns:a16="http://schemas.microsoft.com/office/drawing/2014/main" id="{088B5FE4-4469-41C3-BC9D-2A2B68F6360B}"/>
              </a:ext>
            </a:extLst>
          </p:cNvPr>
          <p:cNvSpPr>
            <a:spLocks xmlns:a="http://schemas.openxmlformats.org/drawingml/2006/main" noGrp="1"/>
          </p:cNvSpPr>
          <p:nvPr/>
        </p:nvSpPr>
        <p:spPr>
          <a:xfrm xmlns:a="http://schemas.openxmlformats.org/drawingml/2006/main">
            <a:off x="4389120" y="1325880"/>
            <a:ext cx="3383280" cy="214884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8FB6283-F5FF-4183-A644-CB48FA604059}"/>
              </a:ext>
            </a:extLst>
          </p:cNvPr>
          <p:cNvSpPr>
            <a:spLocks xmlns:a="http://schemas.openxmlformats.org/drawingml/2006/main" noGrp="1"/>
          </p:cNvSpPr>
          <p:nvPr/>
        </p:nvSpPr>
        <p:spPr>
          <a:xfrm xmlns:a="http://schemas.openxmlformats.org/drawingml/2006/main">
            <a:off x="4572000" y="1463039"/>
            <a:ext cx="2859405"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800" b="1">
                <a:solidFill>
                  <a:srgbClr val="142A4A"/>
                </a:solidFill>
                <a:latin typeface="Calibri"/>
                <a:ea typeface="Calibri"/>
                <a:cs typeface="Calibri"/>
              </a:defRPr>
            </a:defPPr>
          </a:lstStyle>
          <a:p xmlns:a="http://schemas.openxmlformats.org/drawingml/2006/main">
            <a:pPr>
              <a:buNone/>
              <a:defRPr sz="1800" b="1">
                <a:solidFill>
                  <a:srgbClr val="142A4A"/>
                </a:solidFill>
                <a:latin typeface="Calibri"/>
                <a:ea typeface="Calibri"/>
                <a:cs typeface="Calibri"/>
              </a:defRPr>
            </a:pPr>
            <a:r>
              <a:rPr sz="1800" b="1">
                <a:solidFill>
                  <a:srgbClr val="142A4A"/>
                </a:solidFill>
                <a:latin typeface="Calibri"/>
                <a:ea typeface="Calibri"/>
                <a:cs typeface="Calibri"/>
              </a:rPr>
              <a:t>Fourteen model features</a:t>
            </a:r>
          </a:p>
        </p:txBody>
      </p:sp>
      <p:sp>
        <p:nvSpPr>
          <p:cNvPr id="8" name="TextBox 7">
            <a:extLst xmlns:a="http://schemas.openxmlformats.org/drawingml/2006/main">
              <a:ext uri="{FF2B5EF4-FFF2-40B4-BE49-F238E27FC236}">
                <a16:creationId xmlns:a16="http://schemas.microsoft.com/office/drawing/2014/main" id="{2AB1495C-D5DB-461D-B08F-CB806DA64D29}"/>
              </a:ext>
            </a:extLst>
          </p:cNvPr>
          <p:cNvSpPr>
            <a:spLocks xmlns:a="http://schemas.openxmlformats.org/drawingml/2006/main" noGrp="1"/>
          </p:cNvSpPr>
          <p:nvPr/>
        </p:nvSpPr>
        <p:spPr>
          <a:xfrm xmlns:a="http://schemas.openxmlformats.org/drawingml/2006/main">
            <a:off x="4572000" y="1965960"/>
            <a:ext cx="3017520" cy="15240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Temperature gap and ratio</a:t>
            </a:r>
            <a:endParaRP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Mechanical power</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Torque normalized by speed</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Wear interaction terms</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Quality indicators (L, M, H)</a:t>
            </a:r>
          </a:p>
        </p:txBody>
      </p:sp>
      <p:sp>
        <p:nvSpPr>
          <p:cNvPr id="9" name="Rounded Rectangle 8">
            <a:extLst xmlns:a="http://schemas.openxmlformats.org/drawingml/2006/main">
              <a:ext uri="{FF2B5EF4-FFF2-40B4-BE49-F238E27FC236}">
                <a16:creationId xmlns:a16="http://schemas.microsoft.com/office/drawing/2014/main" id="{D34A7495-1A63-489E-9089-C03A685BA4CD}"/>
              </a:ext>
            </a:extLst>
          </p:cNvPr>
          <p:cNvSpPr>
            <a:spLocks xmlns:a="http://schemas.openxmlformats.org/drawingml/2006/main" noGrp="1"/>
          </p:cNvSpPr>
          <p:nvPr/>
        </p:nvSpPr>
        <p:spPr>
          <a:xfrm xmlns:a="http://schemas.openxmlformats.org/drawingml/2006/main">
            <a:off x="8046720" y="1325880"/>
            <a:ext cx="3383280" cy="214884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03607889-898D-4B17-B4B2-72BA12D4912E}"/>
              </a:ext>
            </a:extLst>
          </p:cNvPr>
          <p:cNvSpPr>
            <a:spLocks xmlns:a="http://schemas.openxmlformats.org/drawingml/2006/main" noGrp="1"/>
          </p:cNvSpPr>
          <p:nvPr/>
        </p:nvSpPr>
        <p:spPr>
          <a:xfrm xmlns:a="http://schemas.openxmlformats.org/drawingml/2006/main">
            <a:off x="8229600" y="1463039"/>
            <a:ext cx="2629218"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800" b="1">
                <a:solidFill>
                  <a:srgbClr val="142A4A"/>
                </a:solidFill>
                <a:latin typeface="Calibri"/>
                <a:ea typeface="Calibri"/>
                <a:cs typeface="Calibri"/>
              </a:defRPr>
            </a:defPPr>
          </a:lstStyle>
          <a:p xmlns:a="http://schemas.openxmlformats.org/drawingml/2006/main">
            <a:pPr>
              <a:buNone/>
              <a:defRPr sz="1800" b="1">
                <a:solidFill>
                  <a:srgbClr val="142A4A"/>
                </a:solidFill>
                <a:latin typeface="Calibri"/>
                <a:ea typeface="Calibri"/>
                <a:cs typeface="Calibri"/>
              </a:defRPr>
            </a:pPr>
            <a:r>
              <a:rPr sz="1800" b="1">
                <a:solidFill>
                  <a:srgbClr val="142A4A"/>
                </a:solidFill>
                <a:latin typeface="Calibri"/>
                <a:ea typeface="Calibri"/>
                <a:cs typeface="Calibri"/>
              </a:rPr>
              <a:t>Fixed evaluation setup</a:t>
            </a:r>
          </a:p>
        </p:txBody>
      </p:sp>
      <p:sp>
        <p:nvSpPr>
          <p:cNvPr id="11" name="TextBox 10">
            <a:extLst xmlns:a="http://schemas.openxmlformats.org/drawingml/2006/main">
              <a:ext uri="{FF2B5EF4-FFF2-40B4-BE49-F238E27FC236}">
                <a16:creationId xmlns:a16="http://schemas.microsoft.com/office/drawing/2014/main" id="{73A762FB-13B2-4AA2-865F-D3EF97110942}"/>
              </a:ext>
            </a:extLst>
          </p:cNvPr>
          <p:cNvSpPr>
            <a:spLocks xmlns:a="http://schemas.openxmlformats.org/drawingml/2006/main" noGrp="1"/>
          </p:cNvSpPr>
          <p:nvPr/>
        </p:nvSpPr>
        <p:spPr>
          <a:xfrm xmlns:a="http://schemas.openxmlformats.org/drawingml/2006/main">
            <a:off x="8229600" y="1965960"/>
            <a:ext cx="3017520" cy="15240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80% training, 20% test</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Stratification by failure label</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Random seed: 42</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300 trees per model</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Classification threshold: 0.5</a:t>
            </a:r>
          </a:p>
        </p:txBody>
      </p:sp>
      <p:sp>
        <p:nvSpPr>
          <p:cNvPr id="13" name="Rectangle 12">
            <a:extLst xmlns:a="http://schemas.openxmlformats.org/drawingml/2006/main">
              <a:ext uri="{FF2B5EF4-FFF2-40B4-BE49-F238E27FC236}">
                <a16:creationId xmlns:a16="http://schemas.microsoft.com/office/drawing/2014/main" id="{6A8F163A-A6AB-41D5-987D-40247729674E}"/>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B6041E5E-9981-4ED6-A08B-8D5A625BF933}"/>
              </a:ext>
            </a:extLst>
          </p:cNvPr>
          <p:cNvSpPr>
            <a:spLocks xmlns:a="http://schemas.openxmlformats.org/drawingml/2006/main" noGrp="1"/>
          </p:cNvSpPr>
          <p:nvPr/>
        </p:nvSpPr>
        <p:spPr>
          <a:xfrm xmlns:a="http://schemas.openxmlformats.org/drawingml/2006/main">
            <a:off x="11247120" y="6400800"/>
            <a:ext cx="69850"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5</a:t>
            </a:r>
          </a:p>
        </p:txBody>
      </p:sp>
      <p:sp>
        <p:nvSpPr>
          <p:cNvPr id="15" name="Imbalanced learning">
            <a:extLst xmlns:a="http://schemas.openxmlformats.org/drawingml/2006/main">
              <a:ext uri="{FF2B5EF4-FFF2-40B4-BE49-F238E27FC236}">
                <a16:creationId xmlns:a16="http://schemas.microsoft.com/office/drawing/2014/main" id="{FD6D7F96-99A5-4FB1-AC46-47565438D793}"/>
              </a:ext>
            </a:extLst>
          </p:cNvPr>
          <p:cNvSpPr>
            <a:spLocks xmlns:a="http://schemas.openxmlformats.org/drawingml/2006/main" noGrp="1"/>
          </p:cNvSpPr>
          <p:nvPr/>
        </p:nvSpPr>
        <p:spPr>
          <a:xfrm xmlns:a="http://schemas.openxmlformats.org/drawingml/2006/main">
            <a:off x="914400" y="3981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142A4A"/>
                </a:solidFill>
                <a:latin typeface="Calibri"/>
                <a:ea typeface="Calibri"/>
                <a:cs typeface="Calibri"/>
              </a:defRPr>
            </a:defPPr>
          </a:lstStyle>
          <a:p xmlns:a="http://schemas.openxmlformats.org/drawingml/2006/main">
            <a:pPr algn="l">
              <a:defRPr sz="2000" b="1">
                <a:solidFill>
                  <a:srgbClr val="142A4A"/>
                </a:solidFill>
                <a:latin typeface="Calibri"/>
                <a:ea typeface="Calibri"/>
                <a:cs typeface="Calibri"/>
              </a:defRPr>
            </a:pPr>
            <a:r>
              <a:rPr sz="2000" b="1">
                <a:solidFill>
                  <a:srgbClr val="142A4A"/>
                </a:solidFill>
                <a:latin typeface="Calibri"/>
                <a:ea typeface="Calibri"/>
                <a:cs typeface="Calibri"/>
              </a:rPr>
              <a:t>Imbalanced learning</a:t>
            </a:r>
          </a:p>
        </p:txBody>
      </p:sp>
      <p:sp>
        <p:nvSpPr>
          <p:cNvPr id="16" name="Random Forest uses balanced class weights. XGBoost">
            <a:extLst xmlns:a="http://schemas.openxmlformats.org/drawingml/2006/main">
              <a:ext uri="{FF2B5EF4-FFF2-40B4-BE49-F238E27FC236}">
                <a16:creationId xmlns:a16="http://schemas.microsoft.com/office/drawing/2014/main" id="{318A9095-B678-493B-9D49-280A52B17A90}"/>
              </a:ext>
            </a:extLst>
          </p:cNvPr>
          <p:cNvSpPr>
            <a:spLocks xmlns:a="http://schemas.openxmlformats.org/drawingml/2006/main" noGrp="1"/>
          </p:cNvSpPr>
          <p:nvPr/>
        </p:nvSpPr>
        <p:spPr>
          <a:xfrm xmlns:a="http://schemas.openxmlformats.org/drawingml/2006/main">
            <a:off x="914400" y="4533900"/>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32323"/>
                </a:solidFill>
                <a:latin typeface="Calibri"/>
                <a:ea typeface="Calibri"/>
                <a:cs typeface="Calibri"/>
              </a:defRPr>
            </a:defPPr>
          </a:lstStyle>
          <a:p xmlns:a="http://schemas.openxmlformats.org/drawingml/2006/main">
            <a:pPr algn="l">
              <a:defRPr sz="1800" b="0">
                <a:solidFill>
                  <a:srgbClr val="232323"/>
                </a:solidFill>
                <a:latin typeface="Calibri"/>
                <a:ea typeface="Calibri"/>
                <a:cs typeface="Calibri"/>
              </a:defRPr>
            </a:pPr>
            <a:r>
              <a:rPr sz="1800" b="0">
                <a:solidFill>
                  <a:srgbClr val="232323"/>
                </a:solidFill>
                <a:latin typeface="Calibri"/>
                <a:ea typeface="Calibri"/>
                <a:cs typeface="Calibri"/>
              </a:rPr>
              <a:t>Random Forest uses balanced class weights. XGBoost uses a training class ratio of 28.52.</a:t>
            </a:r>
          </a:p>
          <a:p xmlns:a="http://schemas.openxmlformats.org/drawingml/2006/main">
            <a:pPr algn="l">
              <a:defRPr sz="1800" b="0">
                <a:solidFill>
                  <a:srgbClr val="232323"/>
                </a:solidFill>
                <a:latin typeface="Calibri"/>
                <a:ea typeface="Calibri"/>
                <a:cs typeface="Calibri"/>
              </a:defRPr>
            </a:pPr>
            <a:r>
              <a:rPr sz="1800" b="0">
                <a:solidFill>
                  <a:srgbClr val="232323"/>
                </a:solidFill>
                <a:latin typeface="Calibri"/>
                <a:ea typeface="Calibri"/>
                <a:cs typeface="Calibri"/>
              </a:rPr>
              <a:t>Both models use the same saved split and engineered features.</a:t>
            </a:r>
          </a:p>
        </p:txBody>
      </p:sp>
    </p:spTree>
    <p:extLst>
      <p:ext uri="{BB962C8B-B14F-4D97-AF65-F5344CB8AC3E}">
        <p14:creationId xmlns:p14="http://schemas.microsoft.com/office/powerpoint/2010/main" val="210404870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1429351-CA31-48BA-946C-08DA052037E8}"/>
              </a:ext>
            </a:extLst>
          </p:cNvPr>
          <p:cNvSpPr>
            <a:spLocks xmlns:a="http://schemas.openxmlformats.org/drawingml/2006/main" noGrp="1"/>
          </p:cNvSpPr>
          <p:nvPr/>
        </p:nvSpPr>
        <p:spPr>
          <a:xfrm xmlns:a="http://schemas.openxmlformats.org/drawingml/2006/main">
            <a:off x="640080" y="411480"/>
            <a:ext cx="7914005"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Failure prediction on the 2,000-record test set</a:t>
            </a:r>
          </a:p>
        </p:txBody>
      </p:sp>
      <p:sp>
        <p:nvSpPr>
          <p:cNvPr id="3" name="Rounded Rectangle 2">
            <a:extLst xmlns:a="http://schemas.openxmlformats.org/drawingml/2006/main">
              <a:ext uri="{FF2B5EF4-FFF2-40B4-BE49-F238E27FC236}">
                <a16:creationId xmlns:a16="http://schemas.microsoft.com/office/drawing/2014/main" id="{912FE116-D9BA-45D9-BB02-C812BB63E51E}"/>
              </a:ext>
            </a:extLst>
          </p:cNvPr>
          <p:cNvSpPr>
            <a:spLocks xmlns:a="http://schemas.openxmlformats.org/drawingml/2006/main" noGrp="1"/>
          </p:cNvSpPr>
          <p:nvPr/>
        </p:nvSpPr>
        <p:spPr>
          <a:xfrm xmlns:a="http://schemas.openxmlformats.org/drawingml/2006/main">
            <a:off x="731520" y="1325880"/>
            <a:ext cx="5120640" cy="429768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ounded Rectangle 5">
            <a:extLst xmlns:a="http://schemas.openxmlformats.org/drawingml/2006/main">
              <a:ext uri="{FF2B5EF4-FFF2-40B4-BE49-F238E27FC236}">
                <a16:creationId xmlns:a16="http://schemas.microsoft.com/office/drawing/2014/main" id="{7400F4C7-F36D-4588-841E-E2A55C196436}"/>
              </a:ext>
            </a:extLst>
          </p:cNvPr>
          <p:cNvSpPr>
            <a:spLocks xmlns:a="http://schemas.openxmlformats.org/drawingml/2006/main" noGrp="1"/>
          </p:cNvSpPr>
          <p:nvPr/>
        </p:nvSpPr>
        <p:spPr>
          <a:xfrm xmlns:a="http://schemas.openxmlformats.org/drawingml/2006/main">
            <a:off x="6309360" y="1325880"/>
            <a:ext cx="5120640" cy="429768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E0F1EB1C-9F39-438F-A8BB-7F5B18843C32}"/>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D6411640-4599-4A6A-B267-CC3AFDD26E11}"/>
              </a:ext>
            </a:extLst>
          </p:cNvPr>
          <p:cNvSpPr>
            <a:spLocks xmlns:a="http://schemas.openxmlformats.org/drawingml/2006/main" noGrp="1"/>
          </p:cNvSpPr>
          <p:nvPr/>
        </p:nvSpPr>
        <p:spPr>
          <a:xfrm xmlns:a="http://schemas.openxmlformats.org/drawingml/2006/main">
            <a:off x="11247120" y="6400800"/>
            <a:ext cx="69850"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6</a:t>
            </a:r>
          </a:p>
        </p:txBody>
      </p:sp>
      <p:sp>
        <p:nvSpPr>
          <p:cNvPr id="11" name="Saved test metrics">
            <a:extLst xmlns:a="http://schemas.openxmlformats.org/drawingml/2006/main">
              <a:ext uri="{FF2B5EF4-FFF2-40B4-BE49-F238E27FC236}">
                <a16:creationId xmlns:a16="http://schemas.microsoft.com/office/drawing/2014/main" id="{728C6B9F-E190-4576-B11F-610C8E0C88E1}"/>
              </a:ext>
            </a:extLst>
          </p:cNvPr>
          <p:cNvSpPr>
            <a:spLocks xmlns:a="http://schemas.openxmlformats.org/drawingml/2006/main" noGrp="1"/>
          </p:cNvSpPr>
          <p:nvPr/>
        </p:nvSpPr>
        <p:spPr>
          <a:xfrm xmlns:a="http://schemas.openxmlformats.org/drawingml/2006/main">
            <a:off x="914400" y="1562100"/>
            <a:ext cx="4752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142A4A"/>
                </a:solidFill>
                <a:latin typeface="Calibri"/>
                <a:ea typeface="Calibri"/>
                <a:cs typeface="Calibri"/>
              </a:defRPr>
            </a:defPPr>
          </a:lstStyle>
          <a:p xmlns:a="http://schemas.openxmlformats.org/drawingml/2006/main">
            <a:pPr algn="l">
              <a:defRPr sz="2000" b="1">
                <a:solidFill>
                  <a:srgbClr val="142A4A"/>
                </a:solidFill>
                <a:latin typeface="Calibri"/>
                <a:ea typeface="Calibri"/>
                <a:cs typeface="Calibri"/>
              </a:defRPr>
            </a:pPr>
            <a:r>
              <a:rPr sz="2000" b="1">
                <a:solidFill>
                  <a:srgbClr val="142A4A"/>
                </a:solidFill>
                <a:latin typeface="Calibri"/>
                <a:ea typeface="Calibri"/>
                <a:cs typeface="Calibri"/>
              </a:rPr>
              <a:t>Saved test metrics</a:t>
            </a:r>
          </a:p>
        </p:txBody>
      </p:sp>
      <p:graphicFrame>
        <p:nvGraphicFramePr>
          <p:cNvPr id="12" name="">
            <a:extLst xmlns:a="http://schemas.openxmlformats.org/drawingml/2006/main">
              <a:ext uri="{FF2B5EF4-FFF2-40B4-BE49-F238E27FC236}">
                <a16:creationId xmlns:a16="http://schemas.microsoft.com/office/drawing/2014/main" id="{DC5BB2B3-A542-4C66-8CB3-2DFD03CD7454}"/>
              </a:ext>
            </a:extLst>
          </p:cNvPr>
          <p:cNvGraphicFramePr/>
          <p:nvPr/>
        </p:nvGraphicFramePr>
        <p:xfrm>
          <a:off xmlns:a="http://schemas.openxmlformats.org/drawingml/2006/main" x="914400" y="2105025"/>
          <a:ext xmlns:a="http://schemas.openxmlformats.org/drawingml/2006/main" cx="4752975" cy="3000375"/>
        </p:xfrm>
        <a:graphic xmlns:a="http://schemas.openxmlformats.org/drawingml/2006/main">
          <a:graphicData uri="http://schemas.openxmlformats.org/drawingml/2006/table">
            <a:tbl>
              <a:tblPr firstRow="0" bandRow="0"/>
              <a:tblGrid>
                <a:gridCol w="2143125"/>
                <a:gridCol w="1304925"/>
                <a:gridCol w="1304925"/>
              </a:tblGrid>
              <a:tr h="428625">
                <a:tc>
                  <a:txBody>
                    <a:bodyPr/>
                    <a:lstStyle/>
                    <a:p>
                      <a:pPr algn="l"/>
                      <a:r>
                        <a:rPr sz="1400" b="1">
                          <a:solidFill>
                            <a:srgbClr val="FFFFFF"/>
                          </a:solidFill>
                          <a:latin typeface="Calibri"/>
                          <a:ea typeface="Calibri"/>
                          <a:cs typeface="Calibri"/>
                        </a:rPr>
                        <a:t>Metric</a:t>
                      </a:r>
                    </a:p>
                  </a:txBody>
                  <a:tcPr marL="95250" marR="95250" marT="76200" marB="76200" anchor="ctr">
                    <a:solidFill>
                      <a:srgbClr val="142A4A"/>
                    </a:solidFill>
                  </a:tcPr>
                </a:tc>
                <a:tc>
                  <a:txBody>
                    <a:bodyPr/>
                    <a:lstStyle/>
                    <a:p>
                      <a:pPr algn="ctr"/>
                      <a:r>
                        <a:rPr sz="1400" b="1">
                          <a:solidFill>
                            <a:srgbClr val="FFFFFF"/>
                          </a:solidFill>
                          <a:latin typeface="Calibri"/>
                          <a:ea typeface="Calibri"/>
                          <a:cs typeface="Calibri"/>
                        </a:rPr>
                        <a:t>Random Forest</a:t>
                      </a:r>
                    </a:p>
                  </a:txBody>
                  <a:tcPr marL="95250" marR="95250" marT="76200" marB="76200" anchor="ctr">
                    <a:solidFill>
                      <a:srgbClr val="142A4A"/>
                    </a:solidFill>
                  </a:tcPr>
                </a:tc>
                <a:tc>
                  <a:txBody>
                    <a:bodyPr/>
                    <a:lstStyle/>
                    <a:p>
                      <a:pPr algn="ctr"/>
                      <a:r>
                        <a:rPr sz="1400" b="1">
                          <a:solidFill>
                            <a:srgbClr val="FFFFFF"/>
                          </a:solidFill>
                          <a:latin typeface="Calibri"/>
                          <a:ea typeface="Calibri"/>
                          <a:cs typeface="Calibri"/>
                        </a:rPr>
                        <a:t>XGBoost</a:t>
                      </a:r>
                    </a:p>
                  </a:txBody>
                  <a:tcPr marL="95250" marR="95250" marT="76200" marB="76200" anchor="ctr">
                    <a:solidFill>
                      <a:srgbClr val="142A4A"/>
                    </a:solidFill>
                  </a:tcPr>
                </a:tc>
              </a:tr>
              <a:tr h="428625">
                <a:tc>
                  <a:txBody>
                    <a:bodyPr/>
                    <a:lstStyle/>
                    <a:p>
                      <a:pPr algn="l"/>
                      <a:r>
                        <a:rPr sz="1400" b="0">
                          <a:solidFill>
                            <a:srgbClr val="232323"/>
                          </a:solidFill>
                          <a:latin typeface="Calibri"/>
                          <a:ea typeface="Calibri"/>
                          <a:cs typeface="Calibri"/>
                        </a:rPr>
                        <a:t>Accuracy</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99.10%</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98.50%</a:t>
                      </a:r>
                    </a:p>
                  </a:txBody>
                  <a:tcPr marL="95250" marR="95250" marT="76200" marB="76200" anchor="ctr">
                    <a:solidFill>
                      <a:srgbClr val="FFFFFF"/>
                    </a:solidFill>
                  </a:tcPr>
                </a:tc>
              </a:tr>
              <a:tr h="428625">
                <a:tc>
                  <a:txBody>
                    <a:bodyPr/>
                    <a:lstStyle/>
                    <a:p>
                      <a:pPr algn="l"/>
                      <a:r>
                        <a:rPr sz="1400" b="0">
                          <a:solidFill>
                            <a:srgbClr val="232323"/>
                          </a:solidFill>
                          <a:latin typeface="Calibri"/>
                          <a:ea typeface="Calibri"/>
                          <a:cs typeface="Calibri"/>
                        </a:rPr>
                        <a:t>Precision</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91.67%</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75.00%</a:t>
                      </a:r>
                    </a:p>
                  </a:txBody>
                  <a:tcPr marL="95250" marR="95250" marT="76200" marB="76200" anchor="ctr">
                    <a:solidFill>
                      <a:srgbClr val="F2F6FA"/>
                    </a:solidFill>
                  </a:tcPr>
                </a:tc>
              </a:tr>
              <a:tr h="428625">
                <a:tc>
                  <a:txBody>
                    <a:bodyPr/>
                    <a:lstStyle/>
                    <a:p>
                      <a:pPr algn="l"/>
                      <a:r>
                        <a:rPr sz="1400" b="0">
                          <a:solidFill>
                            <a:srgbClr val="232323"/>
                          </a:solidFill>
                          <a:latin typeface="Calibri"/>
                          <a:ea typeface="Calibri"/>
                          <a:cs typeface="Calibri"/>
                        </a:rPr>
                        <a:t>Recall</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80.88%</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83.82%</a:t>
                      </a:r>
                    </a:p>
                  </a:txBody>
                  <a:tcPr marL="95250" marR="95250" marT="76200" marB="76200" anchor="ctr">
                    <a:solidFill>
                      <a:srgbClr val="FFFFFF"/>
                    </a:solidFill>
                  </a:tcPr>
                </a:tc>
              </a:tr>
              <a:tr h="428625">
                <a:tc>
                  <a:txBody>
                    <a:bodyPr/>
                    <a:lstStyle/>
                    <a:p>
                      <a:pPr algn="l"/>
                      <a:r>
                        <a:rPr sz="1400" b="0">
                          <a:solidFill>
                            <a:srgbClr val="232323"/>
                          </a:solidFill>
                          <a:latin typeface="Calibri"/>
                          <a:ea typeface="Calibri"/>
                          <a:cs typeface="Calibri"/>
                        </a:rPr>
                        <a:t>F1</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85.94%</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79.17%</a:t>
                      </a:r>
                    </a:p>
                  </a:txBody>
                  <a:tcPr marL="95250" marR="95250" marT="76200" marB="76200" anchor="ctr">
                    <a:solidFill>
                      <a:srgbClr val="F2F6FA"/>
                    </a:solidFill>
                  </a:tcPr>
                </a:tc>
              </a:tr>
              <a:tr h="428625">
                <a:tc>
                  <a:txBody>
                    <a:bodyPr/>
                    <a:lstStyle/>
                    <a:p>
                      <a:pPr algn="l"/>
                      <a:r>
                        <a:rPr sz="1400" b="0">
                          <a:solidFill>
                            <a:srgbClr val="232323"/>
                          </a:solidFill>
                          <a:latin typeface="Calibri"/>
                          <a:ea typeface="Calibri"/>
                          <a:cs typeface="Calibri"/>
                        </a:rPr>
                        <a:t>ROC-AUC</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0.9686</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0.9821</a:t>
                      </a:r>
                    </a:p>
                  </a:txBody>
                  <a:tcPr marL="95250" marR="95250" marT="76200" marB="76200" anchor="ctr">
                    <a:solidFill>
                      <a:srgbClr val="FFFFFF"/>
                    </a:solidFill>
                  </a:tcPr>
                </a:tc>
              </a:tr>
              <a:tr h="428625">
                <a:tc>
                  <a:txBody>
                    <a:bodyPr/>
                    <a:lstStyle/>
                    <a:p>
                      <a:pPr algn="l"/>
                      <a:r>
                        <a:rPr sz="1400" b="0">
                          <a:solidFill>
                            <a:srgbClr val="232323"/>
                          </a:solidFill>
                          <a:latin typeface="Calibri"/>
                          <a:ea typeface="Calibri"/>
                          <a:cs typeface="Calibri"/>
                        </a:rPr>
                        <a:t>Average precision</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0.8606</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0.8902</a:t>
                      </a:r>
                    </a:p>
                  </a:txBody>
                  <a:tcPr marL="95250" marR="95250" marT="76200" marB="76200" anchor="ctr">
                    <a:solidFill>
                      <a:srgbClr val="F2F6FA"/>
                    </a:solidFill>
                  </a:tcPr>
                </a:tc>
              </a:tr>
            </a:tbl>
          </a:graphicData>
        </a:graphic>
      </p:graphicFrame>
      <p:graphicFrame>
        <p:nvGraphicFramePr>
          <p:cNvPr id="13" name="Chart">
            <a:extLst xmlns:a="http://schemas.openxmlformats.org/drawingml/2006/main">
              <a:ext uri="{FF2B5EF4-FFF2-40B4-BE49-F238E27FC236}">
                <a16:creationId xmlns:a16="http://schemas.microsoft.com/office/drawing/2014/main" id="{D36758B9-D108-4588-A439-A659D47FD139}"/>
              </a:ext>
            </a:extLst>
          </p:cNvPr>
          <p:cNvGraphicFramePr/>
          <p:nvPr/>
        </p:nvGraphicFramePr>
        <p:xfrm>
          <a:off xmlns:a="http://schemas.openxmlformats.org/drawingml/2006/main" x="6496050" y="1581150"/>
          <a:ext xmlns:a="http://schemas.openxmlformats.org/drawingml/2006/main" cx="4743450" cy="3762375"/>
        </p:xfrm>
        <a:graphic xmlns:a="http://schemas.openxmlformats.org/drawingml/2006/main">
          <a:graphicData uri="http://schemas.openxmlformats.org/drawingml/2006/chart">
            <c:chart xmlns:r="http://schemas.openxmlformats.org/officeDocument/2006/relationships" xmlns:c="http://schemas.openxmlformats.org/drawingml/2006/chart" r:id="R1e74529dde57494d"/>
          </a:graphicData>
        </a:graphic>
      </p:graphicFrame>
      <p:sp>
        <p:nvSpPr>
          <p:cNvPr id="14" name="The twin uses Random Forest, which has higher prec">
            <a:extLst xmlns:a="http://schemas.openxmlformats.org/drawingml/2006/main">
              <a:ext uri="{FF2B5EF4-FFF2-40B4-BE49-F238E27FC236}">
                <a16:creationId xmlns:a16="http://schemas.microsoft.com/office/drawing/2014/main" id="{15091B73-9C4B-4D8A-922A-76ED10860687}"/>
              </a:ext>
            </a:extLst>
          </p:cNvPr>
          <p:cNvSpPr>
            <a:spLocks xmlns:a="http://schemas.openxmlformats.org/drawingml/2006/main" noGrp="1"/>
          </p:cNvSpPr>
          <p:nvPr/>
        </p:nvSpPr>
        <p:spPr>
          <a:xfrm xmlns:a="http://schemas.openxmlformats.org/drawingml/2006/main">
            <a:off x="82296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66AD"/>
                </a:solidFill>
                <a:latin typeface="Calibri"/>
                <a:ea typeface="Calibri"/>
                <a:cs typeface="Calibri"/>
              </a:defRPr>
            </a:defPPr>
          </a:lstStyle>
          <a:p xmlns:a="http://schemas.openxmlformats.org/drawingml/2006/main">
            <a:pPr algn="l">
              <a:defRPr sz="1500" b="1">
                <a:solidFill>
                  <a:srgbClr val="2F66AD"/>
                </a:solidFill>
                <a:latin typeface="Calibri"/>
                <a:ea typeface="Calibri"/>
                <a:cs typeface="Calibri"/>
              </a:defRPr>
            </a:pPr>
            <a:r>
              <a:rPr sz="1500" b="1">
                <a:solidFill>
                  <a:srgbClr val="2F66AD"/>
                </a:solidFill>
                <a:latin typeface="Calibri"/>
                <a:ea typeface="Calibri"/>
                <a:cs typeface="Calibri"/>
              </a:rPr>
              <a:t>The twin uses Random Forest, which has higher precision and F1 on this saved split.</a:t>
            </a:r>
          </a:p>
        </p:txBody>
      </p:sp>
    </p:spTree>
    <p:extLst>
      <p:ext uri="{BB962C8B-B14F-4D97-AF65-F5344CB8AC3E}">
        <p14:creationId xmlns:p14="http://schemas.microsoft.com/office/powerpoint/2010/main" val="42063983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1429351-CA31-48BA-946C-08DA052037E8}"/>
              </a:ext>
            </a:extLst>
          </p:cNvPr>
          <p:cNvSpPr>
            <a:spLocks xmlns:a="http://schemas.openxmlformats.org/drawingml/2006/main" noGrp="1"/>
          </p:cNvSpPr>
          <p:nvPr/>
        </p:nvSpPr>
        <p:spPr>
          <a:xfrm xmlns:a="http://schemas.openxmlformats.org/drawingml/2006/main">
            <a:off x="640080" y="411480"/>
            <a:ext cx="5637530"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Missed failures and false alarms</a:t>
            </a:r>
          </a:p>
        </p:txBody>
      </p:sp>
      <p:sp>
        <p:nvSpPr>
          <p:cNvPr id="3" name="Rounded Rectangle 2">
            <a:extLst xmlns:a="http://schemas.openxmlformats.org/drawingml/2006/main">
              <a:ext uri="{FF2B5EF4-FFF2-40B4-BE49-F238E27FC236}">
                <a16:creationId xmlns:a16="http://schemas.microsoft.com/office/drawing/2014/main" id="{912FE116-D9BA-45D9-BB02-C812BB63E51E}"/>
              </a:ext>
            </a:extLst>
          </p:cNvPr>
          <p:cNvSpPr>
            <a:spLocks xmlns:a="http://schemas.openxmlformats.org/drawingml/2006/main" noGrp="1"/>
          </p:cNvSpPr>
          <p:nvPr/>
        </p:nvSpPr>
        <p:spPr>
          <a:xfrm xmlns:a="http://schemas.openxmlformats.org/drawingml/2006/main">
            <a:off x="731520" y="1325880"/>
            <a:ext cx="5120640" cy="429768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ounded Rectangle 5">
            <a:extLst xmlns:a="http://schemas.openxmlformats.org/drawingml/2006/main">
              <a:ext uri="{FF2B5EF4-FFF2-40B4-BE49-F238E27FC236}">
                <a16:creationId xmlns:a16="http://schemas.microsoft.com/office/drawing/2014/main" id="{7400F4C7-F36D-4588-841E-E2A55C196436}"/>
              </a:ext>
            </a:extLst>
          </p:cNvPr>
          <p:cNvSpPr>
            <a:spLocks xmlns:a="http://schemas.openxmlformats.org/drawingml/2006/main" noGrp="1"/>
          </p:cNvSpPr>
          <p:nvPr/>
        </p:nvSpPr>
        <p:spPr>
          <a:xfrm xmlns:a="http://schemas.openxmlformats.org/drawingml/2006/main">
            <a:off x="6309360" y="1325880"/>
            <a:ext cx="5120640" cy="429768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E0F1EB1C-9F39-438F-A8BB-7F5B18843C32}"/>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D6411640-4599-4A6A-B267-CC3AFDD26E11}"/>
              </a:ext>
            </a:extLst>
          </p:cNvPr>
          <p:cNvSpPr>
            <a:spLocks xmlns:a="http://schemas.openxmlformats.org/drawingml/2006/main" noGrp="1"/>
          </p:cNvSpPr>
          <p:nvPr/>
        </p:nvSpPr>
        <p:spPr>
          <a:xfrm xmlns:a="http://schemas.openxmlformats.org/drawingml/2006/main">
            <a:off x="11247120" y="6400800"/>
            <a:ext cx="69850"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7</a:t>
            </a:r>
          </a:p>
        </p:txBody>
      </p:sp>
      <p:sp>
        <p:nvSpPr>
          <p:cNvPr id="11" name="Random Forest">
            <a:extLst xmlns:a="http://schemas.openxmlformats.org/drawingml/2006/main">
              <a:ext uri="{FF2B5EF4-FFF2-40B4-BE49-F238E27FC236}">
                <a16:creationId xmlns:a16="http://schemas.microsoft.com/office/drawing/2014/main" id="{90BA8CB7-945B-4EF9-9696-6AAD69CDD141}"/>
              </a:ext>
            </a:extLst>
          </p:cNvPr>
          <p:cNvSpPr>
            <a:spLocks xmlns:a="http://schemas.openxmlformats.org/drawingml/2006/main" noGrp="1"/>
          </p:cNvSpPr>
          <p:nvPr/>
        </p:nvSpPr>
        <p:spPr>
          <a:xfrm xmlns:a="http://schemas.openxmlformats.org/drawingml/2006/main">
            <a:off x="914400" y="1562100"/>
            <a:ext cx="4752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142A4A"/>
                </a:solidFill>
                <a:latin typeface="Calibri"/>
                <a:ea typeface="Calibri"/>
                <a:cs typeface="Calibri"/>
              </a:defRPr>
            </a:defPPr>
          </a:lstStyle>
          <a:p xmlns:a="http://schemas.openxmlformats.org/drawingml/2006/main">
            <a:pPr algn="l">
              <a:defRPr sz="2000" b="1">
                <a:solidFill>
                  <a:srgbClr val="142A4A"/>
                </a:solidFill>
                <a:latin typeface="Calibri"/>
                <a:ea typeface="Calibri"/>
                <a:cs typeface="Calibri"/>
              </a:defRPr>
            </a:pPr>
            <a:r>
              <a:rPr sz="2000" b="1">
                <a:solidFill>
                  <a:srgbClr val="142A4A"/>
                </a:solidFill>
                <a:latin typeface="Calibri"/>
                <a:ea typeface="Calibri"/>
                <a:cs typeface="Calibri"/>
              </a:rPr>
              <a:t>Random Forest</a:t>
            </a:r>
          </a:p>
        </p:txBody>
      </p:sp>
      <p:sp>
        <p:nvSpPr>
          <p:cNvPr id="12" name="XGBoost">
            <a:extLst xmlns:a="http://schemas.openxmlformats.org/drawingml/2006/main">
              <a:ext uri="{FF2B5EF4-FFF2-40B4-BE49-F238E27FC236}">
                <a16:creationId xmlns:a16="http://schemas.microsoft.com/office/drawing/2014/main" id="{1A504229-44A4-46D0-85AB-55B3C804A244}"/>
              </a:ext>
            </a:extLst>
          </p:cNvPr>
          <p:cNvSpPr>
            <a:spLocks xmlns:a="http://schemas.openxmlformats.org/drawingml/2006/main" noGrp="1"/>
          </p:cNvSpPr>
          <p:nvPr/>
        </p:nvSpPr>
        <p:spPr>
          <a:xfrm xmlns:a="http://schemas.openxmlformats.org/drawingml/2006/main">
            <a:off x="6496050" y="1562100"/>
            <a:ext cx="4752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142A4A"/>
                </a:solidFill>
                <a:latin typeface="Calibri"/>
                <a:ea typeface="Calibri"/>
                <a:cs typeface="Calibri"/>
              </a:defRPr>
            </a:defPPr>
          </a:lstStyle>
          <a:p xmlns:a="http://schemas.openxmlformats.org/drawingml/2006/main">
            <a:pPr algn="l">
              <a:defRPr sz="2000" b="1">
                <a:solidFill>
                  <a:srgbClr val="142A4A"/>
                </a:solidFill>
                <a:latin typeface="Calibri"/>
                <a:ea typeface="Calibri"/>
                <a:cs typeface="Calibri"/>
              </a:defRPr>
            </a:pPr>
            <a:r>
              <a:rPr sz="2000" b="1">
                <a:solidFill>
                  <a:srgbClr val="142A4A"/>
                </a:solidFill>
                <a:latin typeface="Calibri"/>
                <a:ea typeface="Calibri"/>
                <a:cs typeface="Calibri"/>
              </a:rPr>
              <a:t>XGBoost</a:t>
            </a:r>
          </a:p>
        </p:txBody>
      </p:sp>
      <p:graphicFrame>
        <p:nvGraphicFramePr>
          <p:cNvPr id="13" name="">
            <a:extLst xmlns:a="http://schemas.openxmlformats.org/drawingml/2006/main">
              <a:ext uri="{FF2B5EF4-FFF2-40B4-BE49-F238E27FC236}">
                <a16:creationId xmlns:a16="http://schemas.microsoft.com/office/drawing/2014/main" id="{F721D14D-4354-43CC-A2D5-D00761C42070}"/>
              </a:ext>
            </a:extLst>
          </p:cNvPr>
          <p:cNvGraphicFramePr/>
          <p:nvPr/>
        </p:nvGraphicFramePr>
        <p:xfrm>
          <a:off xmlns:a="http://schemas.openxmlformats.org/drawingml/2006/main" x="914400" y="2266950"/>
          <a:ext xmlns:a="http://schemas.openxmlformats.org/drawingml/2006/main" cx="4752975" cy="1828800"/>
        </p:xfrm>
        <a:graphic xmlns:a="http://schemas.openxmlformats.org/drawingml/2006/main">
          <a:graphicData uri="http://schemas.openxmlformats.org/drawingml/2006/table">
            <a:tbl>
              <a:tblPr firstRow="0" bandRow="0"/>
              <a:tblGrid>
                <a:gridCol w="2428875"/>
                <a:gridCol w="1162050"/>
                <a:gridCol w="1162050"/>
              </a:tblGrid>
              <a:tr h="609600">
                <a:tc>
                  <a:txBody>
                    <a:bodyPr/>
                    <a:lstStyle/>
                    <a:p>
                      <a:pPr algn="l"/>
                      <a:r>
                        <a:rPr sz="1500" b="1">
                          <a:solidFill>
                            <a:srgbClr val="FFFFFF"/>
                          </a:solidFill>
                          <a:latin typeface="Calibri"/>
                          <a:ea typeface="Calibri"/>
                          <a:cs typeface="Calibri"/>
                        </a:rPr>
                        <a:t>Actual / predicted</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Normal</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Failure</a:t>
                      </a:r>
                    </a:p>
                  </a:txBody>
                  <a:tcPr marL="95250" marR="95250" marT="76200" marB="76200" anchor="ctr">
                    <a:solidFill>
                      <a:srgbClr val="142A4A"/>
                    </a:solidFill>
                  </a:tcPr>
                </a:tc>
              </a:tr>
              <a:tr h="609600">
                <a:tc>
                  <a:txBody>
                    <a:bodyPr/>
                    <a:lstStyle/>
                    <a:p>
                      <a:pPr algn="l"/>
                      <a:r>
                        <a:rPr sz="1500" b="0">
                          <a:solidFill>
                            <a:srgbClr val="232323"/>
                          </a:solidFill>
                          <a:latin typeface="Calibri"/>
                          <a:ea typeface="Calibri"/>
                          <a:cs typeface="Calibri"/>
                        </a:rPr>
                        <a:t>Normal</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1,927</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5</a:t>
                      </a:r>
                    </a:p>
                  </a:txBody>
                  <a:tcPr marL="95250" marR="95250" marT="76200" marB="76200" anchor="ctr">
                    <a:solidFill>
                      <a:srgbClr val="FFFFFF"/>
                    </a:solidFill>
                  </a:tcPr>
                </a:tc>
              </a:tr>
              <a:tr h="609600">
                <a:tc>
                  <a:txBody>
                    <a:bodyPr/>
                    <a:lstStyle/>
                    <a:p>
                      <a:pPr algn="l"/>
                      <a:r>
                        <a:rPr sz="1500" b="0">
                          <a:solidFill>
                            <a:srgbClr val="232323"/>
                          </a:solidFill>
                          <a:latin typeface="Calibri"/>
                          <a:ea typeface="Calibri"/>
                          <a:cs typeface="Calibri"/>
                        </a:rPr>
                        <a:t>Failure</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13</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55</a:t>
                      </a:r>
                    </a:p>
                  </a:txBody>
                  <a:tcPr marL="95250" marR="95250" marT="76200" marB="76200" anchor="ctr">
                    <a:solidFill>
                      <a:srgbClr val="F2F6FA"/>
                    </a:solidFill>
                  </a:tcPr>
                </a:tc>
              </a:tr>
            </a:tbl>
          </a:graphicData>
        </a:graphic>
      </p:graphicFrame>
      <p:graphicFrame>
        <p:nvGraphicFramePr>
          <p:cNvPr id="14" name="">
            <a:extLst xmlns:a="http://schemas.openxmlformats.org/drawingml/2006/main">
              <a:ext uri="{FF2B5EF4-FFF2-40B4-BE49-F238E27FC236}">
                <a16:creationId xmlns:a16="http://schemas.microsoft.com/office/drawing/2014/main" id="{DA4266E7-1DE9-4EB3-8D07-6F439D419E47}"/>
              </a:ext>
            </a:extLst>
          </p:cNvPr>
          <p:cNvGraphicFramePr/>
          <p:nvPr/>
        </p:nvGraphicFramePr>
        <p:xfrm>
          <a:off xmlns:a="http://schemas.openxmlformats.org/drawingml/2006/main" x="6496050" y="2266950"/>
          <a:ext xmlns:a="http://schemas.openxmlformats.org/drawingml/2006/main" cx="4752975" cy="1828800"/>
        </p:xfrm>
        <a:graphic xmlns:a="http://schemas.openxmlformats.org/drawingml/2006/main">
          <a:graphicData uri="http://schemas.openxmlformats.org/drawingml/2006/table">
            <a:tbl>
              <a:tblPr firstRow="0" bandRow="0"/>
              <a:tblGrid>
                <a:gridCol w="2428875"/>
                <a:gridCol w="1162050"/>
                <a:gridCol w="1162050"/>
              </a:tblGrid>
              <a:tr h="609600">
                <a:tc>
                  <a:txBody>
                    <a:bodyPr/>
                    <a:lstStyle/>
                    <a:p>
                      <a:pPr algn="l"/>
                      <a:r>
                        <a:rPr sz="1500" b="1">
                          <a:solidFill>
                            <a:srgbClr val="FFFFFF"/>
                          </a:solidFill>
                          <a:latin typeface="Calibri"/>
                          <a:ea typeface="Calibri"/>
                          <a:cs typeface="Calibri"/>
                        </a:rPr>
                        <a:t>Actual / predicted</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Normal</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Failure</a:t>
                      </a:r>
                    </a:p>
                  </a:txBody>
                  <a:tcPr marL="95250" marR="95250" marT="76200" marB="76200" anchor="ctr">
                    <a:solidFill>
                      <a:srgbClr val="142A4A"/>
                    </a:solidFill>
                  </a:tcPr>
                </a:tc>
              </a:tr>
              <a:tr h="609600">
                <a:tc>
                  <a:txBody>
                    <a:bodyPr/>
                    <a:lstStyle/>
                    <a:p>
                      <a:pPr algn="l"/>
                      <a:r>
                        <a:rPr sz="1500" b="0">
                          <a:solidFill>
                            <a:srgbClr val="232323"/>
                          </a:solidFill>
                          <a:latin typeface="Calibri"/>
                          <a:ea typeface="Calibri"/>
                          <a:cs typeface="Calibri"/>
                        </a:rPr>
                        <a:t>Normal</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1,913</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19</a:t>
                      </a:r>
                    </a:p>
                  </a:txBody>
                  <a:tcPr marL="95250" marR="95250" marT="76200" marB="76200" anchor="ctr">
                    <a:solidFill>
                      <a:srgbClr val="FFFFFF"/>
                    </a:solidFill>
                  </a:tcPr>
                </a:tc>
              </a:tr>
              <a:tr h="609600">
                <a:tc>
                  <a:txBody>
                    <a:bodyPr/>
                    <a:lstStyle/>
                    <a:p>
                      <a:pPr algn="l"/>
                      <a:r>
                        <a:rPr sz="1500" b="0">
                          <a:solidFill>
                            <a:srgbClr val="232323"/>
                          </a:solidFill>
                          <a:latin typeface="Calibri"/>
                          <a:ea typeface="Calibri"/>
                          <a:cs typeface="Calibri"/>
                        </a:rPr>
                        <a:t>Failure</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11</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57</a:t>
                      </a:r>
                    </a:p>
                  </a:txBody>
                  <a:tcPr marL="95250" marR="95250" marT="76200" marB="76200" anchor="ctr">
                    <a:solidFill>
                      <a:srgbClr val="F2F6FA"/>
                    </a:solidFill>
                  </a:tcPr>
                </a:tc>
              </a:tr>
            </a:tbl>
          </a:graphicData>
        </a:graphic>
      </p:graphicFrame>
      <p:sp>
        <p:nvSpPr>
          <p:cNvPr id="15" name="13 missed failures&#10;5 false alarms">
            <a:extLst xmlns:a="http://schemas.openxmlformats.org/drawingml/2006/main">
              <a:ext uri="{FF2B5EF4-FFF2-40B4-BE49-F238E27FC236}">
                <a16:creationId xmlns:a16="http://schemas.microsoft.com/office/drawing/2014/main" id="{EE63758B-49D7-4ED0-B1D8-E224B40B39DB}"/>
              </a:ext>
            </a:extLst>
          </p:cNvPr>
          <p:cNvSpPr>
            <a:spLocks xmlns:a="http://schemas.openxmlformats.org/drawingml/2006/main" noGrp="1"/>
          </p:cNvSpPr>
          <p:nvPr/>
        </p:nvSpPr>
        <p:spPr>
          <a:xfrm xmlns:a="http://schemas.openxmlformats.org/drawingml/2006/main">
            <a:off x="1085850" y="4476750"/>
            <a:ext cx="428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F66AD"/>
                </a:solidFill>
                <a:latin typeface="Calibri"/>
                <a:ea typeface="Calibri"/>
                <a:cs typeface="Calibri"/>
              </a:defRPr>
            </a:defPPr>
          </a:lstStyle>
          <a:p xmlns:a="http://schemas.openxmlformats.org/drawingml/2006/main">
            <a:pPr algn="l">
              <a:defRPr sz="2000" b="1">
                <a:solidFill>
                  <a:srgbClr val="2F66AD"/>
                </a:solidFill>
                <a:latin typeface="Calibri"/>
                <a:ea typeface="Calibri"/>
                <a:cs typeface="Calibri"/>
              </a:defRPr>
            </a:pPr>
            <a:r>
              <a:rPr sz="2000" b="1">
                <a:solidFill>
                  <a:srgbClr val="2F66AD"/>
                </a:solidFill>
                <a:latin typeface="Calibri"/>
                <a:ea typeface="Calibri"/>
                <a:cs typeface="Calibri"/>
              </a:rPr>
              <a:t>13 missed failures</a:t>
            </a:r>
          </a:p>
          <a:p xmlns:a="http://schemas.openxmlformats.org/drawingml/2006/main">
            <a:pPr algn="l">
              <a:defRPr sz="2000" b="1">
                <a:solidFill>
                  <a:srgbClr val="2F66AD"/>
                </a:solidFill>
                <a:latin typeface="Calibri"/>
                <a:ea typeface="Calibri"/>
                <a:cs typeface="Calibri"/>
              </a:defRPr>
            </a:pPr>
            <a:r>
              <a:rPr sz="2000" b="1">
                <a:solidFill>
                  <a:srgbClr val="2F66AD"/>
                </a:solidFill>
                <a:latin typeface="Calibri"/>
                <a:ea typeface="Calibri"/>
                <a:cs typeface="Calibri"/>
              </a:rPr>
              <a:t>5 false alarms</a:t>
            </a:r>
          </a:p>
        </p:txBody>
      </p:sp>
      <p:sp>
        <p:nvSpPr>
          <p:cNvPr id="16" name="11 missed failures&#10;19 false alarms">
            <a:extLst xmlns:a="http://schemas.openxmlformats.org/drawingml/2006/main">
              <a:ext uri="{FF2B5EF4-FFF2-40B4-BE49-F238E27FC236}">
                <a16:creationId xmlns:a16="http://schemas.microsoft.com/office/drawing/2014/main" id="{62A93194-27B0-4AD9-9399-B09C6EB89E8F}"/>
              </a:ext>
            </a:extLst>
          </p:cNvPr>
          <p:cNvSpPr>
            <a:spLocks xmlns:a="http://schemas.openxmlformats.org/drawingml/2006/main" noGrp="1"/>
          </p:cNvSpPr>
          <p:nvPr/>
        </p:nvSpPr>
        <p:spPr>
          <a:xfrm xmlns:a="http://schemas.openxmlformats.org/drawingml/2006/main">
            <a:off x="6667500" y="4476750"/>
            <a:ext cx="428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F66AD"/>
                </a:solidFill>
                <a:latin typeface="Calibri"/>
                <a:ea typeface="Calibri"/>
                <a:cs typeface="Calibri"/>
              </a:defRPr>
            </a:defPPr>
          </a:lstStyle>
          <a:p xmlns:a="http://schemas.openxmlformats.org/drawingml/2006/main">
            <a:pPr algn="l">
              <a:defRPr sz="2000" b="1">
                <a:solidFill>
                  <a:srgbClr val="2F66AD"/>
                </a:solidFill>
                <a:latin typeface="Calibri"/>
                <a:ea typeface="Calibri"/>
                <a:cs typeface="Calibri"/>
              </a:defRPr>
            </a:pPr>
            <a:r>
              <a:rPr sz="2000" b="1">
                <a:solidFill>
                  <a:srgbClr val="2F66AD"/>
                </a:solidFill>
                <a:latin typeface="Calibri"/>
                <a:ea typeface="Calibri"/>
                <a:cs typeface="Calibri"/>
              </a:rPr>
              <a:t>11 missed failures</a:t>
            </a:r>
          </a:p>
          <a:p xmlns:a="http://schemas.openxmlformats.org/drawingml/2006/main">
            <a:pPr algn="l">
              <a:defRPr sz="2000" b="1">
                <a:solidFill>
                  <a:srgbClr val="2F66AD"/>
                </a:solidFill>
                <a:latin typeface="Calibri"/>
                <a:ea typeface="Calibri"/>
                <a:cs typeface="Calibri"/>
              </a:defRPr>
            </a:pPr>
            <a:r>
              <a:rPr sz="2000" b="1">
                <a:solidFill>
                  <a:srgbClr val="2F66AD"/>
                </a:solidFill>
                <a:latin typeface="Calibri"/>
                <a:ea typeface="Calibri"/>
                <a:cs typeface="Calibri"/>
              </a:rPr>
              <a:t>19 false alarms</a:t>
            </a:r>
          </a:p>
        </p:txBody>
      </p:sp>
      <p:sp>
        <p:nvSpPr>
          <p:cNvPr id="17" name="XGBoost detects 2 additional failures and produces">
            <a:extLst xmlns:a="http://schemas.openxmlformats.org/drawingml/2006/main">
              <a:ext uri="{FF2B5EF4-FFF2-40B4-BE49-F238E27FC236}">
                <a16:creationId xmlns:a16="http://schemas.microsoft.com/office/drawing/2014/main" id="{87F082B8-E06E-4F02-B3AE-E2F6FE0F7B36}"/>
              </a:ext>
            </a:extLst>
          </p:cNvPr>
          <p:cNvSpPr>
            <a:spLocks xmlns:a="http://schemas.openxmlformats.org/drawingml/2006/main" noGrp="1"/>
          </p:cNvSpPr>
          <p:nvPr/>
        </p:nvSpPr>
        <p:spPr>
          <a:xfrm xmlns:a="http://schemas.openxmlformats.org/drawingml/2006/main">
            <a:off x="82296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66AD"/>
                </a:solidFill>
                <a:latin typeface="Calibri"/>
                <a:ea typeface="Calibri"/>
                <a:cs typeface="Calibri"/>
              </a:defRPr>
            </a:defPPr>
          </a:lstStyle>
          <a:p xmlns:a="http://schemas.openxmlformats.org/drawingml/2006/main">
            <a:pPr algn="l">
              <a:defRPr sz="1500" b="1">
                <a:solidFill>
                  <a:srgbClr val="2F66AD"/>
                </a:solidFill>
                <a:latin typeface="Calibri"/>
                <a:ea typeface="Calibri"/>
                <a:cs typeface="Calibri"/>
              </a:defRPr>
            </a:pPr>
            <a:r>
              <a:rPr sz="1500" b="1">
                <a:solidFill>
                  <a:srgbClr val="2F66AD"/>
                </a:solidFill>
                <a:latin typeface="Calibri"/>
                <a:ea typeface="Calibri"/>
                <a:cs typeface="Calibri"/>
              </a:rPr>
              <a:t>XGBoost detects 2 additional failures and produces 14 additional false alarms.</a:t>
            </a:r>
          </a:p>
        </p:txBody>
      </p:sp>
    </p:spTree>
    <p:extLst>
      <p:ext uri="{BB962C8B-B14F-4D97-AF65-F5344CB8AC3E}">
        <p14:creationId xmlns:p14="http://schemas.microsoft.com/office/powerpoint/2010/main" val="42063983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A307015-76C7-44A7-A705-B6550885059E}"/>
              </a:ext>
            </a:extLst>
          </p:cNvPr>
          <p:cNvSpPr>
            <a:spLocks xmlns:a="http://schemas.openxmlformats.org/drawingml/2006/main" noGrp="1"/>
          </p:cNvSpPr>
          <p:nvPr/>
        </p:nvSpPr>
        <p:spPr>
          <a:xfrm xmlns:a="http://schemas.openxmlformats.org/drawingml/2006/main">
            <a:off x="640080" y="411480"/>
            <a:ext cx="5877242"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Implemented system architecture</a:t>
            </a:r>
          </a:p>
        </p:txBody>
      </p:sp>
      <p:sp>
        <p:nvSpPr>
          <p:cNvPr id="3" name="Rounded Rectangle 2">
            <a:extLst xmlns:a="http://schemas.openxmlformats.org/drawingml/2006/main">
              <a:ext uri="{FF2B5EF4-FFF2-40B4-BE49-F238E27FC236}">
                <a16:creationId xmlns:a16="http://schemas.microsoft.com/office/drawing/2014/main" id="{614B34BB-F78D-41CD-BDFE-B0DB8E54D790}"/>
              </a:ext>
            </a:extLst>
          </p:cNvPr>
          <p:cNvSpPr>
            <a:spLocks xmlns:a="http://schemas.openxmlformats.org/drawingml/2006/main" noGrp="1"/>
          </p:cNvSpPr>
          <p:nvPr/>
        </p:nvSpPr>
        <p:spPr>
          <a:xfrm xmlns:a="http://schemas.openxmlformats.org/drawingml/2006/main">
            <a:off x="461845" y="2011680"/>
            <a:ext cx="2235635" cy="1143000"/>
          </a:xfrm>
          <a:prstGeom xmlns:a="http://schemas.openxmlformats.org/drawingml/2006/main" prst="roundRect">
            <a:avLst/>
          </a:prstGeom>
          <a:solidFill xmlns:a="http://schemas.openxmlformats.org/drawingml/2006/main">
            <a:srgbClr val="F2F6FA"/>
          </a:solidFill>
          <a:ln xmlns:a="http://schemas.openxmlformats.org/drawingml/2006/main">
            <a:solidFill>
              <a:srgbClr val="2F66A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3606056B-E429-4654-B01F-1F3D7BC22AD9}"/>
              </a:ext>
            </a:extLst>
          </p:cNvPr>
          <p:cNvSpPr>
            <a:spLocks xmlns:a="http://schemas.openxmlformats.org/drawingml/2006/main" noGrp="1"/>
          </p:cNvSpPr>
          <p:nvPr/>
        </p:nvSpPr>
        <p:spPr>
          <a:xfrm xmlns:a="http://schemas.openxmlformats.org/drawingml/2006/main">
            <a:off x="552450" y="2181225"/>
            <a:ext cx="2057400" cy="8572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650" b="1">
                <a:solidFill>
                  <a:srgbClr val="142A4A"/>
                </a:solidFill>
                <a:latin typeface="Calibri"/>
                <a:ea typeface="Calibri"/>
                <a:cs typeface="Calibri"/>
              </a:defRPr>
            </a:defPPr>
          </a:lstStyle>
          <a:p xmlns:a="http://schemas.openxmlformats.org/drawingml/2006/main">
            <a:pPr algn="ctr">
              <a:buNone/>
              <a:defRPr sz="1650" b="1">
                <a:solidFill>
                  <a:srgbClr val="142A4A"/>
                </a:solidFill>
                <a:latin typeface="Calibri"/>
                <a:ea typeface="Calibri"/>
                <a:cs typeface="Calibri"/>
              </a:defRPr>
            </a:pPr>
            <a:r>
              <a:rPr sz="1650" b="1">
                <a:solidFill>
                  <a:srgbClr val="142A4A"/>
                </a:solidFill>
                <a:latin typeface="Calibri"/>
                <a:ea typeface="Calibri"/>
                <a:cs typeface="Calibri"/>
              </a:rPr>
              <a:t>Machine inputs</a:t>
            </a:r>
            <a:endParaRPr/>
          </a:p>
          <a:p xmlns:a="http://schemas.openxmlformats.org/drawingml/2006/main">
            <a:pPr algn="ctr">
              <a:buNone/>
              <a:defRPr sz="1650" b="1">
                <a:solidFill>
                  <a:srgbClr val="142A4A"/>
                </a:solidFill>
                <a:latin typeface="Calibri"/>
                <a:ea typeface="Calibri"/>
                <a:cs typeface="Calibri"/>
              </a:defRPr>
            </a:pPr>
            <a:r>
              <a:rPr sz="1650" b="1">
                <a:solidFill>
                  <a:srgbClr val="142A4A"/>
                </a:solidFill>
                <a:latin typeface="Calibri"/>
                <a:ea typeface="Calibri"/>
                <a:cs typeface="Calibri"/>
              </a:rPr>
              <a:t>6 fields</a:t>
            </a:r>
          </a:p>
          <a:p xmlns:a="http://schemas.openxmlformats.org/drawingml/2006/main">
            <a:pPr algn="ctr">
              <a:buNone/>
              <a:defRPr sz="1650" b="1">
                <a:solidFill>
                  <a:srgbClr val="142A4A"/>
                </a:solidFill>
                <a:latin typeface="Calibri"/>
                <a:ea typeface="Calibri"/>
                <a:cs typeface="Calibri"/>
              </a:defRPr>
            </a:pPr>
            <a:r>
              <a:rPr sz="1650" b="1">
                <a:solidFill>
                  <a:srgbClr val="142A4A"/>
                </a:solidFill>
                <a:latin typeface="Calibri"/>
                <a:ea typeface="Calibri"/>
                <a:cs typeface="Calibri"/>
              </a:rPr>
              <a:t>Manual entry</a:t>
            </a:r>
          </a:p>
        </p:txBody>
      </p:sp>
      <p:sp>
        <p:nvSpPr>
          <p:cNvPr id="5" name="Rounded Rectangle 4">
            <a:extLst xmlns:a="http://schemas.openxmlformats.org/drawingml/2006/main">
              <a:ext uri="{FF2B5EF4-FFF2-40B4-BE49-F238E27FC236}">
                <a16:creationId xmlns:a16="http://schemas.microsoft.com/office/drawing/2014/main" id="{C9DC3A1C-3DDE-41A7-9DB7-7F32DF0EDC7E}"/>
              </a:ext>
            </a:extLst>
          </p:cNvPr>
          <p:cNvSpPr>
            <a:spLocks xmlns:a="http://schemas.openxmlformats.org/drawingml/2006/main" noGrp="1"/>
          </p:cNvSpPr>
          <p:nvPr/>
        </p:nvSpPr>
        <p:spPr>
          <a:xfrm xmlns:a="http://schemas.openxmlformats.org/drawingml/2006/main">
            <a:off x="3246120" y="1417320"/>
            <a:ext cx="2286000" cy="2240280"/>
          </a:xfrm>
          <a:prstGeom xmlns:a="http://schemas.openxmlformats.org/drawingml/2006/main" prst="roundRect">
            <a:avLst/>
          </a:prstGeom>
          <a:solidFill xmlns:a="http://schemas.openxmlformats.org/drawingml/2006/main">
            <a:srgbClr val="F2F6FA"/>
          </a:solidFill>
          <a:ln xmlns:a="http://schemas.openxmlformats.org/drawingml/2006/main">
            <a:solidFill>
              <a:srgbClr val="2F66A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5CFC5A90-2681-4ACC-AC55-4C32204CD7C5}"/>
              </a:ext>
            </a:extLst>
          </p:cNvPr>
          <p:cNvSpPr>
            <a:spLocks xmlns:a="http://schemas.openxmlformats.org/drawingml/2006/main" noGrp="1"/>
          </p:cNvSpPr>
          <p:nvPr/>
        </p:nvSpPr>
        <p:spPr>
          <a:xfrm xmlns:a="http://schemas.openxmlformats.org/drawingml/2006/main">
            <a:off x="3337560" y="1527048"/>
            <a:ext cx="1694180" cy="1402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725" b="1">
                <a:solidFill>
                  <a:srgbClr val="142A4A"/>
                </a:solidFill>
                <a:latin typeface="Calibri"/>
                <a:ea typeface="Calibri"/>
                <a:cs typeface="Calibri"/>
              </a:defRPr>
            </a:defPPr>
          </a:lstStyle>
          <a:p xmlns:a="http://schemas.openxmlformats.org/drawingml/2006/main">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DIGITAL TWIN</a:t>
            </a:r>
          </a:p>
          <a:p xmlns:a="http://schemas.openxmlformats.org/drawingml/2006/main">
            <a:pPr algn="ctr">
              <a:buNone/>
              <a:defRPr sz="1700" b="1">
                <a:solidFill>
                  <a:srgbClr val="142A4A"/>
                </a:solidFill>
              </a:defRPr>
            </a:pPr>
            <a:r>
              <a:t/>
            </a:r>
          </a:p>
          <a:p xmlns:a="http://schemas.openxmlformats.org/drawingml/2006/main">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Evaluated state</a:t>
            </a:r>
          </a:p>
          <a:p xmlns:a="http://schemas.openxmlformats.org/drawingml/2006/main">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Risk score</a:t>
            </a:r>
          </a:p>
          <a:p xmlns:a="http://schemas.openxmlformats.org/drawingml/2006/main">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Session history</a:t>
            </a:r>
          </a:p>
        </p:txBody>
      </p:sp>
      <p:sp>
        <p:nvSpPr>
          <p:cNvPr id="7" name="Rounded Rectangle 6">
            <a:extLst xmlns:a="http://schemas.openxmlformats.org/drawingml/2006/main">
              <a:ext uri="{FF2B5EF4-FFF2-40B4-BE49-F238E27FC236}">
                <a16:creationId xmlns:a16="http://schemas.microsoft.com/office/drawing/2014/main" id="{1B6DA296-0154-4D16-8825-B72ECD8559DB}"/>
              </a:ext>
            </a:extLst>
          </p:cNvPr>
          <p:cNvSpPr>
            <a:spLocks xmlns:a="http://schemas.openxmlformats.org/drawingml/2006/main" noGrp="1"/>
          </p:cNvSpPr>
          <p:nvPr/>
        </p:nvSpPr>
        <p:spPr>
          <a:xfrm xmlns:a="http://schemas.openxmlformats.org/drawingml/2006/main">
            <a:off x="6126480" y="1143000"/>
            <a:ext cx="2011680" cy="1325880"/>
          </a:xfrm>
          <a:prstGeom xmlns:a="http://schemas.openxmlformats.org/drawingml/2006/main" prst="roundRect">
            <a:avLst/>
          </a:prstGeom>
          <a:solidFill xmlns:a="http://schemas.openxmlformats.org/drawingml/2006/main">
            <a:srgbClr val="F2F6FA"/>
          </a:solidFill>
          <a:ln xmlns:a="http://schemas.openxmlformats.org/drawingml/2006/main">
            <a:solidFill>
              <a:srgbClr val="2F66A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318EFA5-EE49-4383-A950-43D0DDBB7E3B}"/>
              </a:ext>
            </a:extLst>
          </p:cNvPr>
          <p:cNvSpPr>
            <a:spLocks xmlns:a="http://schemas.openxmlformats.org/drawingml/2006/main" noGrp="1"/>
          </p:cNvSpPr>
          <p:nvPr/>
        </p:nvSpPr>
        <p:spPr>
          <a:xfrm xmlns:a="http://schemas.openxmlformats.org/drawingml/2006/main">
            <a:off x="6217920" y="1252728"/>
            <a:ext cx="1887855" cy="107061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575" b="1">
                <a:solidFill>
                  <a:srgbClr val="142A4A"/>
                </a:solidFill>
                <a:latin typeface="Calibri"/>
                <a:ea typeface="Calibri"/>
                <a:cs typeface="Calibri"/>
              </a:defRPr>
            </a:defPPr>
          </a:lstStyle>
          <a:p xmlns:a="http://schemas.openxmlformats.org/drawingml/2006/main">
            <a:pPr algn="ctr">
              <a:buNone/>
              <a:defRPr sz="1575" b="1">
                <a:solidFill>
                  <a:srgbClr val="142A4A"/>
                </a:solidFill>
                <a:latin typeface="Calibri"/>
                <a:ea typeface="Calibri"/>
                <a:cs typeface="Calibri"/>
              </a:defRPr>
            </a:pPr>
            <a:r>
              <a:rPr sz="1575" b="1">
                <a:solidFill>
                  <a:srgbClr val="142A4A"/>
                </a:solidFill>
                <a:latin typeface="Calibri"/>
                <a:ea typeface="Calibri"/>
                <a:cs typeface="Calibri"/>
              </a:rPr>
              <a:t>RANDOM FOREST</a:t>
            </a:r>
          </a:p>
          <a:p xmlns:a="http://schemas.openxmlformats.org/drawingml/2006/main">
            <a:pPr algn="ctr">
              <a:buNone/>
              <a:defRPr sz="1700" b="1">
                <a:solidFill>
                  <a:srgbClr val="142A4A"/>
                </a:solidFill>
              </a:defRPr>
            </a:pPr>
            <a:r>
              <a:t/>
            </a:r>
          </a:p>
          <a:p xmlns:a="http://schemas.openxmlformats.org/drawingml/2006/main">
            <a:pPr algn="ctr">
              <a:buNone/>
              <a:defRPr sz="1575" b="1">
                <a:solidFill>
                  <a:srgbClr val="142A4A"/>
                </a:solidFill>
                <a:latin typeface="Calibri"/>
                <a:ea typeface="Calibri"/>
                <a:cs typeface="Calibri"/>
              </a:defRPr>
            </a:pPr>
            <a:r>
              <a:rPr sz="1575" b="1">
                <a:solidFill>
                  <a:srgbClr val="142A4A"/>
                </a:solidFill>
                <a:latin typeface="Calibri"/>
                <a:ea typeface="Calibri"/>
                <a:cs typeface="Calibri"/>
              </a:rPr>
              <a:t>14 features</a:t>
            </a:r>
          </a:p>
          <a:p xmlns:a="http://schemas.openxmlformats.org/drawingml/2006/main">
            <a:pPr algn="ctr">
              <a:buNone/>
              <a:defRPr sz="1575" b="1">
                <a:solidFill>
                  <a:srgbClr val="142A4A"/>
                </a:solidFill>
                <a:latin typeface="Calibri"/>
                <a:ea typeface="Calibri"/>
                <a:cs typeface="Calibri"/>
              </a:defRPr>
            </a:pPr>
            <a:r>
              <a:rPr sz="1575" b="1">
                <a:solidFill>
                  <a:srgbClr val="142A4A"/>
                </a:solidFill>
                <a:latin typeface="Calibri"/>
                <a:ea typeface="Calibri"/>
                <a:cs typeface="Calibri"/>
              </a:rPr>
              <a:t>Failure score</a:t>
            </a:r>
          </a:p>
        </p:txBody>
      </p:sp>
      <p:sp>
        <p:nvSpPr>
          <p:cNvPr id="9" name="Rounded Rectangle 8">
            <a:extLst xmlns:a="http://schemas.openxmlformats.org/drawingml/2006/main">
              <a:ext uri="{FF2B5EF4-FFF2-40B4-BE49-F238E27FC236}">
                <a16:creationId xmlns:a16="http://schemas.microsoft.com/office/drawing/2014/main" id="{F58A5273-7A13-4787-92CC-6BEE9325C53F}"/>
              </a:ext>
            </a:extLst>
          </p:cNvPr>
          <p:cNvSpPr>
            <a:spLocks xmlns:a="http://schemas.openxmlformats.org/drawingml/2006/main" noGrp="1"/>
          </p:cNvSpPr>
          <p:nvPr/>
        </p:nvSpPr>
        <p:spPr>
          <a:xfrm xmlns:a="http://schemas.openxmlformats.org/drawingml/2006/main">
            <a:off x="6126480" y="3154680"/>
            <a:ext cx="2011680" cy="1325880"/>
          </a:xfrm>
          <a:prstGeom xmlns:a="http://schemas.openxmlformats.org/drawingml/2006/main" prst="roundRect">
            <a:avLst/>
          </a:prstGeom>
          <a:solidFill xmlns:a="http://schemas.openxmlformats.org/drawingml/2006/main">
            <a:srgbClr val="F2F6FA"/>
          </a:solidFill>
          <a:ln xmlns:a="http://schemas.openxmlformats.org/drawingml/2006/main">
            <a:solidFill>
              <a:srgbClr val="2F66A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7F12AAA9-B3BA-4D43-B43A-FD2292059ED5}"/>
              </a:ext>
            </a:extLst>
          </p:cNvPr>
          <p:cNvSpPr>
            <a:spLocks xmlns:a="http://schemas.openxmlformats.org/drawingml/2006/main" noGrp="1"/>
          </p:cNvSpPr>
          <p:nvPr/>
        </p:nvSpPr>
        <p:spPr>
          <a:xfrm xmlns:a="http://schemas.openxmlformats.org/drawingml/2006/main">
            <a:off x="6217920" y="3264408"/>
            <a:ext cx="1432243" cy="107061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575" b="1">
                <a:solidFill>
                  <a:srgbClr val="142A4A"/>
                </a:solidFill>
                <a:latin typeface="Calibri"/>
                <a:ea typeface="Calibri"/>
                <a:cs typeface="Calibri"/>
              </a:defRPr>
            </a:defPPr>
          </a:lstStyle>
          <a:p xmlns:a="http://schemas.openxmlformats.org/drawingml/2006/main">
            <a:pPr algn="ctr">
              <a:buNone/>
              <a:defRPr sz="1575" b="1">
                <a:solidFill>
                  <a:srgbClr val="142A4A"/>
                </a:solidFill>
                <a:latin typeface="Calibri"/>
                <a:ea typeface="Calibri"/>
                <a:cs typeface="Calibri"/>
              </a:defRPr>
            </a:pPr>
            <a:r>
              <a:rPr sz="1575" b="1">
                <a:solidFill>
                  <a:srgbClr val="142A4A"/>
                </a:solidFill>
                <a:latin typeface="Calibri"/>
                <a:ea typeface="Calibri"/>
                <a:cs typeface="Calibri"/>
              </a:rPr>
              <a:t>WHAT-IF</a:t>
            </a:r>
          </a:p>
          <a:p xmlns:a="http://schemas.openxmlformats.org/drawingml/2006/main">
            <a:pPr algn="ctr">
              <a:buNone/>
              <a:defRPr sz="1575" b="1">
                <a:solidFill>
                  <a:srgbClr val="142A4A"/>
                </a:solidFill>
                <a:latin typeface="Calibri"/>
                <a:ea typeface="Calibri"/>
                <a:cs typeface="Calibri"/>
              </a:defRPr>
            </a:pPr>
            <a:r>
              <a:rPr sz="1575" b="1">
                <a:solidFill>
                  <a:srgbClr val="142A4A"/>
                </a:solidFill>
                <a:latin typeface="Calibri"/>
                <a:ea typeface="Calibri"/>
                <a:cs typeface="Calibri"/>
              </a:rPr>
              <a:t>SIMULATION</a:t>
            </a:r>
          </a:p>
          <a:p xmlns:a="http://schemas.openxmlformats.org/drawingml/2006/main">
            <a:pPr algn="ctr">
              <a:buNone/>
              <a:defRPr sz="1700" b="1">
                <a:solidFill>
                  <a:srgbClr val="142A4A"/>
                </a:solidFill>
              </a:defRPr>
            </a:pPr>
            <a:r>
              <a:t/>
            </a:r>
          </a:p>
          <a:p xmlns:a="http://schemas.openxmlformats.org/drawingml/2006/main">
            <a:pPr algn="ctr">
              <a:buNone/>
              <a:defRPr sz="1575" b="1">
                <a:solidFill>
                  <a:srgbClr val="142A4A"/>
                </a:solidFill>
                <a:latin typeface="Calibri"/>
                <a:ea typeface="Calibri"/>
                <a:cs typeface="Calibri"/>
              </a:defRPr>
            </a:pPr>
            <a:r>
              <a:rPr sz="1575" b="1">
                <a:solidFill>
                  <a:srgbClr val="142A4A"/>
                </a:solidFill>
                <a:latin typeface="Calibri"/>
                <a:ea typeface="Calibri"/>
                <a:cs typeface="Calibri"/>
              </a:rPr>
              <a:t>Baseline fixed</a:t>
            </a:r>
          </a:p>
        </p:txBody>
      </p:sp>
      <p:sp>
        <p:nvSpPr>
          <p:cNvPr id="11" name="Rounded Rectangle 10">
            <a:extLst xmlns:a="http://schemas.openxmlformats.org/drawingml/2006/main">
              <a:ext uri="{FF2B5EF4-FFF2-40B4-BE49-F238E27FC236}">
                <a16:creationId xmlns:a16="http://schemas.microsoft.com/office/drawing/2014/main" id="{7A0AD42C-2755-4079-A1B8-1CE51DD12315}"/>
              </a:ext>
            </a:extLst>
          </p:cNvPr>
          <p:cNvSpPr>
            <a:spLocks xmlns:a="http://schemas.openxmlformats.org/drawingml/2006/main" noGrp="1"/>
          </p:cNvSpPr>
          <p:nvPr/>
        </p:nvSpPr>
        <p:spPr>
          <a:xfrm xmlns:a="http://schemas.openxmlformats.org/drawingml/2006/main">
            <a:off x="8732520" y="1828800"/>
            <a:ext cx="2514600" cy="1828800"/>
          </a:xfrm>
          <a:prstGeom xmlns:a="http://schemas.openxmlformats.org/drawingml/2006/main" prst="roundRect">
            <a:avLst/>
          </a:prstGeom>
          <a:solidFill xmlns:a="http://schemas.openxmlformats.org/drawingml/2006/main">
            <a:srgbClr val="F2F6FA"/>
          </a:solidFill>
          <a:ln xmlns:a="http://schemas.openxmlformats.org/drawingml/2006/main">
            <a:solidFill>
              <a:srgbClr val="2F66A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16FA1C27-88CF-42B3-8982-BAF88F640951}"/>
              </a:ext>
            </a:extLst>
          </p:cNvPr>
          <p:cNvSpPr>
            <a:spLocks xmlns:a="http://schemas.openxmlformats.org/drawingml/2006/main" noGrp="1"/>
          </p:cNvSpPr>
          <p:nvPr/>
        </p:nvSpPr>
        <p:spPr>
          <a:xfrm xmlns:a="http://schemas.openxmlformats.org/drawingml/2006/main">
            <a:off x="8823960" y="1938528"/>
            <a:ext cx="1583055" cy="1402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725" b="1">
                <a:solidFill>
                  <a:srgbClr val="142A4A"/>
                </a:solidFill>
                <a:latin typeface="Calibri"/>
                <a:ea typeface="Calibri"/>
                <a:cs typeface="Calibri"/>
              </a:defRPr>
            </a:defPPr>
          </a:lstStyle>
          <a:p xmlns:a="http://schemas.openxmlformats.org/drawingml/2006/main">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LANGGRAPH</a:t>
            </a:r>
          </a:p>
          <a:p xmlns:a="http://schemas.openxmlformats.org/drawingml/2006/main">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COPILOT</a:t>
            </a:r>
          </a:p>
          <a:p xmlns:a="http://schemas.openxmlformats.org/drawingml/2006/main">
            <a:pPr algn="ctr">
              <a:buNone/>
              <a:defRPr sz="1700" b="1">
                <a:solidFill>
                  <a:srgbClr val="142A4A"/>
                </a:solidFill>
              </a:defRPr>
            </a:pPr>
            <a:r>
              <a:t/>
            </a:r>
          </a:p>
          <a:p xmlns:a="http://schemas.openxmlformats.org/drawingml/2006/main">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GPT-4.1 mini</a:t>
            </a:r>
          </a:p>
          <a:p xmlns:a="http://schemas.openxmlformats.org/drawingml/2006/main">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5 project tools</a:t>
            </a:r>
          </a:p>
        </p:txBody>
      </p:sp>
      <p:sp>
        <p:nvSpPr>
          <p:cNvPr id="13" name="Rounded Rectangle 12">
            <a:extLst xmlns:a="http://schemas.openxmlformats.org/drawingml/2006/main">
              <a:ext uri="{FF2B5EF4-FFF2-40B4-BE49-F238E27FC236}">
                <a16:creationId xmlns:a16="http://schemas.microsoft.com/office/drawing/2014/main" id="{9A661AD0-CFFC-42B1-966C-CA4FED46339C}"/>
              </a:ext>
            </a:extLst>
          </p:cNvPr>
          <p:cNvSpPr>
            <a:spLocks xmlns:a="http://schemas.openxmlformats.org/drawingml/2006/main" noGrp="1"/>
          </p:cNvSpPr>
          <p:nvPr/>
        </p:nvSpPr>
        <p:spPr>
          <a:xfrm xmlns:a="http://schemas.openxmlformats.org/drawingml/2006/main">
            <a:off x="9098280" y="4800600"/>
            <a:ext cx="1783080" cy="777240"/>
          </a:xfrm>
          <a:prstGeom xmlns:a="http://schemas.openxmlformats.org/drawingml/2006/main" prst="roundRect">
            <a:avLst/>
          </a:prstGeom>
          <a:solidFill xmlns:a="http://schemas.openxmlformats.org/drawingml/2006/main">
            <a:srgbClr val="F2F6FA"/>
          </a:solidFill>
          <a:ln xmlns:a="http://schemas.openxmlformats.org/drawingml/2006/main">
            <a:solidFill>
              <a:srgbClr val="2F66A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BCEE5E67-3E8C-40E8-BF9D-6F8391D8E6E8}"/>
              </a:ext>
            </a:extLst>
          </p:cNvPr>
          <p:cNvSpPr>
            <a:spLocks xmlns:a="http://schemas.openxmlformats.org/drawingml/2006/main" noGrp="1"/>
          </p:cNvSpPr>
          <p:nvPr/>
        </p:nvSpPr>
        <p:spPr>
          <a:xfrm xmlns:a="http://schemas.openxmlformats.org/drawingml/2006/main">
            <a:off x="9189719" y="4910328"/>
            <a:ext cx="1327467" cy="35433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725" b="1">
                <a:solidFill>
                  <a:srgbClr val="142A4A"/>
                </a:solidFill>
                <a:latin typeface="Calibri"/>
                <a:ea typeface="Calibri"/>
                <a:cs typeface="Calibri"/>
              </a:defRPr>
            </a:defPPr>
          </a:lstStyle>
          <a:p xmlns:a="http://schemas.openxmlformats.org/drawingml/2006/main">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Streamlit UI</a:t>
            </a:r>
          </a:p>
        </p:txBody>
      </p:sp>
      <p:sp>
        <p:nvSpPr>
          <p:cNvPr id="15" name="Connector 14">
            <a:extLst xmlns:a="http://schemas.openxmlformats.org/drawingml/2006/main">
              <a:ext uri="{FF2B5EF4-FFF2-40B4-BE49-F238E27FC236}">
                <a16:creationId xmlns:a16="http://schemas.microsoft.com/office/drawing/2014/main" id="{0D913637-FA9F-41F8-B529-563607B7FFB1}"/>
              </a:ext>
            </a:extLst>
          </p:cNvPr>
          <p:cNvSpPr>
            <a:spLocks xmlns:a="http://schemas.openxmlformats.org/drawingml/2006/main" noGrp="1"/>
          </p:cNvSpPr>
          <p:nvPr/>
        </p:nvSpPr>
        <p:spPr>
          <a:xfrm xmlns:a="http://schemas.openxmlformats.org/drawingml/2006/main">
            <a:off x="2697480" y="2578608"/>
            <a:ext cx="548640" cy="0"/>
          </a:xfrm>
          <a:prstGeom xmlns:a="http://schemas.openxmlformats.org/drawingml/2006/main" prst="line">
            <a:avLst/>
          </a:prstGeom>
          <a:ln xmlns:a="http://schemas.openxmlformats.org/drawingml/2006/main" w="25400">
            <a:solidFill>
              <a:srgbClr val="2F66A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AD5BE188-E893-4D5B-9FDE-498C504BB679}"/>
              </a:ext>
            </a:extLst>
          </p:cNvPr>
          <p:cNvSpPr>
            <a:spLocks xmlns:a="http://schemas.openxmlformats.org/drawingml/2006/main" noGrp="1"/>
          </p:cNvSpPr>
          <p:nvPr/>
        </p:nvSpPr>
        <p:spPr>
          <a:xfrm xmlns:a="http://schemas.openxmlformats.org/drawingml/2006/main" flipV="1">
            <a:off x="5532120" y="1783080"/>
            <a:ext cx="594360" cy="182880"/>
          </a:xfrm>
          <a:prstGeom xmlns:a="http://schemas.openxmlformats.org/drawingml/2006/main" prst="line">
            <a:avLst/>
          </a:prstGeom>
          <a:ln xmlns:a="http://schemas.openxmlformats.org/drawingml/2006/main" w="25400">
            <a:solidFill>
              <a:srgbClr val="2F66A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1C462BCD-7806-425B-9D2B-3868A9338E88}"/>
              </a:ext>
            </a:extLst>
          </p:cNvPr>
          <p:cNvSpPr>
            <a:spLocks xmlns:a="http://schemas.openxmlformats.org/drawingml/2006/main" noGrp="1"/>
          </p:cNvSpPr>
          <p:nvPr/>
        </p:nvSpPr>
        <p:spPr>
          <a:xfrm xmlns:a="http://schemas.openxmlformats.org/drawingml/2006/main">
            <a:off x="5532120" y="3063240"/>
            <a:ext cx="594360" cy="731520"/>
          </a:xfrm>
          <a:prstGeom xmlns:a="http://schemas.openxmlformats.org/drawingml/2006/main" prst="line">
            <a:avLst/>
          </a:prstGeom>
          <a:ln xmlns:a="http://schemas.openxmlformats.org/drawingml/2006/main" w="25400">
            <a:solidFill>
              <a:srgbClr val="2F66A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9B21CF81-6D16-4458-BF95-2D78DE9BA2C4}"/>
              </a:ext>
            </a:extLst>
          </p:cNvPr>
          <p:cNvSpPr>
            <a:spLocks xmlns:a="http://schemas.openxmlformats.org/drawingml/2006/main" noGrp="1"/>
          </p:cNvSpPr>
          <p:nvPr/>
        </p:nvSpPr>
        <p:spPr>
          <a:xfrm xmlns:a="http://schemas.openxmlformats.org/drawingml/2006/main">
            <a:off x="8138160" y="1783080"/>
            <a:ext cx="594360" cy="640080"/>
          </a:xfrm>
          <a:prstGeom xmlns:a="http://schemas.openxmlformats.org/drawingml/2006/main" prst="line">
            <a:avLst/>
          </a:prstGeom>
          <a:ln xmlns:a="http://schemas.openxmlformats.org/drawingml/2006/main" w="25400">
            <a:solidFill>
              <a:srgbClr val="2F66A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A84F4245-E492-43CE-A531-0E2B4ADC27EA}"/>
              </a:ext>
            </a:extLst>
          </p:cNvPr>
          <p:cNvSpPr>
            <a:spLocks xmlns:a="http://schemas.openxmlformats.org/drawingml/2006/main" noGrp="1"/>
          </p:cNvSpPr>
          <p:nvPr/>
        </p:nvSpPr>
        <p:spPr>
          <a:xfrm xmlns:a="http://schemas.openxmlformats.org/drawingml/2006/main" flipV="1">
            <a:off x="8138160" y="3063240"/>
            <a:ext cx="594360" cy="731520"/>
          </a:xfrm>
          <a:prstGeom xmlns:a="http://schemas.openxmlformats.org/drawingml/2006/main" prst="line">
            <a:avLst/>
          </a:prstGeom>
          <a:ln xmlns:a="http://schemas.openxmlformats.org/drawingml/2006/main" w="25400">
            <a:solidFill>
              <a:srgbClr val="2F66A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99455B73-E255-4940-B2F9-41244F9C2B83}"/>
              </a:ext>
            </a:extLst>
          </p:cNvPr>
          <p:cNvSpPr>
            <a:spLocks xmlns:a="http://schemas.openxmlformats.org/drawingml/2006/main" noGrp="1"/>
          </p:cNvSpPr>
          <p:nvPr/>
        </p:nvSpPr>
        <p:spPr>
          <a:xfrm xmlns:a="http://schemas.openxmlformats.org/drawingml/2006/main">
            <a:off x="9966960" y="3657600"/>
            <a:ext cx="0" cy="1143000"/>
          </a:xfrm>
          <a:prstGeom xmlns:a="http://schemas.openxmlformats.org/drawingml/2006/main" prst="line">
            <a:avLst/>
          </a:prstGeom>
          <a:ln xmlns:a="http://schemas.openxmlformats.org/drawingml/2006/main" w="25400">
            <a:solidFill>
              <a:srgbClr val="2F66A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TextBox 20">
            <a:extLst xmlns:a="http://schemas.openxmlformats.org/drawingml/2006/main">
              <a:ext uri="{FF2B5EF4-FFF2-40B4-BE49-F238E27FC236}">
                <a16:creationId xmlns:a16="http://schemas.microsoft.com/office/drawing/2014/main" id="{D68B0BF8-02BB-4795-BB6C-09ACD963529C}"/>
              </a:ext>
            </a:extLst>
          </p:cNvPr>
          <p:cNvSpPr>
            <a:spLocks xmlns:a="http://schemas.openxmlformats.org/drawingml/2006/main" noGrp="1"/>
          </p:cNvSpPr>
          <p:nvPr/>
        </p:nvSpPr>
        <p:spPr>
          <a:xfrm xmlns:a="http://schemas.openxmlformats.org/drawingml/2006/main">
            <a:off x="832996" y="5747003"/>
            <a:ext cx="10477500" cy="666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725" b="1">
                <a:solidFill>
                  <a:srgbClr val="142A4A"/>
                </a:solidFill>
                <a:latin typeface="Calibri"/>
                <a:ea typeface="Calibri"/>
                <a:cs typeface="Calibri"/>
              </a:defRPr>
            </a:defPPr>
          </a:lstStyle>
          <a:p xmlns:a="http://schemas.openxmlformats.org/drawingml/2006/main">
            <a:pPr algn="l">
              <a:buNone/>
              <a:defRPr sz="1725" b="1">
                <a:solidFill>
                  <a:srgbClr val="142A4A"/>
                </a:solidFill>
                <a:latin typeface="Calibri"/>
                <a:ea typeface="Calibri"/>
                <a:cs typeface="Calibri"/>
              </a:defRPr>
            </a:pPr>
            <a:r>
              <a:rPr sz="1725" b="1">
                <a:solidFill>
                  <a:srgbClr val="142A4A"/>
                </a:solidFill>
                <a:latin typeface="Calibri"/>
                <a:ea typeface="Calibri"/>
                <a:cs typeface="Calibri"/>
              </a:rPr>
              <a:t>The Random Forest calculates scores. The copilot retrieves evidence and explains results.</a:t>
            </a:r>
          </a:p>
        </p:txBody>
      </p:sp>
      <p:sp>
        <p:nvSpPr>
          <p:cNvPr id="22" name="Rectangle 21">
            <a:extLst xmlns:a="http://schemas.openxmlformats.org/drawingml/2006/main">
              <a:ext uri="{FF2B5EF4-FFF2-40B4-BE49-F238E27FC236}">
                <a16:creationId xmlns:a16="http://schemas.microsoft.com/office/drawing/2014/main" id="{15257ECA-AF09-40C1-84AA-2B3CEDBDC1BD}"/>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565CCF4D-B166-4EFB-96F4-354F4A325057}"/>
              </a:ext>
            </a:extLst>
          </p:cNvPr>
          <p:cNvSpPr>
            <a:spLocks xmlns:a="http://schemas.openxmlformats.org/drawingml/2006/main" noGrp="1"/>
          </p:cNvSpPr>
          <p:nvPr/>
        </p:nvSpPr>
        <p:spPr>
          <a:xfrm xmlns:a="http://schemas.openxmlformats.org/drawingml/2006/main">
            <a:off x="11247120" y="6400800"/>
            <a:ext cx="69850"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8</a:t>
            </a:r>
          </a:p>
        </p:txBody>
      </p:sp>
    </p:spTree>
    <p:extLst>
      <p:ext uri="{BB962C8B-B14F-4D97-AF65-F5344CB8AC3E}">
        <p14:creationId xmlns:p14="http://schemas.microsoft.com/office/powerpoint/2010/main" val="126402740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1429351-CA31-48BA-946C-08DA052037E8}"/>
              </a:ext>
            </a:extLst>
          </p:cNvPr>
          <p:cNvSpPr>
            <a:spLocks xmlns:a="http://schemas.openxmlformats.org/drawingml/2006/main" noGrp="1"/>
          </p:cNvSpPr>
          <p:nvPr/>
        </p:nvSpPr>
        <p:spPr>
          <a:xfrm xmlns:a="http://schemas.openxmlformats.org/drawingml/2006/main">
            <a:off x="640080" y="411480"/>
            <a:ext cx="6898005"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Digital twin state and scenario behavior</a:t>
            </a:r>
          </a:p>
        </p:txBody>
      </p:sp>
      <p:sp>
        <p:nvSpPr>
          <p:cNvPr id="3" name="Rounded Rectangle 2">
            <a:extLst xmlns:a="http://schemas.openxmlformats.org/drawingml/2006/main">
              <a:ext uri="{FF2B5EF4-FFF2-40B4-BE49-F238E27FC236}">
                <a16:creationId xmlns:a16="http://schemas.microsoft.com/office/drawing/2014/main" id="{912FE116-D9BA-45D9-BB02-C812BB63E51E}"/>
              </a:ext>
            </a:extLst>
          </p:cNvPr>
          <p:cNvSpPr>
            <a:spLocks xmlns:a="http://schemas.openxmlformats.org/drawingml/2006/main" noGrp="1"/>
          </p:cNvSpPr>
          <p:nvPr/>
        </p:nvSpPr>
        <p:spPr>
          <a:xfrm xmlns:a="http://schemas.openxmlformats.org/drawingml/2006/main">
            <a:off x="731520" y="1325880"/>
            <a:ext cx="5120640" cy="429768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ounded Rectangle 5">
            <a:extLst xmlns:a="http://schemas.openxmlformats.org/drawingml/2006/main">
              <a:ext uri="{FF2B5EF4-FFF2-40B4-BE49-F238E27FC236}">
                <a16:creationId xmlns:a16="http://schemas.microsoft.com/office/drawing/2014/main" id="{7400F4C7-F36D-4588-841E-E2A55C196436}"/>
              </a:ext>
            </a:extLst>
          </p:cNvPr>
          <p:cNvSpPr>
            <a:spLocks xmlns:a="http://schemas.openxmlformats.org/drawingml/2006/main" noGrp="1"/>
          </p:cNvSpPr>
          <p:nvPr/>
        </p:nvSpPr>
        <p:spPr>
          <a:xfrm xmlns:a="http://schemas.openxmlformats.org/drawingml/2006/main">
            <a:off x="6309360" y="1325880"/>
            <a:ext cx="5120640" cy="429768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E0F1EB1C-9F39-438F-A8BB-7F5B18843C32}"/>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D6411640-4599-4A6A-B267-CC3AFDD26E11}"/>
              </a:ext>
            </a:extLst>
          </p:cNvPr>
          <p:cNvSpPr>
            <a:spLocks xmlns:a="http://schemas.openxmlformats.org/drawingml/2006/main" noGrp="1"/>
          </p:cNvSpPr>
          <p:nvPr/>
        </p:nvSpPr>
        <p:spPr>
          <a:xfrm xmlns:a="http://schemas.openxmlformats.org/drawingml/2006/main">
            <a:off x="11247120" y="6400800"/>
            <a:ext cx="69850"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9</a:t>
            </a:r>
          </a:p>
        </p:txBody>
      </p:sp>
      <p:sp>
        <p:nvSpPr>
          <p:cNvPr id="11" name="Digital Twin methods">
            <a:extLst xmlns:a="http://schemas.openxmlformats.org/drawingml/2006/main">
              <a:ext uri="{FF2B5EF4-FFF2-40B4-BE49-F238E27FC236}">
                <a16:creationId xmlns:a16="http://schemas.microsoft.com/office/drawing/2014/main" id="{D17A1613-E91C-4CED-951A-34E2110D54CB}"/>
              </a:ext>
            </a:extLst>
          </p:cNvPr>
          <p:cNvSpPr>
            <a:spLocks xmlns:a="http://schemas.openxmlformats.org/drawingml/2006/main" noGrp="1"/>
          </p:cNvSpPr>
          <p:nvPr/>
        </p:nvSpPr>
        <p:spPr>
          <a:xfrm xmlns:a="http://schemas.openxmlformats.org/drawingml/2006/main">
            <a:off x="914400" y="1562100"/>
            <a:ext cx="4752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142A4A"/>
                </a:solidFill>
                <a:latin typeface="Calibri"/>
                <a:ea typeface="Calibri"/>
                <a:cs typeface="Calibri"/>
              </a:defRPr>
            </a:defPPr>
          </a:lstStyle>
          <a:p xmlns:a="http://schemas.openxmlformats.org/drawingml/2006/main">
            <a:pPr algn="l">
              <a:defRPr sz="2000" b="1">
                <a:solidFill>
                  <a:srgbClr val="142A4A"/>
                </a:solidFill>
                <a:latin typeface="Calibri"/>
                <a:ea typeface="Calibri"/>
                <a:cs typeface="Calibri"/>
              </a:defRPr>
            </a:pPr>
            <a:r>
              <a:rPr sz="2000" b="1">
                <a:solidFill>
                  <a:srgbClr val="142A4A"/>
                </a:solidFill>
                <a:latin typeface="Calibri"/>
                <a:ea typeface="Calibri"/>
                <a:cs typeface="Calibri"/>
              </a:rPr>
              <a:t>Digital Twin methods</a:t>
            </a:r>
          </a:p>
        </p:txBody>
      </p:sp>
      <p:sp>
        <p:nvSpPr>
          <p:cNvPr id="12" name="UpdateState()&#10;Validate inputs, evaluate, then comm">
            <a:extLst xmlns:a="http://schemas.openxmlformats.org/drawingml/2006/main">
              <a:ext uri="{FF2B5EF4-FFF2-40B4-BE49-F238E27FC236}">
                <a16:creationId xmlns:a16="http://schemas.microsoft.com/office/drawing/2014/main" id="{92EAD0A9-FD98-4849-B7D0-A04487A803AF}"/>
              </a:ext>
            </a:extLst>
          </p:cNvPr>
          <p:cNvSpPr>
            <a:spLocks xmlns:a="http://schemas.openxmlformats.org/drawingml/2006/main" noGrp="1"/>
          </p:cNvSpPr>
          <p:nvPr/>
        </p:nvSpPr>
        <p:spPr>
          <a:xfrm xmlns:a="http://schemas.openxmlformats.org/drawingml/2006/main">
            <a:off x="914400" y="2114550"/>
            <a:ext cx="466725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32323"/>
                </a:solidFill>
                <a:latin typeface="Calibri"/>
                <a:ea typeface="Calibri"/>
                <a:cs typeface="Calibri"/>
              </a:defRPr>
            </a:defPPr>
          </a:lstStyle>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UpdateState()</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Validate inputs, evaluate, then commit.</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PredictFailure()</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Return the current evaluated prediction.</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CalculateHealth()</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Return the derived health indicator.</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Simulate()</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Evaluate changed inputs separately.</a:t>
            </a:r>
          </a:p>
        </p:txBody>
      </p:sp>
      <p:sp>
        <p:nvSpPr>
          <p:cNvPr id="13" name="State integrity">
            <a:extLst xmlns:a="http://schemas.openxmlformats.org/drawingml/2006/main">
              <a:ext uri="{FF2B5EF4-FFF2-40B4-BE49-F238E27FC236}">
                <a16:creationId xmlns:a16="http://schemas.microsoft.com/office/drawing/2014/main" id="{2EF5C9C6-0C1C-40F7-AFF2-4755FDF20535}"/>
              </a:ext>
            </a:extLst>
          </p:cNvPr>
          <p:cNvSpPr>
            <a:spLocks xmlns:a="http://schemas.openxmlformats.org/drawingml/2006/main" noGrp="1"/>
          </p:cNvSpPr>
          <p:nvPr/>
        </p:nvSpPr>
        <p:spPr>
          <a:xfrm xmlns:a="http://schemas.openxmlformats.org/drawingml/2006/main">
            <a:off x="6496050" y="1562100"/>
            <a:ext cx="4752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142A4A"/>
                </a:solidFill>
                <a:latin typeface="Calibri"/>
                <a:ea typeface="Calibri"/>
                <a:cs typeface="Calibri"/>
              </a:defRPr>
            </a:defPPr>
          </a:lstStyle>
          <a:p xmlns:a="http://schemas.openxmlformats.org/drawingml/2006/main">
            <a:pPr algn="l">
              <a:defRPr sz="2000" b="1">
                <a:solidFill>
                  <a:srgbClr val="142A4A"/>
                </a:solidFill>
                <a:latin typeface="Calibri"/>
                <a:ea typeface="Calibri"/>
                <a:cs typeface="Calibri"/>
              </a:defRPr>
            </a:pPr>
            <a:r>
              <a:rPr sz="2000" b="1">
                <a:solidFill>
                  <a:srgbClr val="142A4A"/>
                </a:solidFill>
                <a:latin typeface="Calibri"/>
                <a:ea typeface="Calibri"/>
                <a:cs typeface="Calibri"/>
              </a:rPr>
              <a:t>State integrity</a:t>
            </a:r>
          </a:p>
        </p:txBody>
      </p:sp>
      <p:sp>
        <p:nvSpPr>
          <p:cNvPr id="14" name="Shared feature formulas&#10;Training and inference use">
            <a:extLst xmlns:a="http://schemas.openxmlformats.org/drawingml/2006/main">
              <a:ext uri="{FF2B5EF4-FFF2-40B4-BE49-F238E27FC236}">
                <a16:creationId xmlns:a16="http://schemas.microsoft.com/office/drawing/2014/main" id="{B91DF4E7-0203-4F26-8FA4-9DC00A7D7EA3}"/>
              </a:ext>
            </a:extLst>
          </p:cNvPr>
          <p:cNvSpPr>
            <a:spLocks xmlns:a="http://schemas.openxmlformats.org/drawingml/2006/main" noGrp="1"/>
          </p:cNvSpPr>
          <p:nvPr/>
        </p:nvSpPr>
        <p:spPr>
          <a:xfrm xmlns:a="http://schemas.openxmlformats.org/drawingml/2006/main">
            <a:off x="6496050" y="2114550"/>
            <a:ext cx="466725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32323"/>
                </a:solidFill>
                <a:latin typeface="Calibri"/>
                <a:ea typeface="Calibri"/>
                <a:cs typeface="Calibri"/>
              </a:defRPr>
            </a:defPPr>
          </a:lstStyle>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Shared feature formulas</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Training and inference use the same pipeline.</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Input validation</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Reject invalid values before inference.</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Immutable snapshots</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Keep evaluated inputs and outputs together.</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Preserved baseline</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Scenario comparisons do not update state.</a:t>
            </a:r>
          </a:p>
        </p:txBody>
      </p:sp>
      <p:sp>
        <p:nvSpPr>
          <p:cNvPr id="15" name="What-if results describe model responses to change">
            <a:extLst xmlns:a="http://schemas.openxmlformats.org/drawingml/2006/main">
              <a:ext uri="{FF2B5EF4-FFF2-40B4-BE49-F238E27FC236}">
                <a16:creationId xmlns:a16="http://schemas.microsoft.com/office/drawing/2014/main" id="{94857FEF-D747-4F53-85F3-6BD8E25E007E}"/>
              </a:ext>
            </a:extLst>
          </p:cNvPr>
          <p:cNvSpPr>
            <a:spLocks xmlns:a="http://schemas.openxmlformats.org/drawingml/2006/main" noGrp="1"/>
          </p:cNvSpPr>
          <p:nvPr/>
        </p:nvSpPr>
        <p:spPr>
          <a:xfrm xmlns:a="http://schemas.openxmlformats.org/drawingml/2006/main">
            <a:off x="822960" y="59055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66AD"/>
                </a:solidFill>
                <a:latin typeface="Calibri"/>
                <a:ea typeface="Calibri"/>
                <a:cs typeface="Calibri"/>
              </a:defRPr>
            </a:defPPr>
          </a:lstStyle>
          <a:p xmlns:a="http://schemas.openxmlformats.org/drawingml/2006/main">
            <a:pPr algn="l">
              <a:defRPr sz="1500" b="1">
                <a:solidFill>
                  <a:srgbClr val="2F66AD"/>
                </a:solidFill>
                <a:latin typeface="Calibri"/>
                <a:ea typeface="Calibri"/>
                <a:cs typeface="Calibri"/>
              </a:defRPr>
            </a:pPr>
            <a:r>
              <a:rPr sz="1500" b="1">
                <a:solidFill>
                  <a:srgbClr val="2F66AD"/>
                </a:solidFill>
                <a:latin typeface="Calibri"/>
                <a:ea typeface="Calibri"/>
                <a:cs typeface="Calibri"/>
              </a:rPr>
              <a:t>What-if results describe model responses to changed inputs.</a:t>
            </a:r>
          </a:p>
        </p:txBody>
      </p:sp>
    </p:spTree>
    <p:extLst>
      <p:ext uri="{BB962C8B-B14F-4D97-AF65-F5344CB8AC3E}">
        <p14:creationId xmlns:p14="http://schemas.microsoft.com/office/powerpoint/2010/main" val="42063983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7EE720E-8272-4D07-B888-E78A4061E288}"/>
              </a:ext>
            </a:extLst>
          </p:cNvPr>
          <p:cNvSpPr>
            <a:spLocks xmlns:a="http://schemas.openxmlformats.org/drawingml/2006/main" noGrp="1"/>
          </p:cNvSpPr>
          <p:nvPr/>
        </p:nvSpPr>
        <p:spPr>
          <a:xfrm xmlns:a="http://schemas.openxmlformats.org/drawingml/2006/main">
            <a:off x="640080" y="411480"/>
            <a:ext cx="4842193"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Copilot tools and execution</a:t>
            </a:r>
          </a:p>
        </p:txBody>
      </p:sp>
      <p:sp>
        <p:nvSpPr>
          <p:cNvPr id="3" name="Rounded Rectangle 2">
            <a:extLst xmlns:a="http://schemas.openxmlformats.org/drawingml/2006/main">
              <a:ext uri="{FF2B5EF4-FFF2-40B4-BE49-F238E27FC236}">
                <a16:creationId xmlns:a16="http://schemas.microsoft.com/office/drawing/2014/main" id="{81E914E0-F1B8-4D68-A0A8-C3830E4B8CF7}"/>
              </a:ext>
            </a:extLst>
          </p:cNvPr>
          <p:cNvSpPr>
            <a:spLocks xmlns:a="http://schemas.openxmlformats.org/drawingml/2006/main" noGrp="1"/>
          </p:cNvSpPr>
          <p:nvPr/>
        </p:nvSpPr>
        <p:spPr>
          <a:xfrm xmlns:a="http://schemas.openxmlformats.org/drawingml/2006/main">
            <a:off x="731520" y="1417320"/>
            <a:ext cx="2971800" cy="160020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1EFA75A2-5C6F-4064-BE5B-BCCDBB8F861D}"/>
              </a:ext>
            </a:extLst>
          </p:cNvPr>
          <p:cNvSpPr>
            <a:spLocks xmlns:a="http://schemas.openxmlformats.org/drawingml/2006/main" noGrp="1"/>
          </p:cNvSpPr>
          <p:nvPr/>
        </p:nvSpPr>
        <p:spPr>
          <a:xfrm xmlns:a="http://schemas.openxmlformats.org/drawingml/2006/main">
            <a:off x="914400" y="1554480"/>
            <a:ext cx="26098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800" b="1">
                <a:solidFill>
                  <a:srgbClr val="142A4A"/>
                </a:solidFill>
                <a:latin typeface="Calibri"/>
                <a:ea typeface="Calibri"/>
                <a:cs typeface="Calibri"/>
              </a:defRPr>
            </a:defPPr>
          </a:lstStyle>
          <a:p xmlns:a="http://schemas.openxmlformats.org/drawingml/2006/main">
            <a:pPr algn="l">
              <a:buNone/>
              <a:defRPr sz="1800" b="1">
                <a:solidFill>
                  <a:srgbClr val="142A4A"/>
                </a:solidFill>
                <a:latin typeface="Calibri"/>
                <a:ea typeface="Calibri"/>
                <a:cs typeface="Calibri"/>
              </a:defRPr>
            </a:pPr>
            <a:r>
              <a:rPr sz="1800" b="1">
                <a:solidFill>
                  <a:srgbClr val="142A4A"/>
                </a:solidFill>
                <a:latin typeface="Calibri"/>
                <a:ea typeface="Calibri"/>
                <a:cs typeface="Calibri"/>
              </a:rPr>
              <a:t>Current state</a:t>
            </a:r>
          </a:p>
        </p:txBody>
      </p:sp>
      <p:sp>
        <p:nvSpPr>
          <p:cNvPr id="5" name="TextBox 4">
            <a:extLst xmlns:a="http://schemas.openxmlformats.org/drawingml/2006/main">
              <a:ext uri="{FF2B5EF4-FFF2-40B4-BE49-F238E27FC236}">
                <a16:creationId xmlns:a16="http://schemas.microsoft.com/office/drawing/2014/main" id="{EF05396B-61EC-4F56-AF5E-7FB320A8FB8E}"/>
              </a:ext>
            </a:extLst>
          </p:cNvPr>
          <p:cNvSpPr>
            <a:spLocks xmlns:a="http://schemas.openxmlformats.org/drawingml/2006/main" noGrp="1"/>
          </p:cNvSpPr>
          <p:nvPr/>
        </p:nvSpPr>
        <p:spPr>
          <a:xfrm xmlns:a="http://schemas.openxmlformats.org/drawingml/2006/main">
            <a:off x="914400" y="2057400"/>
            <a:ext cx="2609850" cy="8953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Read evaluated inputs</a:t>
            </a:r>
            <a:endParaRP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and the existing risk score.</a:t>
            </a:r>
          </a:p>
        </p:txBody>
      </p:sp>
      <p:sp>
        <p:nvSpPr>
          <p:cNvPr id="6" name="Rounded Rectangle 5">
            <a:extLst xmlns:a="http://schemas.openxmlformats.org/drawingml/2006/main">
              <a:ext uri="{FF2B5EF4-FFF2-40B4-BE49-F238E27FC236}">
                <a16:creationId xmlns:a16="http://schemas.microsoft.com/office/drawing/2014/main" id="{9A287064-B7DD-422E-9830-CD9C8243F775}"/>
              </a:ext>
            </a:extLst>
          </p:cNvPr>
          <p:cNvSpPr>
            <a:spLocks xmlns:a="http://schemas.openxmlformats.org/drawingml/2006/main" noGrp="1"/>
          </p:cNvSpPr>
          <p:nvPr/>
        </p:nvSpPr>
        <p:spPr>
          <a:xfrm xmlns:a="http://schemas.openxmlformats.org/drawingml/2006/main">
            <a:off x="4160520" y="1417320"/>
            <a:ext cx="2971800" cy="160020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F09606DE-223B-4FE1-B76F-25770E9322D8}"/>
              </a:ext>
            </a:extLst>
          </p:cNvPr>
          <p:cNvSpPr>
            <a:spLocks xmlns:a="http://schemas.openxmlformats.org/drawingml/2006/main" noGrp="1"/>
          </p:cNvSpPr>
          <p:nvPr/>
        </p:nvSpPr>
        <p:spPr>
          <a:xfrm xmlns:a="http://schemas.openxmlformats.org/drawingml/2006/main">
            <a:off x="4343400" y="1554480"/>
            <a:ext cx="26098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800" b="1">
                <a:solidFill>
                  <a:srgbClr val="142A4A"/>
                </a:solidFill>
                <a:latin typeface="Calibri"/>
                <a:ea typeface="Calibri"/>
                <a:cs typeface="Calibri"/>
              </a:defRPr>
            </a:defPPr>
          </a:lstStyle>
          <a:p xmlns:a="http://schemas.openxmlformats.org/drawingml/2006/main">
            <a:pPr algn="l">
              <a:buNone/>
              <a:defRPr sz="1800" b="1">
                <a:solidFill>
                  <a:srgbClr val="142A4A"/>
                </a:solidFill>
                <a:latin typeface="Calibri"/>
                <a:ea typeface="Calibri"/>
                <a:cs typeface="Calibri"/>
              </a:defRPr>
            </a:pPr>
            <a:r>
              <a:rPr sz="1800" b="1">
                <a:solidFill>
                  <a:srgbClr val="142A4A"/>
                </a:solidFill>
                <a:latin typeface="Calibri"/>
                <a:ea typeface="Calibri"/>
                <a:cs typeface="Calibri"/>
              </a:rPr>
              <a:t>Recorded history</a:t>
            </a:r>
          </a:p>
        </p:txBody>
      </p:sp>
      <p:sp>
        <p:nvSpPr>
          <p:cNvPr id="8" name="TextBox 7">
            <a:extLst xmlns:a="http://schemas.openxmlformats.org/drawingml/2006/main">
              <a:ext uri="{FF2B5EF4-FFF2-40B4-BE49-F238E27FC236}">
                <a16:creationId xmlns:a16="http://schemas.microsoft.com/office/drawing/2014/main" id="{C0C8553B-846D-4430-BF58-0137285DEF95}"/>
              </a:ext>
            </a:extLst>
          </p:cNvPr>
          <p:cNvSpPr>
            <a:spLocks xmlns:a="http://schemas.openxmlformats.org/drawingml/2006/main" noGrp="1"/>
          </p:cNvSpPr>
          <p:nvPr/>
        </p:nvSpPr>
        <p:spPr>
          <a:xfrm xmlns:a="http://schemas.openxmlformats.org/drawingml/2006/main">
            <a:off x="4343400" y="2057400"/>
            <a:ext cx="2609850" cy="8953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Retrieve up to 20 session</a:t>
            </a:r>
            <a:endParaRP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readings for comparisons.</a:t>
            </a:r>
          </a:p>
        </p:txBody>
      </p:sp>
      <p:sp>
        <p:nvSpPr>
          <p:cNvPr id="9" name="Rounded Rectangle 8">
            <a:extLst xmlns:a="http://schemas.openxmlformats.org/drawingml/2006/main">
              <a:ext uri="{FF2B5EF4-FFF2-40B4-BE49-F238E27FC236}">
                <a16:creationId xmlns:a16="http://schemas.microsoft.com/office/drawing/2014/main" id="{E5E1572F-D6F1-432E-AF56-F9160C1A6DEC}"/>
              </a:ext>
            </a:extLst>
          </p:cNvPr>
          <p:cNvSpPr>
            <a:spLocks xmlns:a="http://schemas.openxmlformats.org/drawingml/2006/main" noGrp="1"/>
          </p:cNvSpPr>
          <p:nvPr/>
        </p:nvSpPr>
        <p:spPr>
          <a:xfrm xmlns:a="http://schemas.openxmlformats.org/drawingml/2006/main">
            <a:off x="7589520" y="1417320"/>
            <a:ext cx="2971800" cy="160020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904DACA-6A92-494E-A44F-72C8B930E37A}"/>
              </a:ext>
            </a:extLst>
          </p:cNvPr>
          <p:cNvSpPr>
            <a:spLocks xmlns:a="http://schemas.openxmlformats.org/drawingml/2006/main" noGrp="1"/>
          </p:cNvSpPr>
          <p:nvPr/>
        </p:nvSpPr>
        <p:spPr>
          <a:xfrm xmlns:a="http://schemas.openxmlformats.org/drawingml/2006/main">
            <a:off x="7772400" y="1554480"/>
            <a:ext cx="26098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800" b="1">
                <a:solidFill>
                  <a:srgbClr val="142A4A"/>
                </a:solidFill>
                <a:latin typeface="Calibri"/>
                <a:ea typeface="Calibri"/>
                <a:cs typeface="Calibri"/>
              </a:defRPr>
            </a:defPPr>
          </a:lstStyle>
          <a:p xmlns:a="http://schemas.openxmlformats.org/drawingml/2006/main">
            <a:pPr algn="l">
              <a:buNone/>
              <a:defRPr sz="1800" b="1">
                <a:solidFill>
                  <a:srgbClr val="142A4A"/>
                </a:solidFill>
                <a:latin typeface="Calibri"/>
                <a:ea typeface="Calibri"/>
                <a:cs typeface="Calibri"/>
              </a:defRPr>
            </a:pPr>
            <a:r>
              <a:rPr sz="1800" b="1">
                <a:solidFill>
                  <a:srgbClr val="142A4A"/>
                </a:solidFill>
                <a:latin typeface="Calibri"/>
                <a:ea typeface="Calibri"/>
                <a:cs typeface="Calibri"/>
              </a:rPr>
              <a:t>What-if scenario</a:t>
            </a:r>
          </a:p>
        </p:txBody>
      </p:sp>
      <p:sp>
        <p:nvSpPr>
          <p:cNvPr id="11" name="TextBox 10">
            <a:extLst xmlns:a="http://schemas.openxmlformats.org/drawingml/2006/main">
              <a:ext uri="{FF2B5EF4-FFF2-40B4-BE49-F238E27FC236}">
                <a16:creationId xmlns:a16="http://schemas.microsoft.com/office/drawing/2014/main" id="{89C6B61A-47D0-4C00-A01A-C10D6D6389A4}"/>
              </a:ext>
            </a:extLst>
          </p:cNvPr>
          <p:cNvSpPr>
            <a:spLocks xmlns:a="http://schemas.openxmlformats.org/drawingml/2006/main" noGrp="1"/>
          </p:cNvSpPr>
          <p:nvPr/>
        </p:nvSpPr>
        <p:spPr>
          <a:xfrm xmlns:a="http://schemas.openxmlformats.org/drawingml/2006/main">
            <a:off x="7772400" y="2057400"/>
            <a:ext cx="2609850" cy="8953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Run explicit input changes</a:t>
            </a:r>
            <a:endParaRP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with the real twin model.</a:t>
            </a:r>
            <a:endParaRPr/>
          </a:p>
        </p:txBody>
      </p:sp>
      <p:sp>
        <p:nvSpPr>
          <p:cNvPr id="12" name="Rounded Rectangle 11">
            <a:extLst xmlns:a="http://schemas.openxmlformats.org/drawingml/2006/main">
              <a:ext uri="{FF2B5EF4-FFF2-40B4-BE49-F238E27FC236}">
                <a16:creationId xmlns:a16="http://schemas.microsoft.com/office/drawing/2014/main" id="{F8F036B1-A55C-49FF-AC92-A1B87069BDED}"/>
              </a:ext>
            </a:extLst>
          </p:cNvPr>
          <p:cNvSpPr>
            <a:spLocks xmlns:a="http://schemas.openxmlformats.org/drawingml/2006/main" noGrp="1"/>
          </p:cNvSpPr>
          <p:nvPr/>
        </p:nvSpPr>
        <p:spPr>
          <a:xfrm xmlns:a="http://schemas.openxmlformats.org/drawingml/2006/main">
            <a:off x="2423160" y="3657600"/>
            <a:ext cx="2971800" cy="160020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3AA2B28-0502-47BE-A30B-7CA1A134F0D2}"/>
              </a:ext>
            </a:extLst>
          </p:cNvPr>
          <p:cNvSpPr>
            <a:spLocks xmlns:a="http://schemas.openxmlformats.org/drawingml/2006/main" noGrp="1"/>
          </p:cNvSpPr>
          <p:nvPr/>
        </p:nvSpPr>
        <p:spPr>
          <a:xfrm xmlns:a="http://schemas.openxmlformats.org/drawingml/2006/main">
            <a:off x="2606040" y="3794760"/>
            <a:ext cx="26098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800" b="1">
                <a:solidFill>
                  <a:srgbClr val="142A4A"/>
                </a:solidFill>
                <a:latin typeface="Calibri"/>
                <a:ea typeface="Calibri"/>
                <a:cs typeface="Calibri"/>
              </a:defRPr>
            </a:defPPr>
          </a:lstStyle>
          <a:p xmlns:a="http://schemas.openxmlformats.org/drawingml/2006/main">
            <a:pPr algn="l">
              <a:buNone/>
              <a:defRPr sz="1800" b="1">
                <a:solidFill>
                  <a:srgbClr val="142A4A"/>
                </a:solidFill>
                <a:latin typeface="Calibri"/>
                <a:ea typeface="Calibri"/>
                <a:cs typeface="Calibri"/>
              </a:defRPr>
            </a:pPr>
            <a:r>
              <a:rPr sz="1800" b="1">
                <a:solidFill>
                  <a:srgbClr val="142A4A"/>
                </a:solidFill>
                <a:latin typeface="Calibri"/>
                <a:ea typeface="Calibri"/>
                <a:cs typeface="Calibri"/>
              </a:rPr>
              <a:t>Latest comparison</a:t>
            </a:r>
          </a:p>
        </p:txBody>
      </p:sp>
      <p:sp>
        <p:nvSpPr>
          <p:cNvPr id="14" name="TextBox 13">
            <a:extLst xmlns:a="http://schemas.openxmlformats.org/drawingml/2006/main">
              <a:ext uri="{FF2B5EF4-FFF2-40B4-BE49-F238E27FC236}">
                <a16:creationId xmlns:a16="http://schemas.microsoft.com/office/drawing/2014/main" id="{DB04FD50-64FE-42E1-A3F8-9A3228E40C5C}"/>
              </a:ext>
            </a:extLst>
          </p:cNvPr>
          <p:cNvSpPr>
            <a:spLocks xmlns:a="http://schemas.openxmlformats.org/drawingml/2006/main" noGrp="1"/>
          </p:cNvSpPr>
          <p:nvPr/>
        </p:nvSpPr>
        <p:spPr>
          <a:xfrm xmlns:a="http://schemas.openxmlformats.org/drawingml/2006/main">
            <a:off x="2606040" y="4297680"/>
            <a:ext cx="2609850" cy="8953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Read the dashboard scenario</a:t>
            </a:r>
            <a:endParaRP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for the current baseline.</a:t>
            </a:r>
            <a:endParaRPr/>
          </a:p>
        </p:txBody>
      </p:sp>
      <p:sp>
        <p:nvSpPr>
          <p:cNvPr id="15" name="Rounded Rectangle 14">
            <a:extLst xmlns:a="http://schemas.openxmlformats.org/drawingml/2006/main">
              <a:ext uri="{FF2B5EF4-FFF2-40B4-BE49-F238E27FC236}">
                <a16:creationId xmlns:a16="http://schemas.microsoft.com/office/drawing/2014/main" id="{F50BAB39-94C8-4217-B144-2A2DB02F00A0}"/>
              </a:ext>
            </a:extLst>
          </p:cNvPr>
          <p:cNvSpPr>
            <a:spLocks xmlns:a="http://schemas.openxmlformats.org/drawingml/2006/main" noGrp="1"/>
          </p:cNvSpPr>
          <p:nvPr/>
        </p:nvSpPr>
        <p:spPr>
          <a:xfrm xmlns:a="http://schemas.openxmlformats.org/drawingml/2006/main">
            <a:off x="5852160" y="3657600"/>
            <a:ext cx="2971800" cy="160020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05E63A3D-FF0A-44C7-925C-E0285BEED64E}"/>
              </a:ext>
            </a:extLst>
          </p:cNvPr>
          <p:cNvSpPr>
            <a:spLocks xmlns:a="http://schemas.openxmlformats.org/drawingml/2006/main" noGrp="1"/>
          </p:cNvSpPr>
          <p:nvPr/>
        </p:nvSpPr>
        <p:spPr>
          <a:xfrm xmlns:a="http://schemas.openxmlformats.org/drawingml/2006/main">
            <a:off x="6035040" y="3794760"/>
            <a:ext cx="26098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800" b="1">
                <a:solidFill>
                  <a:srgbClr val="142A4A"/>
                </a:solidFill>
                <a:latin typeface="Calibri"/>
                <a:ea typeface="Calibri"/>
                <a:cs typeface="Calibri"/>
              </a:defRPr>
            </a:defPPr>
          </a:lstStyle>
          <a:p xmlns:a="http://schemas.openxmlformats.org/drawingml/2006/main">
            <a:pPr algn="l">
              <a:buNone/>
              <a:defRPr sz="1800" b="1">
                <a:solidFill>
                  <a:srgbClr val="142A4A"/>
                </a:solidFill>
                <a:latin typeface="Calibri"/>
                <a:ea typeface="Calibri"/>
                <a:cs typeface="Calibri"/>
              </a:defRPr>
            </a:pPr>
            <a:r>
              <a:rPr sz="1800" b="1">
                <a:solidFill>
                  <a:srgbClr val="142A4A"/>
                </a:solidFill>
                <a:latin typeface="Calibri"/>
                <a:ea typeface="Calibri"/>
                <a:cs typeface="Calibri"/>
              </a:rPr>
              <a:t>Model test results</a:t>
            </a:r>
          </a:p>
        </p:txBody>
      </p:sp>
      <p:sp>
        <p:nvSpPr>
          <p:cNvPr id="17" name="TextBox 16">
            <a:extLst xmlns:a="http://schemas.openxmlformats.org/drawingml/2006/main">
              <a:ext uri="{FF2B5EF4-FFF2-40B4-BE49-F238E27FC236}">
                <a16:creationId xmlns:a16="http://schemas.microsoft.com/office/drawing/2014/main" id="{8D4A9DDB-83A9-4C7C-869D-2F60412DE29C}"/>
              </a:ext>
            </a:extLst>
          </p:cNvPr>
          <p:cNvSpPr>
            <a:spLocks xmlns:a="http://schemas.openxmlformats.org/drawingml/2006/main" noGrp="1"/>
          </p:cNvSpPr>
          <p:nvPr/>
        </p:nvSpPr>
        <p:spPr>
          <a:xfrm xmlns:a="http://schemas.openxmlformats.org/drawingml/2006/main">
            <a:off x="6035040" y="4297680"/>
            <a:ext cx="2609850" cy="8953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Read saved model metrics</a:t>
            </a:r>
            <a:endParaRP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for both classifiers.</a:t>
            </a:r>
            <a:endParaRPr/>
          </a:p>
        </p:txBody>
      </p:sp>
      <p:sp>
        <p:nvSpPr>
          <p:cNvPr id="18" name="Rectangle 17">
            <a:extLst xmlns:a="http://schemas.openxmlformats.org/drawingml/2006/main">
              <a:ext uri="{FF2B5EF4-FFF2-40B4-BE49-F238E27FC236}">
                <a16:creationId xmlns:a16="http://schemas.microsoft.com/office/drawing/2014/main" id="{73D72B1B-103B-4A44-85EF-6B3F14915897}"/>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4240F813-4FBD-4F42-9BE6-B701C8C69B6C}"/>
              </a:ext>
            </a:extLst>
          </p:cNvPr>
          <p:cNvSpPr>
            <a:spLocks xmlns:a="http://schemas.openxmlformats.org/drawingml/2006/main" noGrp="1"/>
          </p:cNvSpPr>
          <p:nvPr/>
        </p:nvSpPr>
        <p:spPr>
          <a:xfrm xmlns:a="http://schemas.openxmlformats.org/drawingml/2006/main">
            <a:off x="11247120" y="6400800"/>
            <a:ext cx="141287"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10</a:t>
            </a:r>
          </a:p>
        </p:txBody>
      </p:sp>
      <p:sp>
        <p:nvSpPr>
          <p:cNvPr id="20" name="Fresh context starts each turn. LangGraph limits e">
            <a:extLst xmlns:a="http://schemas.openxmlformats.org/drawingml/2006/main">
              <a:ext uri="{FF2B5EF4-FFF2-40B4-BE49-F238E27FC236}">
                <a16:creationId xmlns:a16="http://schemas.microsoft.com/office/drawing/2014/main" id="{0D554406-2434-40BB-93B2-DA677F2C0832}"/>
              </a:ext>
            </a:extLst>
          </p:cNvPr>
          <p:cNvSpPr>
            <a:spLocks xmlns:a="http://schemas.openxmlformats.org/drawingml/2006/main" noGrp="1"/>
          </p:cNvSpPr>
          <p:nvPr/>
        </p:nvSpPr>
        <p:spPr>
          <a:xfrm xmlns:a="http://schemas.openxmlformats.org/drawingml/2006/main">
            <a:off x="822960" y="58102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66AD"/>
                </a:solidFill>
                <a:latin typeface="Calibri"/>
                <a:ea typeface="Calibri"/>
                <a:cs typeface="Calibri"/>
              </a:defRPr>
            </a:defPPr>
          </a:lstStyle>
          <a:p xmlns:a="http://schemas.openxmlformats.org/drawingml/2006/main">
            <a:pPr algn="l">
              <a:defRPr sz="1500" b="1">
                <a:solidFill>
                  <a:srgbClr val="2F66AD"/>
                </a:solidFill>
                <a:latin typeface="Calibri"/>
                <a:ea typeface="Calibri"/>
                <a:cs typeface="Calibri"/>
              </a:defRPr>
            </a:pPr>
            <a:r>
              <a:rPr sz="1500" b="1">
                <a:solidFill>
                  <a:srgbClr val="2F66AD"/>
                </a:solidFill>
                <a:latin typeface="Calibri"/>
                <a:ea typeface="Calibri"/>
                <a:cs typeface="Calibri"/>
              </a:rPr>
              <a:t>Fresh context starts each turn. LangGraph limits execution to 6 tool rounds.</a:t>
            </a:r>
          </a:p>
        </p:txBody>
      </p:sp>
    </p:spTree>
    <p:extLst>
      <p:ext uri="{BB962C8B-B14F-4D97-AF65-F5344CB8AC3E}">
        <p14:creationId xmlns:p14="http://schemas.microsoft.com/office/powerpoint/2010/main" val="68129005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196CCFF-82AE-0750-3211-D828833EE4B7}"/>
              </a:ext>
            </a:extLst>
          </p:cNvPr>
          <p:cNvSpPr>
            <a:spLocks xmlns:a="http://schemas.openxmlformats.org/drawingml/2006/main" noGrp="1"/>
          </p:cNvSpPr>
          <p:nvPr/>
        </p:nvSpPr>
        <p:spPr>
          <a:xfrm xmlns:a="http://schemas.openxmlformats.org/drawingml/2006/main">
            <a:off x="640080" y="411480"/>
            <a:ext cx="6172518"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Dashboard and what-if comparison</a:t>
            </a:r>
            <a:endParaRPr/>
          </a:p>
        </p:txBody>
      </p:sp>
      <p:sp>
        <p:nvSpPr>
          <p:cNvPr id="9" name="Rectangle 8">
            <a:extLst xmlns:a="http://schemas.openxmlformats.org/drawingml/2006/main">
              <a:ext uri="{FF2B5EF4-FFF2-40B4-BE49-F238E27FC236}">
                <a16:creationId xmlns:a16="http://schemas.microsoft.com/office/drawing/2014/main" id="{C4C530C1-0558-30FF-9E2E-1606BF0DDA5B}"/>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E8C922B9-7FB6-F5D1-5CB6-EFB4DF825650}"/>
              </a:ext>
            </a:extLst>
          </p:cNvPr>
          <p:cNvSpPr>
            <a:spLocks xmlns:a="http://schemas.openxmlformats.org/drawingml/2006/main" noGrp="1"/>
          </p:cNvSpPr>
          <p:nvPr/>
        </p:nvSpPr>
        <p:spPr>
          <a:xfrm xmlns:a="http://schemas.openxmlformats.org/drawingml/2006/main">
            <a:off x="11247120" y="6400800"/>
            <a:ext cx="141287"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11</a:t>
            </a:r>
          </a:p>
        </p:txBody>
      </p:sp>
      <p:pic>
        <p:nvPicPr>
          <p:cNvPr id="11" name="">
            <a:extLst xmlns:a="http://schemas.openxmlformats.org/drawingml/2006/main">
              <a:ext uri="{FF2B5EF4-FFF2-40B4-BE49-F238E27FC236}">
                <a16:creationId xmlns:a16="http://schemas.microsoft.com/office/drawing/2014/main" id="{99849715-E7BA-4E15-BC55-F1BC9EFACFD2}"/>
              </a:ext>
            </a:extLst>
          </p:cNvPr>
          <p:cNvPicPr>
            <a:picLocks xmlns:a="http://schemas.openxmlformats.org/drawingml/2006/main" noChangeAspect="1"/>
          </p:cNvPicPr>
          <p:nvPr/>
        </p:nvPicPr>
        <p:blipFill>
          <a:blip xmlns:r="http://schemas.openxmlformats.org/officeDocument/2006/relationships" xmlns:a="http://schemas.openxmlformats.org/drawingml/2006/main" r:embed="R7ea2c3324a5a4a40"/>
          <a:stretch xmlns:a="http://schemas.openxmlformats.org/drawingml/2006/main"/>
        </p:blipFill>
        <p:spPr>
          <a:xfrm xmlns:a="http://schemas.openxmlformats.org/drawingml/2006/main">
            <a:off x="992453" y="1181100"/>
            <a:ext cx="10165185" cy="4667250"/>
          </a:xfrm>
          <a:prstGeom xmlns:a="http://schemas.openxmlformats.org/drawingml/2006/main" prst="rect">
            <a:avLst/>
          </a:prstGeom>
        </p:spPr>
      </p:pic>
      <p:sp>
        <p:nvSpPr>
          <p:cNvPr id="12" name="The app displays the original and hypothetical rea">
            <a:extLst xmlns:a="http://schemas.openxmlformats.org/drawingml/2006/main">
              <a:ext uri="{FF2B5EF4-FFF2-40B4-BE49-F238E27FC236}">
                <a16:creationId xmlns:a16="http://schemas.microsoft.com/office/drawing/2014/main" id="{28C85395-7B8C-4844-9257-B1350E9E4512}"/>
              </a:ext>
            </a:extLst>
          </p:cNvPr>
          <p:cNvSpPr>
            <a:spLocks xmlns:a="http://schemas.openxmlformats.org/drawingml/2006/main" noGrp="1"/>
          </p:cNvSpPr>
          <p:nvPr/>
        </p:nvSpPr>
        <p:spPr>
          <a:xfrm xmlns:a="http://schemas.openxmlformats.org/drawingml/2006/main">
            <a:off x="914400" y="60483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A4A"/>
                </a:solidFill>
                <a:latin typeface="Calibri"/>
                <a:ea typeface="Calibri"/>
                <a:cs typeface="Calibri"/>
              </a:defRPr>
            </a:defPPr>
          </a:lstStyle>
          <a:p xmlns:a="http://schemas.openxmlformats.org/drawingml/2006/main">
            <a:pPr algn="l">
              <a:defRPr sz="1650" b="1">
                <a:solidFill>
                  <a:srgbClr val="142A4A"/>
                </a:solidFill>
                <a:latin typeface="Calibri"/>
                <a:ea typeface="Calibri"/>
                <a:cs typeface="Calibri"/>
              </a:defRPr>
            </a:pPr>
            <a:r>
              <a:rPr sz="1650" b="1">
                <a:solidFill>
                  <a:srgbClr val="142A4A"/>
                </a:solidFill>
                <a:latin typeface="Calibri"/>
                <a:ea typeface="Calibri"/>
                <a:cs typeface="Calibri"/>
              </a:rPr>
              <a:t>The app displays the original and hypothetical readings side by side.</a:t>
            </a:r>
          </a:p>
        </p:txBody>
      </p:sp>
    </p:spTree>
    <p:extLst>
      <p:ext uri="{BB962C8B-B14F-4D97-AF65-F5344CB8AC3E}">
        <p14:creationId xmlns:p14="http://schemas.microsoft.com/office/powerpoint/2010/main" val="336852296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0063855-9C61-4225-98A7-32E77CC501DC}"/>
              </a:ext>
            </a:extLst>
          </p:cNvPr>
          <p:cNvSpPr>
            <a:spLocks xmlns:a="http://schemas.openxmlformats.org/drawingml/2006/main" noGrp="1"/>
          </p:cNvSpPr>
          <p:nvPr/>
        </p:nvSpPr>
        <p:spPr>
          <a:xfrm xmlns:a="http://schemas.openxmlformats.org/drawingml/2006/main">
            <a:off x="640080" y="411480"/>
            <a:ext cx="4777105"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Copilot evaluation protocol</a:t>
            </a:r>
          </a:p>
        </p:txBody>
      </p:sp>
      <p:sp>
        <p:nvSpPr>
          <p:cNvPr id="3" name="Rounded Rectangle 2">
            <a:extLst xmlns:a="http://schemas.openxmlformats.org/drawingml/2006/main">
              <a:ext uri="{FF2B5EF4-FFF2-40B4-BE49-F238E27FC236}">
                <a16:creationId xmlns:a16="http://schemas.microsoft.com/office/drawing/2014/main" id="{30849BD7-ECA1-427E-A97F-7FECC3896711}"/>
              </a:ext>
            </a:extLst>
          </p:cNvPr>
          <p:cNvSpPr>
            <a:spLocks xmlns:a="http://schemas.openxmlformats.org/drawingml/2006/main" noGrp="1"/>
          </p:cNvSpPr>
          <p:nvPr/>
        </p:nvSpPr>
        <p:spPr>
          <a:xfrm xmlns:a="http://schemas.openxmlformats.org/drawingml/2006/main">
            <a:off x="731520" y="1325880"/>
            <a:ext cx="3383280" cy="214884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73F09E7C-1267-4254-ACED-D3B7080C2844}"/>
              </a:ext>
            </a:extLst>
          </p:cNvPr>
          <p:cNvSpPr>
            <a:spLocks xmlns:a="http://schemas.openxmlformats.org/drawingml/2006/main" noGrp="1"/>
          </p:cNvSpPr>
          <p:nvPr/>
        </p:nvSpPr>
        <p:spPr>
          <a:xfrm xmlns:a="http://schemas.openxmlformats.org/drawingml/2006/main">
            <a:off x="914400" y="1463039"/>
            <a:ext cx="1740218"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800" b="1">
                <a:solidFill>
                  <a:srgbClr val="142A4A"/>
                </a:solidFill>
                <a:latin typeface="Calibri"/>
                <a:ea typeface="Calibri"/>
                <a:cs typeface="Calibri"/>
              </a:defRPr>
            </a:defPPr>
          </a:lstStyle>
          <a:p xmlns:a="http://schemas.openxmlformats.org/drawingml/2006/main">
            <a:pPr>
              <a:buNone/>
              <a:defRPr sz="1800" b="1">
                <a:solidFill>
                  <a:srgbClr val="142A4A"/>
                </a:solidFill>
                <a:latin typeface="Calibri"/>
                <a:ea typeface="Calibri"/>
                <a:cs typeface="Calibri"/>
              </a:defRPr>
            </a:pPr>
            <a:r>
              <a:rPr sz="1800" b="1">
                <a:solidFill>
                  <a:srgbClr val="142A4A"/>
                </a:solidFill>
                <a:latin typeface="Calibri"/>
                <a:ea typeface="Calibri"/>
                <a:cs typeface="Calibri"/>
              </a:rPr>
              <a:t>Scenario suite</a:t>
            </a:r>
          </a:p>
        </p:txBody>
      </p:sp>
      <p:sp>
        <p:nvSpPr>
          <p:cNvPr id="5" name="TextBox 4">
            <a:extLst xmlns:a="http://schemas.openxmlformats.org/drawingml/2006/main">
              <a:ext uri="{FF2B5EF4-FFF2-40B4-BE49-F238E27FC236}">
                <a16:creationId xmlns:a16="http://schemas.microsoft.com/office/drawing/2014/main" id="{EECEA148-2146-47AA-987C-394B2C2FE92A}"/>
              </a:ext>
            </a:extLst>
          </p:cNvPr>
          <p:cNvSpPr>
            <a:spLocks xmlns:a="http://schemas.openxmlformats.org/drawingml/2006/main" noGrp="1"/>
          </p:cNvSpPr>
          <p:nvPr/>
        </p:nvSpPr>
        <p:spPr>
          <a:xfrm xmlns:a="http://schemas.openxmlformats.org/drawingml/2006/main">
            <a:off x="914400" y="1965960"/>
            <a:ext cx="3017520" cy="15240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60 final evaluation tasks</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10 tasks in each of 6 categories</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12 separate development tasks</a:t>
            </a:r>
          </a:p>
          <a:p xmlns:a="http://schemas.openxmlformats.org/drawingml/2006/main">
            <a:pPr>
              <a:buNone/>
              <a:defRPr sz="1500">
                <a:solidFill>
                  <a:srgbClr val="1E1E1E"/>
                </a:solidFill>
              </a:defRPr>
            </a:pPr>
            <a:r>
              <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Distinct held-out base records</a:t>
            </a:r>
          </a:p>
        </p:txBody>
      </p:sp>
      <p:sp>
        <p:nvSpPr>
          <p:cNvPr id="6" name="Rounded Rectangle 5">
            <a:extLst xmlns:a="http://schemas.openxmlformats.org/drawingml/2006/main">
              <a:ext uri="{FF2B5EF4-FFF2-40B4-BE49-F238E27FC236}">
                <a16:creationId xmlns:a16="http://schemas.microsoft.com/office/drawing/2014/main" id="{088B5FE4-4469-41C3-BC9D-2A2B68F6360B}"/>
              </a:ext>
            </a:extLst>
          </p:cNvPr>
          <p:cNvSpPr>
            <a:spLocks xmlns:a="http://schemas.openxmlformats.org/drawingml/2006/main" noGrp="1"/>
          </p:cNvSpPr>
          <p:nvPr/>
        </p:nvSpPr>
        <p:spPr>
          <a:xfrm xmlns:a="http://schemas.openxmlformats.org/drawingml/2006/main">
            <a:off x="4389120" y="1325880"/>
            <a:ext cx="3383280" cy="214884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8FB6283-F5FF-4183-A644-CB48FA604059}"/>
              </a:ext>
            </a:extLst>
          </p:cNvPr>
          <p:cNvSpPr>
            <a:spLocks xmlns:a="http://schemas.openxmlformats.org/drawingml/2006/main" noGrp="1"/>
          </p:cNvSpPr>
          <p:nvPr/>
        </p:nvSpPr>
        <p:spPr>
          <a:xfrm xmlns:a="http://schemas.openxmlformats.org/drawingml/2006/main">
            <a:off x="4572000" y="1463039"/>
            <a:ext cx="2435543"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800" b="1">
                <a:solidFill>
                  <a:srgbClr val="142A4A"/>
                </a:solidFill>
                <a:latin typeface="Calibri"/>
                <a:ea typeface="Calibri"/>
                <a:cs typeface="Calibri"/>
              </a:defRPr>
            </a:defPPr>
          </a:lstStyle>
          <a:p xmlns:a="http://schemas.openxmlformats.org/drawingml/2006/main">
            <a:pPr>
              <a:buNone/>
              <a:defRPr sz="1800" b="1">
                <a:solidFill>
                  <a:srgbClr val="142A4A"/>
                </a:solidFill>
                <a:latin typeface="Calibri"/>
                <a:ea typeface="Calibri"/>
                <a:cs typeface="Calibri"/>
              </a:defRPr>
            </a:pPr>
            <a:r>
              <a:rPr sz="1800" b="1">
                <a:solidFill>
                  <a:srgbClr val="142A4A"/>
                </a:solidFill>
                <a:latin typeface="Calibri"/>
                <a:ea typeface="Calibri"/>
                <a:cs typeface="Calibri"/>
              </a:rPr>
              <a:t>Independent repeats</a:t>
            </a:r>
          </a:p>
        </p:txBody>
      </p:sp>
      <p:sp>
        <p:nvSpPr>
          <p:cNvPr id="8" name="TextBox 7">
            <a:extLst xmlns:a="http://schemas.openxmlformats.org/drawingml/2006/main">
              <a:ext uri="{FF2B5EF4-FFF2-40B4-BE49-F238E27FC236}">
                <a16:creationId xmlns:a16="http://schemas.microsoft.com/office/drawing/2014/main" id="{2AB1495C-D5DB-461D-B08F-CB806DA64D29}"/>
              </a:ext>
            </a:extLst>
          </p:cNvPr>
          <p:cNvSpPr>
            <a:spLocks xmlns:a="http://schemas.openxmlformats.org/drawingml/2006/main" noGrp="1"/>
          </p:cNvSpPr>
          <p:nvPr/>
        </p:nvSpPr>
        <p:spPr>
          <a:xfrm xmlns:a="http://schemas.openxmlformats.org/drawingml/2006/main">
            <a:off x="4572000" y="1965960"/>
            <a:ext cx="3017520" cy="15240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3 trials for each task</a:t>
            </a:r>
            <a:endParaRP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Fresh state and conversation</a:t>
            </a:r>
          </a:p>
          <a:p xmlns:a="http://schemas.openxmlformats.org/drawingml/2006/main">
            <a:pPr>
              <a:buNone/>
              <a:defRPr sz="1500">
                <a:solidFill>
                  <a:srgbClr val="1E1E1E"/>
                </a:solidFill>
              </a:defRPr>
            </a:pPr>
            <a:r>
              <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180 task-trials</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210 conversation turns</a:t>
            </a:r>
          </a:p>
        </p:txBody>
      </p:sp>
      <p:sp>
        <p:nvSpPr>
          <p:cNvPr id="9" name="Rounded Rectangle 8">
            <a:extLst xmlns:a="http://schemas.openxmlformats.org/drawingml/2006/main">
              <a:ext uri="{FF2B5EF4-FFF2-40B4-BE49-F238E27FC236}">
                <a16:creationId xmlns:a16="http://schemas.microsoft.com/office/drawing/2014/main" id="{D34A7495-1A63-489E-9089-C03A685BA4CD}"/>
              </a:ext>
            </a:extLst>
          </p:cNvPr>
          <p:cNvSpPr>
            <a:spLocks xmlns:a="http://schemas.openxmlformats.org/drawingml/2006/main" noGrp="1"/>
          </p:cNvSpPr>
          <p:nvPr/>
        </p:nvSpPr>
        <p:spPr>
          <a:xfrm xmlns:a="http://schemas.openxmlformats.org/drawingml/2006/main">
            <a:off x="8046720" y="1325880"/>
            <a:ext cx="3383280" cy="214884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03607889-898D-4B17-B4B2-72BA12D4912E}"/>
              </a:ext>
            </a:extLst>
          </p:cNvPr>
          <p:cNvSpPr>
            <a:spLocks xmlns:a="http://schemas.openxmlformats.org/drawingml/2006/main" noGrp="1"/>
          </p:cNvSpPr>
          <p:nvPr/>
        </p:nvSpPr>
        <p:spPr>
          <a:xfrm xmlns:a="http://schemas.openxmlformats.org/drawingml/2006/main">
            <a:off x="8229600" y="1463039"/>
            <a:ext cx="2618105"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800" b="1">
                <a:solidFill>
                  <a:srgbClr val="142A4A"/>
                </a:solidFill>
                <a:latin typeface="Calibri"/>
                <a:ea typeface="Calibri"/>
                <a:cs typeface="Calibri"/>
              </a:defRPr>
            </a:defPPr>
          </a:lstStyle>
          <a:p xmlns:a="http://schemas.openxmlformats.org/drawingml/2006/main">
            <a:pPr>
              <a:buNone/>
              <a:defRPr sz="1800" b="1">
                <a:solidFill>
                  <a:srgbClr val="142A4A"/>
                </a:solidFill>
                <a:latin typeface="Calibri"/>
                <a:ea typeface="Calibri"/>
                <a:cs typeface="Calibri"/>
              </a:defRPr>
            </a:pPr>
            <a:r>
              <a:rPr sz="1800" b="1">
                <a:solidFill>
                  <a:srgbClr val="142A4A"/>
                </a:solidFill>
                <a:latin typeface="Calibri"/>
                <a:ea typeface="Calibri"/>
                <a:cs typeface="Calibri"/>
              </a:rPr>
              <a:t>Executable references</a:t>
            </a:r>
          </a:p>
        </p:txBody>
      </p:sp>
      <p:sp>
        <p:nvSpPr>
          <p:cNvPr id="11" name="TextBox 10">
            <a:extLst xmlns:a="http://schemas.openxmlformats.org/drawingml/2006/main">
              <a:ext uri="{FF2B5EF4-FFF2-40B4-BE49-F238E27FC236}">
                <a16:creationId xmlns:a16="http://schemas.microsoft.com/office/drawing/2014/main" id="{73A762FB-13B2-4AA2-865F-D3EF97110942}"/>
              </a:ext>
            </a:extLst>
          </p:cNvPr>
          <p:cNvSpPr>
            <a:spLocks xmlns:a="http://schemas.openxmlformats.org/drawingml/2006/main" noGrp="1"/>
          </p:cNvSpPr>
          <p:nvPr/>
        </p:nvSpPr>
        <p:spPr>
          <a:xfrm xmlns:a="http://schemas.openxmlformats.org/drawingml/2006/main">
            <a:off x="8229600" y="1965960"/>
            <a:ext cx="3017520" cy="15240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1500" b="0">
                <a:solidFill>
                  <a:srgbClr val="232323"/>
                </a:solidFill>
                <a:latin typeface="Calibri"/>
                <a:ea typeface="Calibri"/>
                <a:cs typeface="Calibri"/>
              </a:defRPr>
            </a:defPPr>
          </a:lstStyle>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Real twin reference outputs</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Required tools and arguments</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Fresh state and baseline checks</a:t>
            </a:r>
          </a:p>
          <a:p xmlns:a="http://schemas.openxmlformats.org/drawingml/2006/main">
            <a:pPr>
              <a:buNone/>
              <a:defRPr sz="1500">
                <a:solidFill>
                  <a:srgbClr val="1E1E1E"/>
                </a:solidFill>
              </a:defRPr>
            </a:pPr>
            <a:r>
              <a:t/>
            </a:r>
          </a:p>
          <a:p xmlns:a="http://schemas.openxmlformats.org/drawingml/2006/main">
            <a:pPr>
              <a:buNone/>
              <a:defRPr sz="1500" b="0">
                <a:solidFill>
                  <a:srgbClr val="232323"/>
                </a:solidFill>
                <a:latin typeface="Calibri"/>
                <a:ea typeface="Calibri"/>
                <a:cs typeface="Calibri"/>
              </a:defRPr>
            </a:pPr>
            <a:r>
              <a:rPr sz="1500" b="0">
                <a:solidFill>
                  <a:srgbClr val="232323"/>
                </a:solidFill>
                <a:latin typeface="Calibri"/>
                <a:ea typeface="Calibri"/>
                <a:cs typeface="Calibri"/>
              </a:rPr>
              <a:t>Saved answers and evidence</a:t>
            </a:r>
          </a:p>
        </p:txBody>
      </p:sp>
      <p:sp>
        <p:nvSpPr>
          <p:cNvPr id="13" name="Rectangle 12">
            <a:extLst xmlns:a="http://schemas.openxmlformats.org/drawingml/2006/main">
              <a:ext uri="{FF2B5EF4-FFF2-40B4-BE49-F238E27FC236}">
                <a16:creationId xmlns:a16="http://schemas.microsoft.com/office/drawing/2014/main" id="{6A8F163A-A6AB-41D5-987D-40247729674E}"/>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B6041E5E-9981-4ED6-A08B-8D5A625BF933}"/>
              </a:ext>
            </a:extLst>
          </p:cNvPr>
          <p:cNvSpPr>
            <a:spLocks xmlns:a="http://schemas.openxmlformats.org/drawingml/2006/main" noGrp="1"/>
          </p:cNvSpPr>
          <p:nvPr/>
        </p:nvSpPr>
        <p:spPr>
          <a:xfrm xmlns:a="http://schemas.openxmlformats.org/drawingml/2006/main">
            <a:off x="11247120" y="6400800"/>
            <a:ext cx="141287"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12</a:t>
            </a:r>
          </a:p>
        </p:txBody>
      </p:sp>
      <p:sp>
        <p:nvSpPr>
          <p:cNvPr id="15" name="Evaluated LLM: GPT-4.1 mini">
            <a:extLst xmlns:a="http://schemas.openxmlformats.org/drawingml/2006/main">
              <a:ext uri="{FF2B5EF4-FFF2-40B4-BE49-F238E27FC236}">
                <a16:creationId xmlns:a16="http://schemas.microsoft.com/office/drawing/2014/main" id="{1B94DBC5-BB10-4D08-9BB4-2ADB32FBAB3F}"/>
              </a:ext>
            </a:extLst>
          </p:cNvPr>
          <p:cNvSpPr>
            <a:spLocks xmlns:a="http://schemas.openxmlformats.org/drawingml/2006/main" noGrp="1"/>
          </p:cNvSpPr>
          <p:nvPr/>
        </p:nvSpPr>
        <p:spPr>
          <a:xfrm xmlns:a="http://schemas.openxmlformats.org/drawingml/2006/main">
            <a:off x="914400" y="40481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A4A"/>
                </a:solidFill>
                <a:latin typeface="Calibri"/>
                <a:ea typeface="Calibri"/>
                <a:cs typeface="Calibri"/>
              </a:defRPr>
            </a:defPPr>
          </a:lstStyle>
          <a:p xmlns:a="http://schemas.openxmlformats.org/drawingml/2006/main">
            <a:pPr algn="l">
              <a:defRPr sz="2100" b="1">
                <a:solidFill>
                  <a:srgbClr val="142A4A"/>
                </a:solidFill>
                <a:latin typeface="Calibri"/>
                <a:ea typeface="Calibri"/>
                <a:cs typeface="Calibri"/>
              </a:defRPr>
            </a:pPr>
            <a:r>
              <a:rPr sz="2100" b="1">
                <a:solidFill>
                  <a:srgbClr val="142A4A"/>
                </a:solidFill>
                <a:latin typeface="Calibri"/>
                <a:ea typeface="Calibri"/>
                <a:cs typeface="Calibri"/>
              </a:rPr>
              <a:t>Evaluated LLM: GPT-4.1 mini</a:t>
            </a:r>
          </a:p>
        </p:txBody>
      </p:sp>
      <p:sp>
        <p:nvSpPr>
          <p:cNvPr id="16" name="The benchmark tests current-state questions, scena">
            <a:extLst xmlns:a="http://schemas.openxmlformats.org/drawingml/2006/main">
              <a:ext uri="{FF2B5EF4-FFF2-40B4-BE49-F238E27FC236}">
                <a16:creationId xmlns:a16="http://schemas.microsoft.com/office/drawing/2014/main" id="{3327E158-9EC8-4A8F-B5AD-E7ACB63FDD59}"/>
              </a:ext>
            </a:extLst>
          </p:cNvPr>
          <p:cNvSpPr>
            <a:spLocks xmlns:a="http://schemas.openxmlformats.org/drawingml/2006/main" noGrp="1"/>
          </p:cNvSpPr>
          <p:nvPr/>
        </p:nvSpPr>
        <p:spPr>
          <a:xfrm xmlns:a="http://schemas.openxmlformats.org/drawingml/2006/main">
            <a:off x="914400" y="4667250"/>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32323"/>
                </a:solidFill>
                <a:latin typeface="Calibri"/>
                <a:ea typeface="Calibri"/>
                <a:cs typeface="Calibri"/>
              </a:defRPr>
            </a:defPPr>
          </a:lstStyle>
          <a:p xmlns:a="http://schemas.openxmlformats.org/drawingml/2006/main">
            <a:pPr algn="l">
              <a:defRPr sz="1800" b="0">
                <a:solidFill>
                  <a:srgbClr val="232323"/>
                </a:solidFill>
                <a:latin typeface="Calibri"/>
                <a:ea typeface="Calibri"/>
                <a:cs typeface="Calibri"/>
              </a:defRPr>
            </a:pPr>
            <a:r>
              <a:rPr sz="1800" b="0">
                <a:solidFill>
                  <a:srgbClr val="232323"/>
                </a:solidFill>
                <a:latin typeface="Calibri"/>
                <a:ea typeface="Calibri"/>
                <a:cs typeface="Calibri"/>
              </a:rPr>
              <a:t>The benchmark tests current-state questions, scenarios, history, saved metrics,</a:t>
            </a:r>
          </a:p>
          <a:p xmlns:a="http://schemas.openxmlformats.org/drawingml/2006/main">
            <a:pPr algn="l">
              <a:defRPr sz="1800" b="0">
                <a:solidFill>
                  <a:srgbClr val="232323"/>
                </a:solidFill>
                <a:latin typeface="Calibri"/>
                <a:ea typeface="Calibri"/>
                <a:cs typeface="Calibri"/>
              </a:defRPr>
            </a:pPr>
            <a:r>
              <a:rPr sz="1800" b="0">
                <a:solidFill>
                  <a:srgbClr val="232323"/>
                </a:solidFill>
                <a:latin typeface="Calibri"/>
                <a:ea typeface="Calibri"/>
                <a:cs typeface="Calibri"/>
              </a:rPr>
              <a:t>ambiguous or invalid inputs, and requests beyond the system’s capabilities.</a:t>
            </a:r>
          </a:p>
        </p:txBody>
      </p:sp>
    </p:spTree>
    <p:extLst>
      <p:ext uri="{BB962C8B-B14F-4D97-AF65-F5344CB8AC3E}">
        <p14:creationId xmlns:p14="http://schemas.microsoft.com/office/powerpoint/2010/main" val="210404870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196CCFF-82AE-0750-3211-D828833EE4B7}"/>
              </a:ext>
            </a:extLst>
          </p:cNvPr>
          <p:cNvSpPr>
            <a:spLocks xmlns:a="http://schemas.openxmlformats.org/drawingml/2006/main" noGrp="1"/>
          </p:cNvSpPr>
          <p:nvPr/>
        </p:nvSpPr>
        <p:spPr>
          <a:xfrm xmlns:a="http://schemas.openxmlformats.org/drawingml/2006/main">
            <a:off x="640080" y="411480"/>
            <a:ext cx="6220143"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Copilot automatic execution results</a:t>
            </a:r>
            <a:endParaRPr/>
          </a:p>
        </p:txBody>
      </p:sp>
      <p:sp>
        <p:nvSpPr>
          <p:cNvPr id="9" name="Rectangle 8">
            <a:extLst xmlns:a="http://schemas.openxmlformats.org/drawingml/2006/main">
              <a:ext uri="{FF2B5EF4-FFF2-40B4-BE49-F238E27FC236}">
                <a16:creationId xmlns:a16="http://schemas.microsoft.com/office/drawing/2014/main" id="{C4C530C1-0558-30FF-9E2E-1606BF0DDA5B}"/>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E8C922B9-7FB6-F5D1-5CB6-EFB4DF825650}"/>
              </a:ext>
            </a:extLst>
          </p:cNvPr>
          <p:cNvSpPr>
            <a:spLocks xmlns:a="http://schemas.openxmlformats.org/drawingml/2006/main" noGrp="1"/>
          </p:cNvSpPr>
          <p:nvPr/>
        </p:nvSpPr>
        <p:spPr>
          <a:xfrm xmlns:a="http://schemas.openxmlformats.org/drawingml/2006/main">
            <a:off x="11247120" y="6400800"/>
            <a:ext cx="141287"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13</a:t>
            </a:r>
          </a:p>
        </p:txBody>
      </p:sp>
      <p:sp>
        <p:nvSpPr>
          <p:cNvPr id="11" name="180">
            <a:extLst xmlns:a="http://schemas.openxmlformats.org/drawingml/2006/main">
              <a:ext uri="{FF2B5EF4-FFF2-40B4-BE49-F238E27FC236}">
                <a16:creationId xmlns:a16="http://schemas.microsoft.com/office/drawing/2014/main" id="{AE244959-62DE-40DA-AA7F-948EF5E2F1C5}"/>
              </a:ext>
            </a:extLst>
          </p:cNvPr>
          <p:cNvSpPr>
            <a:spLocks xmlns:a="http://schemas.openxmlformats.org/drawingml/2006/main" noGrp="1"/>
          </p:cNvSpPr>
          <p:nvPr/>
        </p:nvSpPr>
        <p:spPr>
          <a:xfrm xmlns:a="http://schemas.openxmlformats.org/drawingml/2006/main">
            <a:off x="914400" y="118110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F66AD"/>
                </a:solidFill>
                <a:latin typeface="Calibri"/>
                <a:ea typeface="Calibri"/>
                <a:cs typeface="Calibri"/>
              </a:defRPr>
            </a:defPPr>
          </a:lstStyle>
          <a:p xmlns:a="http://schemas.openxmlformats.org/drawingml/2006/main">
            <a:pPr algn="l">
              <a:defRPr sz="3000" b="1">
                <a:solidFill>
                  <a:srgbClr val="2F66AD"/>
                </a:solidFill>
                <a:latin typeface="Calibri"/>
                <a:ea typeface="Calibri"/>
                <a:cs typeface="Calibri"/>
              </a:defRPr>
            </a:pPr>
            <a:r>
              <a:rPr sz="3000" b="1">
                <a:solidFill>
                  <a:srgbClr val="2F66AD"/>
                </a:solidFill>
                <a:latin typeface="Calibri"/>
                <a:ea typeface="Calibri"/>
                <a:cs typeface="Calibri"/>
              </a:rPr>
              <a:t>180</a:t>
            </a:r>
          </a:p>
        </p:txBody>
      </p:sp>
      <p:sp>
        <p:nvSpPr>
          <p:cNvPr id="12" name="live task-trials">
            <a:extLst xmlns:a="http://schemas.openxmlformats.org/drawingml/2006/main">
              <a:ext uri="{FF2B5EF4-FFF2-40B4-BE49-F238E27FC236}">
                <a16:creationId xmlns:a16="http://schemas.microsoft.com/office/drawing/2014/main" id="{C26BA989-75CB-4A89-9AF7-0A1FE09B624A}"/>
              </a:ext>
            </a:extLst>
          </p:cNvPr>
          <p:cNvSpPr>
            <a:spLocks xmlns:a="http://schemas.openxmlformats.org/drawingml/2006/main" noGrp="1"/>
          </p:cNvSpPr>
          <p:nvPr/>
        </p:nvSpPr>
        <p:spPr>
          <a:xfrm xmlns:a="http://schemas.openxmlformats.org/drawingml/2006/main">
            <a:off x="914400" y="16573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4696E"/>
                </a:solidFill>
                <a:latin typeface="Calibri"/>
                <a:ea typeface="Calibri"/>
                <a:cs typeface="Calibri"/>
              </a:defRPr>
            </a:defPPr>
          </a:lstStyle>
          <a:p xmlns:a="http://schemas.openxmlformats.org/drawingml/2006/main">
            <a:pPr algn="l">
              <a:defRPr sz="1500" b="0">
                <a:solidFill>
                  <a:srgbClr val="64696E"/>
                </a:solidFill>
                <a:latin typeface="Calibri"/>
                <a:ea typeface="Calibri"/>
                <a:cs typeface="Calibri"/>
              </a:defRPr>
            </a:pPr>
            <a:r>
              <a:rPr sz="1500" b="0">
                <a:solidFill>
                  <a:srgbClr val="64696E"/>
                </a:solidFill>
                <a:latin typeface="Calibri"/>
                <a:ea typeface="Calibri"/>
                <a:cs typeface="Calibri"/>
              </a:rPr>
              <a:t>live task-trials</a:t>
            </a:r>
          </a:p>
        </p:txBody>
      </p:sp>
      <p:sp>
        <p:nvSpPr>
          <p:cNvPr id="13" name="80.56%">
            <a:extLst xmlns:a="http://schemas.openxmlformats.org/drawingml/2006/main">
              <a:ext uri="{FF2B5EF4-FFF2-40B4-BE49-F238E27FC236}">
                <a16:creationId xmlns:a16="http://schemas.microsoft.com/office/drawing/2014/main" id="{9723F9C0-B0E5-4546-A4E7-C74E0759C5B2}"/>
              </a:ext>
            </a:extLst>
          </p:cNvPr>
          <p:cNvSpPr>
            <a:spLocks xmlns:a="http://schemas.openxmlformats.org/drawingml/2006/main" noGrp="1"/>
          </p:cNvSpPr>
          <p:nvPr/>
        </p:nvSpPr>
        <p:spPr>
          <a:xfrm xmlns:a="http://schemas.openxmlformats.org/drawingml/2006/main">
            <a:off x="4505325" y="11811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F66AD"/>
                </a:solidFill>
                <a:latin typeface="Calibri"/>
                <a:ea typeface="Calibri"/>
                <a:cs typeface="Calibri"/>
              </a:defRPr>
            </a:defPPr>
          </a:lstStyle>
          <a:p xmlns:a="http://schemas.openxmlformats.org/drawingml/2006/main">
            <a:pPr algn="l">
              <a:defRPr sz="3000" b="1">
                <a:solidFill>
                  <a:srgbClr val="2F66AD"/>
                </a:solidFill>
                <a:latin typeface="Calibri"/>
                <a:ea typeface="Calibri"/>
                <a:cs typeface="Calibri"/>
              </a:defRPr>
            </a:pPr>
            <a:r>
              <a:rPr sz="3000" b="1">
                <a:solidFill>
                  <a:srgbClr val="2F66AD"/>
                </a:solidFill>
                <a:latin typeface="Calibri"/>
                <a:ea typeface="Calibri"/>
                <a:cs typeface="Calibri"/>
              </a:rPr>
              <a:t>80.56%</a:t>
            </a:r>
          </a:p>
        </p:txBody>
      </p:sp>
      <p:sp>
        <p:nvSpPr>
          <p:cNvPr id="14" name="strict check pass rate">
            <a:extLst xmlns:a="http://schemas.openxmlformats.org/drawingml/2006/main">
              <a:ext uri="{FF2B5EF4-FFF2-40B4-BE49-F238E27FC236}">
                <a16:creationId xmlns:a16="http://schemas.microsoft.com/office/drawing/2014/main" id="{694E9F78-4B51-4CAF-A982-F0A5AD1D93EB}"/>
              </a:ext>
            </a:extLst>
          </p:cNvPr>
          <p:cNvSpPr>
            <a:spLocks xmlns:a="http://schemas.openxmlformats.org/drawingml/2006/main" noGrp="1"/>
          </p:cNvSpPr>
          <p:nvPr/>
        </p:nvSpPr>
        <p:spPr>
          <a:xfrm xmlns:a="http://schemas.openxmlformats.org/drawingml/2006/main">
            <a:off x="4505325" y="16573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4696E"/>
                </a:solidFill>
                <a:latin typeface="Calibri"/>
                <a:ea typeface="Calibri"/>
                <a:cs typeface="Calibri"/>
              </a:defRPr>
            </a:defPPr>
          </a:lstStyle>
          <a:p xmlns:a="http://schemas.openxmlformats.org/drawingml/2006/main">
            <a:pPr algn="l">
              <a:defRPr sz="1500" b="0">
                <a:solidFill>
                  <a:srgbClr val="64696E"/>
                </a:solidFill>
                <a:latin typeface="Calibri"/>
                <a:ea typeface="Calibri"/>
                <a:cs typeface="Calibri"/>
              </a:defRPr>
            </a:pPr>
            <a:r>
              <a:rPr sz="1500" b="0">
                <a:solidFill>
                  <a:srgbClr val="64696E"/>
                </a:solidFill>
                <a:latin typeface="Calibri"/>
                <a:ea typeface="Calibri"/>
                <a:cs typeface="Calibri"/>
              </a:rPr>
              <a:t>strict check pass rate</a:t>
            </a:r>
          </a:p>
        </p:txBody>
      </p:sp>
      <p:sp>
        <p:nvSpPr>
          <p:cNvPr id="15" name="2.14 s">
            <a:extLst xmlns:a="http://schemas.openxmlformats.org/drawingml/2006/main">
              <a:ext uri="{FF2B5EF4-FFF2-40B4-BE49-F238E27FC236}">
                <a16:creationId xmlns:a16="http://schemas.microsoft.com/office/drawing/2014/main" id="{5B554B25-E5BE-4CC6-A72A-0423DEB56B6E}"/>
              </a:ext>
            </a:extLst>
          </p:cNvPr>
          <p:cNvSpPr>
            <a:spLocks xmlns:a="http://schemas.openxmlformats.org/drawingml/2006/main" noGrp="1"/>
          </p:cNvSpPr>
          <p:nvPr/>
        </p:nvSpPr>
        <p:spPr>
          <a:xfrm xmlns:a="http://schemas.openxmlformats.org/drawingml/2006/main">
            <a:off x="8572500" y="118110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F66AD"/>
                </a:solidFill>
                <a:latin typeface="Calibri"/>
                <a:ea typeface="Calibri"/>
                <a:cs typeface="Calibri"/>
              </a:defRPr>
            </a:defPPr>
          </a:lstStyle>
          <a:p xmlns:a="http://schemas.openxmlformats.org/drawingml/2006/main">
            <a:pPr algn="l">
              <a:defRPr sz="3000" b="1">
                <a:solidFill>
                  <a:srgbClr val="2F66AD"/>
                </a:solidFill>
                <a:latin typeface="Calibri"/>
                <a:ea typeface="Calibri"/>
                <a:cs typeface="Calibri"/>
              </a:defRPr>
            </a:pPr>
            <a:r>
              <a:rPr sz="3000" b="1">
                <a:solidFill>
                  <a:srgbClr val="2F66AD"/>
                </a:solidFill>
                <a:latin typeface="Calibri"/>
                <a:ea typeface="Calibri"/>
                <a:cs typeface="Calibri"/>
              </a:rPr>
              <a:t>2.14 s</a:t>
            </a:r>
          </a:p>
        </p:txBody>
      </p:sp>
      <p:sp>
        <p:nvSpPr>
          <p:cNvPr id="16" name="mean completed-turn response">
            <a:extLst xmlns:a="http://schemas.openxmlformats.org/drawingml/2006/main">
              <a:ext uri="{FF2B5EF4-FFF2-40B4-BE49-F238E27FC236}">
                <a16:creationId xmlns:a16="http://schemas.microsoft.com/office/drawing/2014/main" id="{5FC76A5B-7192-44C5-B7A6-7AE16B545EED}"/>
              </a:ext>
            </a:extLst>
          </p:cNvPr>
          <p:cNvSpPr>
            <a:spLocks xmlns:a="http://schemas.openxmlformats.org/drawingml/2006/main" noGrp="1"/>
          </p:cNvSpPr>
          <p:nvPr/>
        </p:nvSpPr>
        <p:spPr>
          <a:xfrm xmlns:a="http://schemas.openxmlformats.org/drawingml/2006/main">
            <a:off x="8572500" y="16573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4696E"/>
                </a:solidFill>
                <a:latin typeface="Calibri"/>
                <a:ea typeface="Calibri"/>
                <a:cs typeface="Calibri"/>
              </a:defRPr>
            </a:defPPr>
          </a:lstStyle>
          <a:p xmlns:a="http://schemas.openxmlformats.org/drawingml/2006/main">
            <a:pPr algn="l">
              <a:defRPr sz="1400" b="0">
                <a:solidFill>
                  <a:srgbClr val="64696E"/>
                </a:solidFill>
                <a:latin typeface="Calibri"/>
                <a:ea typeface="Calibri"/>
                <a:cs typeface="Calibri"/>
              </a:defRPr>
            </a:pPr>
            <a:r>
              <a:rPr sz="1400" b="0">
                <a:solidFill>
                  <a:srgbClr val="64696E"/>
                </a:solidFill>
                <a:latin typeface="Calibri"/>
                <a:ea typeface="Calibri"/>
                <a:cs typeface="Calibri"/>
              </a:rPr>
              <a:t>mean completed-turn response</a:t>
            </a:r>
          </a:p>
        </p:txBody>
      </p:sp>
      <p:graphicFrame>
        <p:nvGraphicFramePr>
          <p:cNvPr id="17" name="">
            <a:extLst xmlns:a="http://schemas.openxmlformats.org/drawingml/2006/main">
              <a:ext uri="{FF2B5EF4-FFF2-40B4-BE49-F238E27FC236}">
                <a16:creationId xmlns:a16="http://schemas.microsoft.com/office/drawing/2014/main" id="{AB25E375-87C8-4A2A-BBA4-3357075CB6C6}"/>
              </a:ext>
            </a:extLst>
          </p:cNvPr>
          <p:cNvGraphicFramePr/>
          <p:nvPr/>
        </p:nvGraphicFramePr>
        <p:xfrm>
          <a:off xmlns:a="http://schemas.openxmlformats.org/drawingml/2006/main" x="914400" y="2133600"/>
          <a:ext xmlns:a="http://schemas.openxmlformats.org/drawingml/2006/main" cx="10287000" cy="3352800"/>
        </p:xfrm>
        <a:graphic xmlns:a="http://schemas.openxmlformats.org/drawingml/2006/main">
          <a:graphicData uri="http://schemas.openxmlformats.org/drawingml/2006/table">
            <a:tbl>
              <a:tblPr firstRow="0" bandRow="0"/>
              <a:tblGrid>
                <a:gridCol w="6286500"/>
                <a:gridCol w="2190750"/>
                <a:gridCol w="1809750"/>
              </a:tblGrid>
              <a:tr h="419100">
                <a:tc>
                  <a:txBody>
                    <a:bodyPr/>
                    <a:lstStyle/>
                    <a:p>
                      <a:pPr algn="l"/>
                      <a:r>
                        <a:rPr sz="1500" b="1">
                          <a:solidFill>
                            <a:srgbClr val="FFFFFF"/>
                          </a:solidFill>
                          <a:latin typeface="Calibri"/>
                          <a:ea typeface="Calibri"/>
                          <a:cs typeface="Calibri"/>
                        </a:rPr>
                        <a:t>Test category</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Passed / trials</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Pass rate</a:t>
                      </a:r>
                    </a:p>
                  </a:txBody>
                  <a:tcPr marL="95250" marR="95250" marT="76200" marB="76200" anchor="ctr">
                    <a:solidFill>
                      <a:srgbClr val="142A4A"/>
                    </a:solidFill>
                  </a:tcPr>
                </a:tc>
              </a:tr>
              <a:tr h="419100">
                <a:tc>
                  <a:txBody>
                    <a:bodyPr/>
                    <a:lstStyle/>
                    <a:p>
                      <a:pPr algn="l"/>
                      <a:r>
                        <a:rPr sz="1500" b="0">
                          <a:solidFill>
                            <a:srgbClr val="232323"/>
                          </a:solidFill>
                          <a:latin typeface="Calibri"/>
                          <a:ea typeface="Calibri"/>
                          <a:cs typeface="Calibri"/>
                        </a:rPr>
                        <a:t>Current-state explanation</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30 / 30</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100.00%</a:t>
                      </a:r>
                    </a:p>
                  </a:txBody>
                  <a:tcPr marL="95250" marR="95250" marT="76200" marB="76200" anchor="ctr">
                    <a:solidFill>
                      <a:srgbClr val="FFFFFF"/>
                    </a:solidFill>
                  </a:tcPr>
                </a:tc>
              </a:tr>
              <a:tr h="419100">
                <a:tc>
                  <a:txBody>
                    <a:bodyPr/>
                    <a:lstStyle/>
                    <a:p>
                      <a:pPr algn="l"/>
                      <a:r>
                        <a:rPr sz="1500" b="0">
                          <a:solidFill>
                            <a:srgbClr val="232323"/>
                          </a:solidFill>
                          <a:latin typeface="Calibri"/>
                          <a:ea typeface="Calibri"/>
                          <a:cs typeface="Calibri"/>
                        </a:rPr>
                        <a:t>What-if simulation</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20 / 30</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66.67%</a:t>
                      </a:r>
                    </a:p>
                  </a:txBody>
                  <a:tcPr marL="95250" marR="95250" marT="76200" marB="76200" anchor="ctr">
                    <a:solidFill>
                      <a:srgbClr val="F2F6FA"/>
                    </a:solidFill>
                  </a:tcPr>
                </a:tc>
              </a:tr>
              <a:tr h="419100">
                <a:tc>
                  <a:txBody>
                    <a:bodyPr/>
                    <a:lstStyle/>
                    <a:p>
                      <a:pPr algn="l"/>
                      <a:r>
                        <a:rPr sz="1500" b="0">
                          <a:solidFill>
                            <a:srgbClr val="232323"/>
                          </a:solidFill>
                          <a:latin typeface="Calibri"/>
                          <a:ea typeface="Calibri"/>
                          <a:cs typeface="Calibri"/>
                        </a:rPr>
                        <a:t>History and follow-ups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28 / 30</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93.33%</a:t>
                      </a:r>
                    </a:p>
                  </a:txBody>
                  <a:tcPr marL="95250" marR="95250" marT="76200" marB="76200" anchor="ctr">
                    <a:solidFill>
                      <a:srgbClr val="FFFFFF"/>
                    </a:solidFill>
                  </a:tcPr>
                </a:tc>
              </a:tr>
              <a:tr h="419100">
                <a:tc>
                  <a:txBody>
                    <a:bodyPr/>
                    <a:lstStyle/>
                    <a:p>
                      <a:pPr algn="l"/>
                      <a:r>
                        <a:rPr sz="1500" b="0">
                          <a:solidFill>
                            <a:srgbClr val="232323"/>
                          </a:solidFill>
                          <a:latin typeface="Calibri"/>
                          <a:ea typeface="Calibri"/>
                          <a:cs typeface="Calibri"/>
                        </a:rPr>
                        <a:t>Model metric retrieval</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30 / 30</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100.00%</a:t>
                      </a:r>
                    </a:p>
                  </a:txBody>
                  <a:tcPr marL="95250" marR="95250" marT="76200" marB="76200" anchor="ctr">
                    <a:solidFill>
                      <a:srgbClr val="F2F6FA"/>
                    </a:solidFill>
                  </a:tcPr>
                </a:tc>
              </a:tr>
              <a:tr h="419100">
                <a:tc>
                  <a:txBody>
                    <a:bodyPr/>
                    <a:lstStyle/>
                    <a:p>
                      <a:pPr algn="l"/>
                      <a:r>
                        <a:rPr sz="1500" b="0">
                          <a:solidFill>
                            <a:srgbClr val="232323"/>
                          </a:solidFill>
                          <a:latin typeface="Calibri"/>
                          <a:ea typeface="Calibri"/>
                          <a:cs typeface="Calibri"/>
                        </a:rPr>
                        <a:t>Ambiguous or invalid requests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10 / 30</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33.33%</a:t>
                      </a:r>
                    </a:p>
                  </a:txBody>
                  <a:tcPr marL="95250" marR="95250" marT="76200" marB="76200" anchor="ctr">
                    <a:solidFill>
                      <a:srgbClr val="FFFFFF"/>
                    </a:solidFill>
                  </a:tcPr>
                </a:tc>
              </a:tr>
              <a:tr h="419100">
                <a:tc>
                  <a:txBody>
                    <a:bodyPr/>
                    <a:lstStyle/>
                    <a:p>
                      <a:pPr algn="l"/>
                      <a:r>
                        <a:rPr sz="1500" b="0">
                          <a:solidFill>
                            <a:srgbClr val="232323"/>
                          </a:solidFill>
                          <a:latin typeface="Calibri"/>
                          <a:ea typeface="Calibri"/>
                          <a:cs typeface="Calibri"/>
                        </a:rPr>
                        <a:t>Unsupported requests</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27 / 30</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90.00%</a:t>
                      </a:r>
                    </a:p>
                  </a:txBody>
                  <a:tcPr marL="95250" marR="95250" marT="76200" marB="76200" anchor="ctr">
                    <a:solidFill>
                      <a:srgbClr val="F2F6FA"/>
                    </a:solidFill>
                  </a:tcPr>
                </a:tc>
              </a:tr>
              <a:tr h="419100">
                <a:tc>
                  <a:txBody>
                    <a:bodyPr/>
                    <a:lstStyle/>
                    <a:p>
                      <a:pPr algn="l"/>
                      <a:r>
                        <a:rPr sz="1500" b="1">
                          <a:solidFill>
                            <a:srgbClr val="142A4A"/>
                          </a:solidFill>
                          <a:latin typeface="Calibri"/>
                          <a:ea typeface="Calibri"/>
                          <a:cs typeface="Calibri"/>
                        </a:rPr>
                        <a:t>Overall</a:t>
                      </a:r>
                    </a:p>
                  </a:txBody>
                  <a:tcPr marL="95250" marR="95250" marT="76200" marB="76200" anchor="ctr">
                    <a:solidFill>
                      <a:srgbClr val="F2F6FA"/>
                    </a:solidFill>
                  </a:tcPr>
                </a:tc>
                <a:tc>
                  <a:txBody>
                    <a:bodyPr/>
                    <a:lstStyle/>
                    <a:p>
                      <a:pPr algn="ctr"/>
                      <a:r>
                        <a:rPr sz="1500" b="1">
                          <a:solidFill>
                            <a:srgbClr val="142A4A"/>
                          </a:solidFill>
                          <a:latin typeface="Calibri"/>
                          <a:ea typeface="Calibri"/>
                          <a:cs typeface="Calibri"/>
                        </a:rPr>
                        <a:t>145 / 180</a:t>
                      </a:r>
                    </a:p>
                  </a:txBody>
                  <a:tcPr marL="95250" marR="95250" marT="76200" marB="76200" anchor="ctr">
                    <a:solidFill>
                      <a:srgbClr val="F2F6FA"/>
                    </a:solidFill>
                  </a:tcPr>
                </a:tc>
                <a:tc>
                  <a:txBody>
                    <a:bodyPr/>
                    <a:lstStyle/>
                    <a:p>
                      <a:pPr algn="ctr"/>
                      <a:r>
                        <a:rPr sz="1500" b="1">
                          <a:solidFill>
                            <a:srgbClr val="142A4A"/>
                          </a:solidFill>
                          <a:latin typeface="Calibri"/>
                          <a:ea typeface="Calibri"/>
                          <a:cs typeface="Calibri"/>
                        </a:rPr>
                        <a:t>80.56%</a:t>
                      </a:r>
                    </a:p>
                  </a:txBody>
                  <a:tcPr marL="95250" marR="95250" marT="76200" marB="76200" anchor="ctr">
                    <a:solidFill>
                      <a:srgbClr val="F2F6FA"/>
                    </a:solidFill>
                  </a:tcPr>
                </a:tc>
              </a:tr>
            </a:tbl>
          </a:graphicData>
        </a:graphic>
      </p:graphicFrame>
      <p:sp>
        <p:nvSpPr>
          <p:cNvPr id="18" name="Strict checks cover execution requirements. Overal">
            <a:extLst xmlns:a="http://schemas.openxmlformats.org/drawingml/2006/main">
              <a:ext uri="{FF2B5EF4-FFF2-40B4-BE49-F238E27FC236}">
                <a16:creationId xmlns:a16="http://schemas.microsoft.com/office/drawing/2014/main" id="{6C43643A-0EA1-4208-877E-D221E83264C9}"/>
              </a:ext>
            </a:extLst>
          </p:cNvPr>
          <p:cNvSpPr>
            <a:spLocks xmlns:a="http://schemas.openxmlformats.org/drawingml/2006/main" noGrp="1"/>
          </p:cNvSpPr>
          <p:nvPr/>
        </p:nvSpPr>
        <p:spPr>
          <a:xfrm xmlns:a="http://schemas.openxmlformats.org/drawingml/2006/main">
            <a:off x="914400" y="5734050"/>
            <a:ext cx="1038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4696E"/>
                </a:solidFill>
                <a:latin typeface="Calibri"/>
                <a:ea typeface="Calibri"/>
                <a:cs typeface="Calibri"/>
              </a:defRPr>
            </a:defPPr>
          </a:lstStyle>
          <a:p xmlns:a="http://schemas.openxmlformats.org/drawingml/2006/main">
            <a:pPr algn="l">
              <a:defRPr sz="1400" b="0">
                <a:solidFill>
                  <a:srgbClr val="64696E"/>
                </a:solidFill>
                <a:latin typeface="Calibri"/>
                <a:ea typeface="Calibri"/>
                <a:cs typeface="Calibri"/>
              </a:defRPr>
            </a:pPr>
            <a:r>
              <a:rPr sz="1400" b="0">
                <a:solidFill>
                  <a:srgbClr val="64696E"/>
                </a:solidFill>
                <a:latin typeface="Calibri"/>
                <a:ea typeface="Calibri"/>
                <a:cs typeface="Calibri"/>
              </a:rPr>
              <a:t>Strict checks cover execution requirements. Overall answer quality awaits independent review.</a:t>
            </a:r>
          </a:p>
          <a:p xmlns:a="http://schemas.openxmlformats.org/drawingml/2006/main">
            <a:pPr algn="l">
              <a:defRPr sz="1400" b="0">
                <a:solidFill>
                  <a:srgbClr val="64696E"/>
                </a:solidFill>
                <a:latin typeface="Calibri"/>
                <a:ea typeface="Calibri"/>
                <a:cs typeface="Calibri"/>
              </a:defRPr>
            </a:pPr>
            <a:r>
              <a:rPr sz="1400" b="0">
                <a:solidFill>
                  <a:srgbClr val="64696E"/>
                </a:solidFill>
                <a:latin typeface="Calibri"/>
                <a:ea typeface="Calibri"/>
                <a:cs typeface="Calibri"/>
              </a:rPr>
              <a:t>All 30 what-if outputs matched the reference. Ten strict flags repeated unchanged inputs.</a:t>
            </a:r>
          </a:p>
        </p:txBody>
      </p:sp>
    </p:spTree>
    <p:extLst>
      <p:ext uri="{BB962C8B-B14F-4D97-AF65-F5344CB8AC3E}">
        <p14:creationId xmlns:p14="http://schemas.microsoft.com/office/powerpoint/2010/main" val="336852296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1429351-CA31-48BA-946C-08DA052037E8}"/>
              </a:ext>
            </a:extLst>
          </p:cNvPr>
          <p:cNvSpPr>
            <a:spLocks xmlns:a="http://schemas.openxmlformats.org/drawingml/2006/main" noGrp="1"/>
          </p:cNvSpPr>
          <p:nvPr/>
        </p:nvSpPr>
        <p:spPr>
          <a:xfrm xmlns:a="http://schemas.openxmlformats.org/drawingml/2006/main">
            <a:off x="640080" y="411480"/>
            <a:ext cx="5553392"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Example test: replacing the tool</a:t>
            </a:r>
          </a:p>
        </p:txBody>
      </p:sp>
      <p:sp>
        <p:nvSpPr>
          <p:cNvPr id="3" name="Rounded Rectangle 2">
            <a:extLst xmlns:a="http://schemas.openxmlformats.org/drawingml/2006/main">
              <a:ext uri="{FF2B5EF4-FFF2-40B4-BE49-F238E27FC236}">
                <a16:creationId xmlns:a16="http://schemas.microsoft.com/office/drawing/2014/main" id="{912FE116-D9BA-45D9-BB02-C812BB63E51E}"/>
              </a:ext>
            </a:extLst>
          </p:cNvPr>
          <p:cNvSpPr>
            <a:spLocks xmlns:a="http://schemas.openxmlformats.org/drawingml/2006/main" noGrp="1"/>
          </p:cNvSpPr>
          <p:nvPr/>
        </p:nvSpPr>
        <p:spPr>
          <a:xfrm xmlns:a="http://schemas.openxmlformats.org/drawingml/2006/main">
            <a:off x="731520" y="1714500"/>
            <a:ext cx="5120640" cy="371475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ounded Rectangle 5">
            <a:extLst xmlns:a="http://schemas.openxmlformats.org/drawingml/2006/main">
              <a:ext uri="{FF2B5EF4-FFF2-40B4-BE49-F238E27FC236}">
                <a16:creationId xmlns:a16="http://schemas.microsoft.com/office/drawing/2014/main" id="{7400F4C7-F36D-4588-841E-E2A55C196436}"/>
              </a:ext>
            </a:extLst>
          </p:cNvPr>
          <p:cNvSpPr>
            <a:spLocks xmlns:a="http://schemas.openxmlformats.org/drawingml/2006/main" noGrp="1"/>
          </p:cNvSpPr>
          <p:nvPr/>
        </p:nvSpPr>
        <p:spPr>
          <a:xfrm xmlns:a="http://schemas.openxmlformats.org/drawingml/2006/main">
            <a:off x="6309360" y="1714500"/>
            <a:ext cx="5120640" cy="371475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E0F1EB1C-9F39-438F-A8BB-7F5B18843C32}"/>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D6411640-4599-4A6A-B267-CC3AFDD26E11}"/>
              </a:ext>
            </a:extLst>
          </p:cNvPr>
          <p:cNvSpPr>
            <a:spLocks xmlns:a="http://schemas.openxmlformats.org/drawingml/2006/main" noGrp="1"/>
          </p:cNvSpPr>
          <p:nvPr/>
        </p:nvSpPr>
        <p:spPr>
          <a:xfrm xmlns:a="http://schemas.openxmlformats.org/drawingml/2006/main">
            <a:off x="11247120" y="6400800"/>
            <a:ext cx="141287"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14</a:t>
            </a:r>
          </a:p>
        </p:txBody>
      </p:sp>
      <p:sp>
        <p:nvSpPr>
          <p:cNvPr id="11" name="“What if I replace the tool? Compare baseline and ">
            <a:extLst xmlns:a="http://schemas.openxmlformats.org/drawingml/2006/main">
              <a:ext uri="{FF2B5EF4-FFF2-40B4-BE49-F238E27FC236}">
                <a16:creationId xmlns:a16="http://schemas.microsoft.com/office/drawing/2014/main" id="{7D32AC00-D9F8-4E23-BEF4-AE1CCF2231F6}"/>
              </a:ext>
            </a:extLst>
          </p:cNvPr>
          <p:cNvSpPr>
            <a:spLocks xmlns:a="http://schemas.openxmlformats.org/drawingml/2006/main" noGrp="1"/>
          </p:cNvSpPr>
          <p:nvPr/>
        </p:nvSpPr>
        <p:spPr>
          <a:xfrm xmlns:a="http://schemas.openxmlformats.org/drawingml/2006/main">
            <a:off x="914400" y="11620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A4A"/>
                </a:solidFill>
                <a:latin typeface="Calibri"/>
                <a:ea typeface="Calibri"/>
                <a:cs typeface="Calibri"/>
              </a:defRPr>
            </a:defPPr>
          </a:lstStyle>
          <a:p xmlns:a="http://schemas.openxmlformats.org/drawingml/2006/main">
            <a:pPr algn="l">
              <a:defRPr sz="1800" b="0">
                <a:solidFill>
                  <a:srgbClr val="142A4A"/>
                </a:solidFill>
                <a:latin typeface="Calibri"/>
                <a:ea typeface="Calibri"/>
                <a:cs typeface="Calibri"/>
              </a:defRPr>
            </a:pPr>
            <a:r>
              <a:rPr sz="1800" b="0">
                <a:solidFill>
                  <a:srgbClr val="142A4A"/>
                </a:solidFill>
                <a:latin typeface="Calibri"/>
                <a:ea typeface="Calibri"/>
                <a:cs typeface="Calibri"/>
              </a:rPr>
              <a:t>“What if I replace the tool? Compare baseline and scenario risk.”</a:t>
            </a:r>
          </a:p>
        </p:txBody>
      </p:sp>
      <p:sp>
        <p:nvSpPr>
          <p:cNvPr id="12" name="Reference and observed result">
            <a:extLst xmlns:a="http://schemas.openxmlformats.org/drawingml/2006/main">
              <a:ext uri="{FF2B5EF4-FFF2-40B4-BE49-F238E27FC236}">
                <a16:creationId xmlns:a16="http://schemas.microsoft.com/office/drawing/2014/main" id="{E50E969F-E757-4FA0-A261-0FB215C32530}"/>
              </a:ext>
            </a:extLst>
          </p:cNvPr>
          <p:cNvSpPr>
            <a:spLocks xmlns:a="http://schemas.openxmlformats.org/drawingml/2006/main" noGrp="1"/>
          </p:cNvSpPr>
          <p:nvPr/>
        </p:nvSpPr>
        <p:spPr>
          <a:xfrm xmlns:a="http://schemas.openxmlformats.org/drawingml/2006/main">
            <a:off x="914400" y="1943100"/>
            <a:ext cx="4752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142A4A"/>
                </a:solidFill>
                <a:latin typeface="Calibri"/>
                <a:ea typeface="Calibri"/>
                <a:cs typeface="Calibri"/>
              </a:defRPr>
            </a:defPPr>
          </a:lstStyle>
          <a:p xmlns:a="http://schemas.openxmlformats.org/drawingml/2006/main">
            <a:pPr algn="l">
              <a:defRPr sz="1900" b="1">
                <a:solidFill>
                  <a:srgbClr val="142A4A"/>
                </a:solidFill>
                <a:latin typeface="Calibri"/>
                <a:ea typeface="Calibri"/>
                <a:cs typeface="Calibri"/>
              </a:defRPr>
            </a:pPr>
            <a:r>
              <a:rPr sz="1900" b="1">
                <a:solidFill>
                  <a:srgbClr val="142A4A"/>
                </a:solidFill>
                <a:latin typeface="Calibri"/>
                <a:ea typeface="Calibri"/>
                <a:cs typeface="Calibri"/>
              </a:rPr>
              <a:t>Reference and observed result</a:t>
            </a:r>
          </a:p>
        </p:txBody>
      </p:sp>
      <p:graphicFrame>
        <p:nvGraphicFramePr>
          <p:cNvPr id="13" name="">
            <a:extLst xmlns:a="http://schemas.openxmlformats.org/drawingml/2006/main">
              <a:ext uri="{FF2B5EF4-FFF2-40B4-BE49-F238E27FC236}">
                <a16:creationId xmlns:a16="http://schemas.microsoft.com/office/drawing/2014/main" id="{44568020-D04C-47B6-A359-337E544E66C6}"/>
              </a:ext>
            </a:extLst>
          </p:cNvPr>
          <p:cNvGraphicFramePr/>
          <p:nvPr/>
        </p:nvGraphicFramePr>
        <p:xfrm>
          <a:off xmlns:a="http://schemas.openxmlformats.org/drawingml/2006/main" x="914400" y="2543175"/>
          <a:ext xmlns:a="http://schemas.openxmlformats.org/drawingml/2006/main" cx="4752975" cy="1828800"/>
        </p:xfrm>
        <a:graphic xmlns:a="http://schemas.openxmlformats.org/drawingml/2006/main">
          <a:graphicData uri="http://schemas.openxmlformats.org/drawingml/2006/table">
            <a:tbl>
              <a:tblPr firstRow="0" bandRow="0"/>
              <a:tblGrid>
                <a:gridCol w="2428875"/>
                <a:gridCol w="1162050"/>
                <a:gridCol w="1162050"/>
              </a:tblGrid>
              <a:tr h="457200">
                <a:tc>
                  <a:txBody>
                    <a:bodyPr/>
                    <a:lstStyle/>
                    <a:p>
                      <a:pPr algn="l"/>
                      <a:r>
                        <a:rPr sz="1500" b="1">
                          <a:solidFill>
                            <a:srgbClr val="FFFFFF"/>
                          </a:solidFill>
                          <a:latin typeface="Calibri"/>
                          <a:ea typeface="Calibri"/>
                          <a:cs typeface="Calibri"/>
                        </a:rPr>
                        <a:t>Measurement</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Baseline</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Scenario</a:t>
                      </a:r>
                    </a:p>
                  </a:txBody>
                  <a:tcPr marL="95250" marR="95250" marT="76200" marB="76200" anchor="ctr">
                    <a:solidFill>
                      <a:srgbClr val="142A4A"/>
                    </a:solidFill>
                  </a:tcPr>
                </a:tc>
              </a:tr>
              <a:tr h="457200">
                <a:tc>
                  <a:txBody>
                    <a:bodyPr/>
                    <a:lstStyle/>
                    <a:p>
                      <a:pPr algn="l"/>
                      <a:r>
                        <a:rPr sz="1500" b="0">
                          <a:solidFill>
                            <a:srgbClr val="232323"/>
                          </a:solidFill>
                          <a:latin typeface="Calibri"/>
                          <a:ea typeface="Calibri"/>
                          <a:cs typeface="Calibri"/>
                        </a:rPr>
                        <a:t>Tool wear (min)</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154</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0</a:t>
                      </a:r>
                    </a:p>
                  </a:txBody>
                  <a:tcPr marL="95250" marR="95250" marT="76200" marB="76200" anchor="ctr">
                    <a:solidFill>
                      <a:srgbClr val="FFFFFF"/>
                    </a:solidFill>
                  </a:tcPr>
                </a:tc>
              </a:tr>
              <a:tr h="457200">
                <a:tc>
                  <a:txBody>
                    <a:bodyPr/>
                    <a:lstStyle/>
                    <a:p>
                      <a:pPr algn="l"/>
                      <a:r>
                        <a:rPr sz="1500" b="0">
                          <a:solidFill>
                            <a:srgbClr val="232323"/>
                          </a:solidFill>
                          <a:latin typeface="Calibri"/>
                          <a:ea typeface="Calibri"/>
                          <a:cs typeface="Calibri"/>
                        </a:rPr>
                        <a:t>Risk score / 100</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98.33</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80.33</a:t>
                      </a:r>
                    </a:p>
                  </a:txBody>
                  <a:tcPr marL="95250" marR="95250" marT="76200" marB="76200" anchor="ctr">
                    <a:solidFill>
                      <a:srgbClr val="F2F6FA"/>
                    </a:solidFill>
                  </a:tcPr>
                </a:tc>
              </a:tr>
              <a:tr h="457200">
                <a:tc>
                  <a:txBody>
                    <a:bodyPr/>
                    <a:lstStyle/>
                    <a:p>
                      <a:pPr algn="l"/>
                      <a:r>
                        <a:rPr sz="1500" b="0">
                          <a:solidFill>
                            <a:srgbClr val="232323"/>
                          </a:solidFill>
                          <a:latin typeface="Calibri"/>
                          <a:ea typeface="Calibri"/>
                          <a:cs typeface="Calibri"/>
                        </a:rPr>
                        <a:t>Classification</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Failure</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Failure</a:t>
                      </a:r>
                    </a:p>
                  </a:txBody>
                  <a:tcPr marL="95250" marR="95250" marT="76200" marB="76200" anchor="ctr">
                    <a:solidFill>
                      <a:srgbClr val="FFFFFF"/>
                    </a:solidFill>
                  </a:tcPr>
                </a:tc>
              </a:tr>
            </a:tbl>
          </a:graphicData>
        </a:graphic>
      </p:graphicFrame>
      <p:sp>
        <p:nvSpPr>
          <p:cNvPr id="14" name="Score change: −18.00 points">
            <a:extLst xmlns:a="http://schemas.openxmlformats.org/drawingml/2006/main">
              <a:ext uri="{FF2B5EF4-FFF2-40B4-BE49-F238E27FC236}">
                <a16:creationId xmlns:a16="http://schemas.microsoft.com/office/drawing/2014/main" id="{12FA564E-EB1D-443E-9111-5DD779B208B1}"/>
              </a:ext>
            </a:extLst>
          </p:cNvPr>
          <p:cNvSpPr>
            <a:spLocks xmlns:a="http://schemas.openxmlformats.org/drawingml/2006/main" noGrp="1"/>
          </p:cNvSpPr>
          <p:nvPr/>
        </p:nvSpPr>
        <p:spPr>
          <a:xfrm xmlns:a="http://schemas.openxmlformats.org/drawingml/2006/main">
            <a:off x="1066800" y="471487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F66AD"/>
                </a:solidFill>
                <a:latin typeface="Calibri"/>
                <a:ea typeface="Calibri"/>
                <a:cs typeface="Calibri"/>
              </a:defRPr>
            </a:defPPr>
          </a:lstStyle>
          <a:p xmlns:a="http://schemas.openxmlformats.org/drawingml/2006/main">
            <a:pPr algn="l">
              <a:defRPr sz="2000" b="1">
                <a:solidFill>
                  <a:srgbClr val="2F66AD"/>
                </a:solidFill>
                <a:latin typeface="Calibri"/>
                <a:ea typeface="Calibri"/>
                <a:cs typeface="Calibri"/>
              </a:defRPr>
            </a:pPr>
            <a:r>
              <a:rPr sz="2000" b="1">
                <a:solidFill>
                  <a:srgbClr val="2F66AD"/>
                </a:solidFill>
                <a:latin typeface="Calibri"/>
                <a:ea typeface="Calibri"/>
                <a:cs typeface="Calibri"/>
              </a:rPr>
              <a:t>Score change: −18.00 points</a:t>
            </a:r>
          </a:p>
        </p:txBody>
      </p:sp>
      <p:sp>
        <p:nvSpPr>
          <p:cNvPr id="15" name="Three live trials">
            <a:extLst xmlns:a="http://schemas.openxmlformats.org/drawingml/2006/main">
              <a:ext uri="{FF2B5EF4-FFF2-40B4-BE49-F238E27FC236}">
                <a16:creationId xmlns:a16="http://schemas.microsoft.com/office/drawing/2014/main" id="{30144319-1216-4D2E-A9FF-E6C6FE01156D}"/>
              </a:ext>
            </a:extLst>
          </p:cNvPr>
          <p:cNvSpPr>
            <a:spLocks xmlns:a="http://schemas.openxmlformats.org/drawingml/2006/main" noGrp="1"/>
          </p:cNvSpPr>
          <p:nvPr/>
        </p:nvSpPr>
        <p:spPr>
          <a:xfrm xmlns:a="http://schemas.openxmlformats.org/drawingml/2006/main">
            <a:off x="6496050" y="1943100"/>
            <a:ext cx="4752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142A4A"/>
                </a:solidFill>
                <a:latin typeface="Calibri"/>
                <a:ea typeface="Calibri"/>
                <a:cs typeface="Calibri"/>
              </a:defRPr>
            </a:defPPr>
          </a:lstStyle>
          <a:p xmlns:a="http://schemas.openxmlformats.org/drawingml/2006/main">
            <a:pPr algn="l">
              <a:defRPr sz="1900" b="1">
                <a:solidFill>
                  <a:srgbClr val="142A4A"/>
                </a:solidFill>
                <a:latin typeface="Calibri"/>
                <a:ea typeface="Calibri"/>
                <a:cs typeface="Calibri"/>
              </a:defRPr>
            </a:pPr>
            <a:r>
              <a:rPr sz="1900" b="1">
                <a:solidFill>
                  <a:srgbClr val="142A4A"/>
                </a:solidFill>
                <a:latin typeface="Calibri"/>
                <a:ea typeface="Calibri"/>
                <a:cs typeface="Calibri"/>
              </a:rPr>
              <a:t>Three live trials</a:t>
            </a:r>
          </a:p>
        </p:txBody>
      </p:sp>
      <p:graphicFrame>
        <p:nvGraphicFramePr>
          <p:cNvPr id="16" name="">
            <a:extLst xmlns:a="http://schemas.openxmlformats.org/drawingml/2006/main">
              <a:ext uri="{FF2B5EF4-FFF2-40B4-BE49-F238E27FC236}">
                <a16:creationId xmlns:a16="http://schemas.microsoft.com/office/drawing/2014/main" id="{1B75C1EB-EC96-4962-BF68-AD7AF2721E5C}"/>
              </a:ext>
            </a:extLst>
          </p:cNvPr>
          <p:cNvGraphicFramePr/>
          <p:nvPr/>
        </p:nvGraphicFramePr>
        <p:xfrm>
          <a:off xmlns:a="http://schemas.openxmlformats.org/drawingml/2006/main" x="6496050" y="2543175"/>
          <a:ext xmlns:a="http://schemas.openxmlformats.org/drawingml/2006/main" cx="4752975" cy="1828800"/>
        </p:xfrm>
        <a:graphic xmlns:a="http://schemas.openxmlformats.org/drawingml/2006/main">
          <a:graphicData uri="http://schemas.openxmlformats.org/drawingml/2006/table">
            <a:tbl>
              <a:tblPr firstRow="0" bandRow="0"/>
              <a:tblGrid>
                <a:gridCol w="1143000"/>
                <a:gridCol w="1809750"/>
                <a:gridCol w="1800225"/>
              </a:tblGrid>
              <a:tr h="457200">
                <a:tc>
                  <a:txBody>
                    <a:bodyPr/>
                    <a:lstStyle/>
                    <a:p>
                      <a:pPr algn="l"/>
                      <a:r>
                        <a:rPr sz="1500" b="1">
                          <a:solidFill>
                            <a:srgbClr val="FFFFFF"/>
                          </a:solidFill>
                          <a:latin typeface="Calibri"/>
                          <a:ea typeface="Calibri"/>
                          <a:cs typeface="Calibri"/>
                        </a:rPr>
                        <a:t>Trial</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Strict checks</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Response</a:t>
                      </a:r>
                    </a:p>
                  </a:txBody>
                  <a:tcPr marL="95250" marR="95250" marT="76200" marB="76200" anchor="ctr">
                    <a:solidFill>
                      <a:srgbClr val="142A4A"/>
                    </a:solidFill>
                  </a:tcPr>
                </a:tc>
              </a:tr>
              <a:tr h="457200">
                <a:tc>
                  <a:txBody>
                    <a:bodyPr/>
                    <a:lstStyle/>
                    <a:p>
                      <a:pPr algn="l"/>
                      <a:r>
                        <a:rPr sz="1500" b="0">
                          <a:solidFill>
                            <a:srgbClr val="232323"/>
                          </a:solidFill>
                          <a:latin typeface="Calibri"/>
                          <a:ea typeface="Calibri"/>
                          <a:cs typeface="Calibri"/>
                        </a:rPr>
                        <a:t>1</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Pass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3.07 s</a:t>
                      </a:r>
                    </a:p>
                  </a:txBody>
                  <a:tcPr marL="95250" marR="95250" marT="76200" marB="76200" anchor="ctr">
                    <a:solidFill>
                      <a:srgbClr val="FFFFFF"/>
                    </a:solidFill>
                  </a:tcPr>
                </a:tc>
              </a:tr>
              <a:tr h="457200">
                <a:tc>
                  <a:txBody>
                    <a:bodyPr/>
                    <a:lstStyle/>
                    <a:p>
                      <a:pPr algn="l"/>
                      <a:r>
                        <a:rPr sz="1500" b="0">
                          <a:solidFill>
                            <a:srgbClr val="232323"/>
                          </a:solidFill>
                          <a:latin typeface="Calibri"/>
                          <a:ea typeface="Calibri"/>
                          <a:cs typeface="Calibri"/>
                        </a:rPr>
                        <a:t>2</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Pass</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2.93 s</a:t>
                      </a:r>
                    </a:p>
                  </a:txBody>
                  <a:tcPr marL="95250" marR="95250" marT="76200" marB="76200" anchor="ctr">
                    <a:solidFill>
                      <a:srgbClr val="F2F6FA"/>
                    </a:solidFill>
                  </a:tcPr>
                </a:tc>
              </a:tr>
              <a:tr h="457200">
                <a:tc>
                  <a:txBody>
                    <a:bodyPr/>
                    <a:lstStyle/>
                    <a:p>
                      <a:pPr algn="l"/>
                      <a:r>
                        <a:rPr sz="1500" b="0">
                          <a:solidFill>
                            <a:srgbClr val="232323"/>
                          </a:solidFill>
                          <a:latin typeface="Calibri"/>
                          <a:ea typeface="Calibri"/>
                          <a:cs typeface="Calibri"/>
                        </a:rPr>
                        <a:t>3</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Pass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2.64 s</a:t>
                      </a:r>
                    </a:p>
                  </a:txBody>
                  <a:tcPr marL="95250" marR="95250" marT="76200" marB="76200" anchor="ctr">
                    <a:solidFill>
                      <a:srgbClr val="FFFFFF"/>
                    </a:solidFill>
                  </a:tcPr>
                </a:tc>
              </a:tr>
            </a:tbl>
          </a:graphicData>
        </a:graphic>
      </p:graphicFrame>
      <p:sp>
        <p:nvSpPr>
          <p:cNvPr id="17" name="simulate_scenario(tool_wear_min=0)&#10;All other input">
            <a:extLst xmlns:a="http://schemas.openxmlformats.org/drawingml/2006/main">
              <a:ext uri="{FF2B5EF4-FFF2-40B4-BE49-F238E27FC236}">
                <a16:creationId xmlns:a16="http://schemas.microsoft.com/office/drawing/2014/main" id="{A3BC859B-C867-4855-B475-166BBBB0FC51}"/>
              </a:ext>
            </a:extLst>
          </p:cNvPr>
          <p:cNvSpPr>
            <a:spLocks xmlns:a="http://schemas.openxmlformats.org/drawingml/2006/main" noGrp="1"/>
          </p:cNvSpPr>
          <p:nvPr/>
        </p:nvSpPr>
        <p:spPr>
          <a:xfrm xmlns:a="http://schemas.openxmlformats.org/drawingml/2006/main">
            <a:off x="6619875" y="4667250"/>
            <a:ext cx="452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32323"/>
                </a:solidFill>
                <a:latin typeface="Calibri"/>
                <a:ea typeface="Calibri"/>
                <a:cs typeface="Calibri"/>
              </a:defRPr>
            </a:defPPr>
          </a:lstStyle>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simulate_scenario(tool_wear_min=0)</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All other inputs and the baseline stay fixed.</a:t>
            </a:r>
          </a:p>
        </p:txBody>
      </p:sp>
      <p:sp>
        <p:nvSpPr>
          <p:cNvPr id="18" name="Case EVAL-what_if-01. All six automatic checks pas">
            <a:extLst xmlns:a="http://schemas.openxmlformats.org/drawingml/2006/main">
              <a:ext uri="{FF2B5EF4-FFF2-40B4-BE49-F238E27FC236}">
                <a16:creationId xmlns:a16="http://schemas.microsoft.com/office/drawing/2014/main" id="{C14B431F-08AF-4B21-9917-3121DD7ED371}"/>
              </a:ext>
            </a:extLst>
          </p:cNvPr>
          <p:cNvSpPr>
            <a:spLocks xmlns:a="http://schemas.openxmlformats.org/drawingml/2006/main" noGrp="1"/>
          </p:cNvSpPr>
          <p:nvPr/>
        </p:nvSpPr>
        <p:spPr>
          <a:xfrm xmlns:a="http://schemas.openxmlformats.org/drawingml/2006/main">
            <a:off x="914400" y="58293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42A4A"/>
                </a:solidFill>
                <a:latin typeface="Calibri"/>
                <a:ea typeface="Calibri"/>
                <a:cs typeface="Calibri"/>
              </a:defRPr>
            </a:defPPr>
          </a:lstStyle>
          <a:p xmlns:a="http://schemas.openxmlformats.org/drawingml/2006/main">
            <a:pPr algn="l">
              <a:defRPr sz="1500" b="1">
                <a:solidFill>
                  <a:srgbClr val="142A4A"/>
                </a:solidFill>
                <a:latin typeface="Calibri"/>
                <a:ea typeface="Calibri"/>
                <a:cs typeface="Calibri"/>
              </a:defRPr>
            </a:pPr>
            <a:r>
              <a:rPr sz="1500" b="1">
                <a:solidFill>
                  <a:srgbClr val="142A4A"/>
                </a:solidFill>
                <a:latin typeface="Calibri"/>
                <a:ea typeface="Calibri"/>
                <a:cs typeface="Calibri"/>
              </a:rPr>
              <a:t>Case EVAL-what_if-01. All six automatic checks passed in each trial.</a:t>
            </a:r>
          </a:p>
        </p:txBody>
      </p:sp>
    </p:spTree>
    <p:extLst>
      <p:ext uri="{BB962C8B-B14F-4D97-AF65-F5344CB8AC3E}">
        <p14:creationId xmlns:p14="http://schemas.microsoft.com/office/powerpoint/2010/main" val="42063983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196CCFF-82AE-0750-3211-D828833EE4B7}"/>
              </a:ext>
            </a:extLst>
          </p:cNvPr>
          <p:cNvSpPr>
            <a:spLocks xmlns:a="http://schemas.openxmlformats.org/drawingml/2006/main" noGrp="1"/>
          </p:cNvSpPr>
          <p:nvPr/>
        </p:nvSpPr>
        <p:spPr>
          <a:xfrm xmlns:a="http://schemas.openxmlformats.org/drawingml/2006/main">
            <a:off x="640080" y="411480"/>
            <a:ext cx="5139055"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What the flagged trials reveal</a:t>
            </a:r>
            <a:endParaRPr/>
          </a:p>
        </p:txBody>
      </p:sp>
      <p:sp>
        <p:nvSpPr>
          <p:cNvPr id="9" name="Rectangle 8">
            <a:extLst xmlns:a="http://schemas.openxmlformats.org/drawingml/2006/main">
              <a:ext uri="{FF2B5EF4-FFF2-40B4-BE49-F238E27FC236}">
                <a16:creationId xmlns:a16="http://schemas.microsoft.com/office/drawing/2014/main" id="{C4C530C1-0558-30FF-9E2E-1606BF0DDA5B}"/>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E8C922B9-7FB6-F5D1-5CB6-EFB4DF825650}"/>
              </a:ext>
            </a:extLst>
          </p:cNvPr>
          <p:cNvSpPr>
            <a:spLocks xmlns:a="http://schemas.openxmlformats.org/drawingml/2006/main" noGrp="1"/>
          </p:cNvSpPr>
          <p:nvPr/>
        </p:nvSpPr>
        <p:spPr>
          <a:xfrm xmlns:a="http://schemas.openxmlformats.org/drawingml/2006/main">
            <a:off x="11247120" y="6400800"/>
            <a:ext cx="141287"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15</a:t>
            </a:r>
          </a:p>
        </p:txBody>
      </p:sp>
      <p:graphicFrame>
        <p:nvGraphicFramePr>
          <p:cNvPr id="11" name="">
            <a:extLst xmlns:a="http://schemas.openxmlformats.org/drawingml/2006/main">
              <a:ext uri="{FF2B5EF4-FFF2-40B4-BE49-F238E27FC236}">
                <a16:creationId xmlns:a16="http://schemas.microsoft.com/office/drawing/2014/main" id="{DD4E5E2A-87A5-45B0-8428-0EEF94DCDE48}"/>
              </a:ext>
            </a:extLst>
          </p:cNvPr>
          <p:cNvGraphicFramePr/>
          <p:nvPr/>
        </p:nvGraphicFramePr>
        <p:xfrm>
          <a:off xmlns:a="http://schemas.openxmlformats.org/drawingml/2006/main" x="914400" y="1476375"/>
          <a:ext xmlns:a="http://schemas.openxmlformats.org/drawingml/2006/main" cx="10287000" cy="3295650"/>
        </p:xfrm>
        <a:graphic xmlns:a="http://schemas.openxmlformats.org/drawingml/2006/main">
          <a:graphicData uri="http://schemas.openxmlformats.org/drawingml/2006/table">
            <a:tbl>
              <a:tblPr firstRow="0" bandRow="0"/>
              <a:tblGrid>
                <a:gridCol w="3286125"/>
                <a:gridCol w="1000125"/>
                <a:gridCol w="6000750"/>
              </a:tblGrid>
              <a:tr h="659130">
                <a:tc>
                  <a:txBody>
                    <a:bodyPr/>
                    <a:lstStyle/>
                    <a:p>
                      <a:pPr algn="l"/>
                      <a:r>
                        <a:rPr sz="1500" b="1">
                          <a:solidFill>
                            <a:srgbClr val="FFFFFF"/>
                          </a:solidFill>
                          <a:latin typeface="Calibri"/>
                          <a:ea typeface="Calibri"/>
                          <a:cs typeface="Calibri"/>
                        </a:rPr>
                        <a:t>Flag pattern</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Trials</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Recorded behavior</a:t>
                      </a:r>
                    </a:p>
                  </a:txBody>
                  <a:tcPr marL="95250" marR="95250" marT="76200" marB="76200" anchor="ctr">
                    <a:solidFill>
                      <a:srgbClr val="142A4A"/>
                    </a:solidFill>
                  </a:tcPr>
                </a:tc>
              </a:tr>
              <a:tr h="659130">
                <a:tc>
                  <a:txBody>
                    <a:bodyPr/>
                    <a:lstStyle/>
                    <a:p>
                      <a:pPr algn="l"/>
                      <a:r>
                        <a:rPr sz="1500" b="0">
                          <a:solidFill>
                            <a:srgbClr val="232323"/>
                          </a:solidFill>
                          <a:latin typeface="Calibri"/>
                          <a:ea typeface="Calibri"/>
                          <a:cs typeface="Calibri"/>
                        </a:rPr>
                        <a:t>Repeated unchanged inputs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10</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Correct scenario outputs, extra baseline fields</a:t>
                      </a:r>
                    </a:p>
                  </a:txBody>
                  <a:tcPr marL="95250" marR="95250" marT="76200" marB="76200" anchor="ctr">
                    <a:solidFill>
                      <a:srgbClr val="FFFFFF"/>
                    </a:solidFill>
                  </a:tcPr>
                </a:tc>
              </a:tr>
              <a:tr h="659130">
                <a:tc>
                  <a:txBody>
                    <a:bodyPr/>
                    <a:lstStyle/>
                    <a:p>
                      <a:pPr algn="l"/>
                      <a:r>
                        <a:rPr sz="1500" b="0">
                          <a:solidFill>
                            <a:srgbClr val="232323"/>
                          </a:solidFill>
                          <a:latin typeface="Calibri"/>
                          <a:ea typeface="Calibri"/>
                          <a:cs typeface="Calibri"/>
                        </a:rPr>
                        <a:t>History tool omitted</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2</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Answered without the required history retrieval</a:t>
                      </a:r>
                    </a:p>
                  </a:txBody>
                  <a:tcPr marL="95250" marR="95250" marT="76200" marB="76200" anchor="ctr">
                    <a:solidFill>
                      <a:srgbClr val="F2F6FA"/>
                    </a:solidFill>
                  </a:tcPr>
                </a:tc>
              </a:tr>
              <a:tr h="659130">
                <a:tc>
                  <a:txBody>
                    <a:bodyPr/>
                    <a:lstStyle/>
                    <a:p>
                      <a:pPr algn="l"/>
                      <a:r>
                        <a:rPr sz="1500" b="0">
                          <a:solidFill>
                            <a:srgbClr val="232323"/>
                          </a:solidFill>
                          <a:latin typeface="Calibri"/>
                          <a:ea typeface="Calibri"/>
                          <a:cs typeface="Calibri"/>
                        </a:rPr>
                        <a:t>Ambiguous or invalid inputs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20</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Ran scenarios instead of asking for clarification</a:t>
                      </a:r>
                    </a:p>
                  </a:txBody>
                  <a:tcPr marL="95250" marR="95250" marT="76200" marB="76200" anchor="ctr">
                    <a:solidFill>
                      <a:srgbClr val="FFFFFF"/>
                    </a:solidFill>
                  </a:tcPr>
                </a:tc>
              </a:tr>
              <a:tr h="659130">
                <a:tc>
                  <a:txBody>
                    <a:bodyPr/>
                    <a:lstStyle/>
                    <a:p>
                      <a:pPr algn="l"/>
                      <a:r>
                        <a:rPr sz="1500" b="0">
                          <a:solidFill>
                            <a:srgbClr val="232323"/>
                          </a:solidFill>
                          <a:latin typeface="Calibri"/>
                          <a:ea typeface="Calibri"/>
                          <a:cs typeface="Calibri"/>
                        </a:rPr>
                        <a:t>Simulation for guarantee request</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3</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Simulated replacement while denying a guarantee</a:t>
                      </a:r>
                    </a:p>
                  </a:txBody>
                  <a:tcPr marL="95250" marR="95250" marT="76200" marB="76200" anchor="ctr">
                    <a:solidFill>
                      <a:srgbClr val="F2F6FA"/>
                    </a:solidFill>
                  </a:tcPr>
                </a:tc>
              </a:tr>
            </a:tbl>
          </a:graphicData>
        </a:graphic>
      </p:graphicFrame>
      <p:sp>
        <p:nvSpPr>
          <p:cNvPr id="12" name="Main weakness: choosing operating values when the ">
            <a:extLst xmlns:a="http://schemas.openxmlformats.org/drawingml/2006/main">
              <a:ext uri="{FF2B5EF4-FFF2-40B4-BE49-F238E27FC236}">
                <a16:creationId xmlns:a16="http://schemas.microsoft.com/office/drawing/2014/main" id="{3B724CA6-7EB3-4462-9CC8-4278A594FCE4}"/>
              </a:ext>
            </a:extLst>
          </p:cNvPr>
          <p:cNvSpPr>
            <a:spLocks xmlns:a="http://schemas.openxmlformats.org/drawingml/2006/main" noGrp="1"/>
          </p:cNvSpPr>
          <p:nvPr/>
        </p:nvSpPr>
        <p:spPr>
          <a:xfrm xmlns:a="http://schemas.openxmlformats.org/drawingml/2006/main">
            <a:off x="914400" y="51435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A4A"/>
                </a:solidFill>
                <a:latin typeface="Calibri"/>
                <a:ea typeface="Calibri"/>
                <a:cs typeface="Calibri"/>
              </a:defRPr>
            </a:defPPr>
          </a:lstStyle>
          <a:p xmlns:a="http://schemas.openxmlformats.org/drawingml/2006/main">
            <a:pPr algn="l">
              <a:defRPr sz="2100" b="1">
                <a:solidFill>
                  <a:srgbClr val="142A4A"/>
                </a:solidFill>
                <a:latin typeface="Calibri"/>
                <a:ea typeface="Calibri"/>
                <a:cs typeface="Calibri"/>
              </a:defRPr>
            </a:pPr>
            <a:r>
              <a:rPr sz="2100" b="1">
                <a:solidFill>
                  <a:srgbClr val="142A4A"/>
                </a:solidFill>
                <a:latin typeface="Calibri"/>
                <a:ea typeface="Calibri"/>
                <a:cs typeface="Calibri"/>
              </a:rPr>
              <a:t>Main weakness: choosing operating values when the request is incomplete.</a:t>
            </a:r>
          </a:p>
        </p:txBody>
      </p:sp>
      <p:sp>
        <p:nvSpPr>
          <p:cNvPr id="13" name="Example: “Reduce the speed” led to selected values">
            <a:extLst xmlns:a="http://schemas.openxmlformats.org/drawingml/2006/main">
              <a:ext uri="{FF2B5EF4-FFF2-40B4-BE49-F238E27FC236}">
                <a16:creationId xmlns:a16="http://schemas.microsoft.com/office/drawing/2014/main" id="{E79A0BB9-81F5-4B3C-BC31-06FC93ADA86C}"/>
              </a:ext>
            </a:extLst>
          </p:cNvPr>
          <p:cNvSpPr>
            <a:spLocks xmlns:a="http://schemas.openxmlformats.org/drawingml/2006/main" noGrp="1"/>
          </p:cNvSpPr>
          <p:nvPr/>
        </p:nvSpPr>
        <p:spPr>
          <a:xfrm xmlns:a="http://schemas.openxmlformats.org/drawingml/2006/main">
            <a:off x="914400" y="584835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4696E"/>
                </a:solidFill>
                <a:latin typeface="Calibri"/>
                <a:ea typeface="Calibri"/>
                <a:cs typeface="Calibri"/>
              </a:defRPr>
            </a:defPPr>
          </a:lstStyle>
          <a:p xmlns:a="http://schemas.openxmlformats.org/drawingml/2006/main">
            <a:pPr algn="l">
              <a:defRPr sz="1400" b="0">
                <a:solidFill>
                  <a:srgbClr val="64696E"/>
                </a:solidFill>
                <a:latin typeface="Calibri"/>
                <a:ea typeface="Calibri"/>
                <a:cs typeface="Calibri"/>
              </a:defRPr>
            </a:pPr>
            <a:r>
              <a:rPr sz="1400" b="0">
                <a:solidFill>
                  <a:srgbClr val="64696E"/>
                </a:solidFill>
                <a:latin typeface="Calibri"/>
                <a:ea typeface="Calibri"/>
                <a:cs typeface="Calibri"/>
              </a:rPr>
              <a:t>Example: “Reduce the speed” led to selected values of 1,000 or 1,200 rpm.</a:t>
            </a:r>
          </a:p>
          <a:p xmlns:a="http://schemas.openxmlformats.org/drawingml/2006/main">
            <a:pPr algn="l">
              <a:defRPr sz="1400" b="0">
                <a:solidFill>
                  <a:srgbClr val="64696E"/>
                </a:solidFill>
                <a:latin typeface="Calibri"/>
                <a:ea typeface="Calibri"/>
                <a:cs typeface="Calibri"/>
              </a:defRPr>
            </a:pPr>
            <a:r>
              <a:rPr sz="1400" b="0">
                <a:solidFill>
                  <a:srgbClr val="64696E"/>
                </a:solidFill>
                <a:latin typeface="Calibri"/>
                <a:ea typeface="Calibri"/>
                <a:cs typeface="Calibri"/>
              </a:rPr>
              <a:t>The three guarantee-related flags do not establish that the answers promised prevention.</a:t>
            </a:r>
          </a:p>
        </p:txBody>
      </p:sp>
    </p:spTree>
    <p:extLst>
      <p:ext uri="{BB962C8B-B14F-4D97-AF65-F5344CB8AC3E}">
        <p14:creationId xmlns:p14="http://schemas.microsoft.com/office/powerpoint/2010/main" val="336852296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1429351-CA31-48BA-946C-08DA052037E8}"/>
              </a:ext>
            </a:extLst>
          </p:cNvPr>
          <p:cNvSpPr>
            <a:spLocks xmlns:a="http://schemas.openxmlformats.org/drawingml/2006/main" noGrp="1"/>
          </p:cNvSpPr>
          <p:nvPr/>
        </p:nvSpPr>
        <p:spPr>
          <a:xfrm xmlns:a="http://schemas.openxmlformats.org/drawingml/2006/main">
            <a:off x="640080" y="411480"/>
            <a:ext cx="5521642"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Research scope and limitations</a:t>
            </a:r>
          </a:p>
        </p:txBody>
      </p:sp>
      <p:sp>
        <p:nvSpPr>
          <p:cNvPr id="3" name="Rounded Rectangle 2">
            <a:extLst xmlns:a="http://schemas.openxmlformats.org/drawingml/2006/main">
              <a:ext uri="{FF2B5EF4-FFF2-40B4-BE49-F238E27FC236}">
                <a16:creationId xmlns:a16="http://schemas.microsoft.com/office/drawing/2014/main" id="{912FE116-D9BA-45D9-BB02-C812BB63E51E}"/>
              </a:ext>
            </a:extLst>
          </p:cNvPr>
          <p:cNvSpPr>
            <a:spLocks xmlns:a="http://schemas.openxmlformats.org/drawingml/2006/main" noGrp="1"/>
          </p:cNvSpPr>
          <p:nvPr/>
        </p:nvSpPr>
        <p:spPr>
          <a:xfrm xmlns:a="http://schemas.openxmlformats.org/drawingml/2006/main">
            <a:off x="731520" y="1325880"/>
            <a:ext cx="5120640" cy="429768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ounded Rectangle 5">
            <a:extLst xmlns:a="http://schemas.openxmlformats.org/drawingml/2006/main">
              <a:ext uri="{FF2B5EF4-FFF2-40B4-BE49-F238E27FC236}">
                <a16:creationId xmlns:a16="http://schemas.microsoft.com/office/drawing/2014/main" id="{7400F4C7-F36D-4588-841E-E2A55C196436}"/>
              </a:ext>
            </a:extLst>
          </p:cNvPr>
          <p:cNvSpPr>
            <a:spLocks xmlns:a="http://schemas.openxmlformats.org/drawingml/2006/main" noGrp="1"/>
          </p:cNvSpPr>
          <p:nvPr/>
        </p:nvSpPr>
        <p:spPr>
          <a:xfrm xmlns:a="http://schemas.openxmlformats.org/drawingml/2006/main">
            <a:off x="6309360" y="1325880"/>
            <a:ext cx="5120640" cy="429768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E0F1EB1C-9F39-438F-A8BB-7F5B18843C32}"/>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D6411640-4599-4A6A-B267-CC3AFDD26E11}"/>
              </a:ext>
            </a:extLst>
          </p:cNvPr>
          <p:cNvSpPr>
            <a:spLocks xmlns:a="http://schemas.openxmlformats.org/drawingml/2006/main" noGrp="1"/>
          </p:cNvSpPr>
          <p:nvPr/>
        </p:nvSpPr>
        <p:spPr>
          <a:xfrm xmlns:a="http://schemas.openxmlformats.org/drawingml/2006/main">
            <a:off x="11247120" y="6400800"/>
            <a:ext cx="141287"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16</a:t>
            </a:r>
          </a:p>
        </p:txBody>
      </p:sp>
      <p:sp>
        <p:nvSpPr>
          <p:cNvPr id="11" name="Implemented scope">
            <a:extLst xmlns:a="http://schemas.openxmlformats.org/drawingml/2006/main">
              <a:ext uri="{FF2B5EF4-FFF2-40B4-BE49-F238E27FC236}">
                <a16:creationId xmlns:a16="http://schemas.microsoft.com/office/drawing/2014/main" id="{048042DB-11D5-4EB3-ADAB-21B08C308377}"/>
              </a:ext>
            </a:extLst>
          </p:cNvPr>
          <p:cNvSpPr>
            <a:spLocks xmlns:a="http://schemas.openxmlformats.org/drawingml/2006/main" noGrp="1"/>
          </p:cNvSpPr>
          <p:nvPr/>
        </p:nvSpPr>
        <p:spPr>
          <a:xfrm xmlns:a="http://schemas.openxmlformats.org/drawingml/2006/main">
            <a:off x="914400" y="1562100"/>
            <a:ext cx="4752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142A4A"/>
                </a:solidFill>
                <a:latin typeface="Calibri"/>
                <a:ea typeface="Calibri"/>
                <a:cs typeface="Calibri"/>
              </a:defRPr>
            </a:defPPr>
          </a:lstStyle>
          <a:p xmlns:a="http://schemas.openxmlformats.org/drawingml/2006/main">
            <a:pPr algn="l">
              <a:defRPr sz="2000" b="1">
                <a:solidFill>
                  <a:srgbClr val="142A4A"/>
                </a:solidFill>
                <a:latin typeface="Calibri"/>
                <a:ea typeface="Calibri"/>
                <a:cs typeface="Calibri"/>
              </a:defRPr>
            </a:pPr>
            <a:r>
              <a:rPr sz="2000" b="1">
                <a:solidFill>
                  <a:srgbClr val="142A4A"/>
                </a:solidFill>
                <a:latin typeface="Calibri"/>
                <a:ea typeface="Calibri"/>
                <a:cs typeface="Calibri"/>
              </a:rPr>
              <a:t>Implemented scope</a:t>
            </a:r>
          </a:p>
        </p:txBody>
      </p:sp>
      <p:sp>
        <p:nvSpPr>
          <p:cNvPr id="12" name="One virtual machine per browser session&#10;&#10;Random Fo">
            <a:extLst xmlns:a="http://schemas.openxmlformats.org/drawingml/2006/main">
              <a:ext uri="{FF2B5EF4-FFF2-40B4-BE49-F238E27FC236}">
                <a16:creationId xmlns:a16="http://schemas.microsoft.com/office/drawing/2014/main" id="{331DD590-3E4E-41E1-A4A3-28299EF14A90}"/>
              </a:ext>
            </a:extLst>
          </p:cNvPr>
          <p:cNvSpPr>
            <a:spLocks xmlns:a="http://schemas.openxmlformats.org/drawingml/2006/main" noGrp="1"/>
          </p:cNvSpPr>
          <p:nvPr/>
        </p:nvSpPr>
        <p:spPr>
          <a:xfrm xmlns:a="http://schemas.openxmlformats.org/drawingml/2006/main">
            <a:off x="914400" y="2152650"/>
            <a:ext cx="466725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32323"/>
                </a:solidFill>
                <a:latin typeface="Calibri"/>
                <a:ea typeface="Calibri"/>
                <a:cs typeface="Calibri"/>
              </a:defRPr>
            </a:defPPr>
          </a:lstStyle>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One virtual machine per browser session</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Random Forest prediction and scenario scoring</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Recorded session history and tool evidence</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LangGraph copilot with bounded execution</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Reproducible model and execution results</a:t>
            </a:r>
          </a:p>
        </p:txBody>
      </p:sp>
      <p:sp>
        <p:nvSpPr>
          <p:cNvPr id="13" name="Limits of the current evidence">
            <a:extLst xmlns:a="http://schemas.openxmlformats.org/drawingml/2006/main">
              <a:ext uri="{FF2B5EF4-FFF2-40B4-BE49-F238E27FC236}">
                <a16:creationId xmlns:a16="http://schemas.microsoft.com/office/drawing/2014/main" id="{CAF0BD25-1B13-4AE4-B96C-C917A02F2E1C}"/>
              </a:ext>
            </a:extLst>
          </p:cNvPr>
          <p:cNvSpPr>
            <a:spLocks xmlns:a="http://schemas.openxmlformats.org/drawingml/2006/main" noGrp="1"/>
          </p:cNvSpPr>
          <p:nvPr/>
        </p:nvSpPr>
        <p:spPr>
          <a:xfrm xmlns:a="http://schemas.openxmlformats.org/drawingml/2006/main">
            <a:off x="6496050" y="1562100"/>
            <a:ext cx="4752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142A4A"/>
                </a:solidFill>
                <a:latin typeface="Calibri"/>
                <a:ea typeface="Calibri"/>
                <a:cs typeface="Calibri"/>
              </a:defRPr>
            </a:defPPr>
          </a:lstStyle>
          <a:p xmlns:a="http://schemas.openxmlformats.org/drawingml/2006/main">
            <a:pPr algn="l">
              <a:defRPr sz="2000" b="1">
                <a:solidFill>
                  <a:srgbClr val="142A4A"/>
                </a:solidFill>
                <a:latin typeface="Calibri"/>
                <a:ea typeface="Calibri"/>
                <a:cs typeface="Calibri"/>
              </a:defRPr>
            </a:pPr>
            <a:r>
              <a:rPr sz="2000" b="1">
                <a:solidFill>
                  <a:srgbClr val="142A4A"/>
                </a:solidFill>
                <a:latin typeface="Calibri"/>
                <a:ea typeface="Calibri"/>
                <a:cs typeface="Calibri"/>
              </a:rPr>
              <a:t>Limits of the current evidence</a:t>
            </a:r>
          </a:p>
        </p:txBody>
      </p:sp>
      <p:sp>
        <p:nvSpPr>
          <p:cNvPr id="14" name="Synthetic data and a static held-out split&#10;&#10;Uncali">
            <a:extLst xmlns:a="http://schemas.openxmlformats.org/drawingml/2006/main">
              <a:ext uri="{FF2B5EF4-FFF2-40B4-BE49-F238E27FC236}">
                <a16:creationId xmlns:a16="http://schemas.microsoft.com/office/drawing/2014/main" id="{906BA9A5-3C95-452D-81C6-BFCE6ABE8D8D}"/>
              </a:ext>
            </a:extLst>
          </p:cNvPr>
          <p:cNvSpPr>
            <a:spLocks xmlns:a="http://schemas.openxmlformats.org/drawingml/2006/main" noGrp="1"/>
          </p:cNvSpPr>
          <p:nvPr/>
        </p:nvSpPr>
        <p:spPr>
          <a:xfrm xmlns:a="http://schemas.openxmlformats.org/drawingml/2006/main">
            <a:off x="6496050" y="2152650"/>
            <a:ext cx="466725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32323"/>
                </a:solidFill>
                <a:latin typeface="Calibri"/>
                <a:ea typeface="Calibri"/>
                <a:cs typeface="Calibri"/>
              </a:defRPr>
            </a:defPPr>
          </a:lstStyle>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Synthetic data and a static held-out split</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Uncalibrated scores and no failure-time horizon</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Model sensitivity without physical validation</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No feature attribution or remaining-life estimate</a:t>
            </a:r>
          </a:p>
          <a:p xmlns:a="http://schemas.openxmlformats.org/drawingml/2006/main">
            <a:r>
              <a:t/>
            </a:r>
          </a:p>
          <a:p xmlns:a="http://schemas.openxmlformats.org/drawingml/2006/main">
            <a:pPr algn="l">
              <a:defRPr sz="1500" b="0">
                <a:solidFill>
                  <a:srgbClr val="232323"/>
                </a:solidFill>
                <a:latin typeface="Calibri"/>
                <a:ea typeface="Calibri"/>
                <a:cs typeface="Calibri"/>
              </a:defRPr>
            </a:pPr>
            <a:r>
              <a:rPr sz="1500" b="0">
                <a:solidFill>
                  <a:srgbClr val="232323"/>
                </a:solidFill>
                <a:latin typeface="Calibri"/>
                <a:ea typeface="Calibri"/>
                <a:cs typeface="Calibri"/>
              </a:rPr>
              <a:t>Answer-quality and operator studies pending</a:t>
            </a:r>
          </a:p>
        </p:txBody>
      </p:sp>
      <p:sp>
        <p:nvSpPr>
          <p:cNvPr id="15" name="Reported benefits concern the prototype workflow. ">
            <a:extLst xmlns:a="http://schemas.openxmlformats.org/drawingml/2006/main">
              <a:ext uri="{FF2B5EF4-FFF2-40B4-BE49-F238E27FC236}">
                <a16:creationId xmlns:a16="http://schemas.microsoft.com/office/drawing/2014/main" id="{E8038C7A-F36E-4F54-AEA0-C8C7A221FB00}"/>
              </a:ext>
            </a:extLst>
          </p:cNvPr>
          <p:cNvSpPr>
            <a:spLocks xmlns:a="http://schemas.openxmlformats.org/drawingml/2006/main" noGrp="1"/>
          </p:cNvSpPr>
          <p:nvPr/>
        </p:nvSpPr>
        <p:spPr>
          <a:xfrm xmlns:a="http://schemas.openxmlformats.org/drawingml/2006/main">
            <a:off x="82296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66AD"/>
                </a:solidFill>
                <a:latin typeface="Calibri"/>
                <a:ea typeface="Calibri"/>
                <a:cs typeface="Calibri"/>
              </a:defRPr>
            </a:defPPr>
          </a:lstStyle>
          <a:p xmlns:a="http://schemas.openxmlformats.org/drawingml/2006/main">
            <a:pPr algn="l">
              <a:defRPr sz="1500" b="1">
                <a:solidFill>
                  <a:srgbClr val="2F66AD"/>
                </a:solidFill>
                <a:latin typeface="Calibri"/>
                <a:ea typeface="Calibri"/>
                <a:cs typeface="Calibri"/>
              </a:defRPr>
            </a:pPr>
            <a:r>
              <a:rPr sz="1500" b="1">
                <a:solidFill>
                  <a:srgbClr val="2F66AD"/>
                </a:solidFill>
                <a:latin typeface="Calibri"/>
                <a:ea typeface="Calibri"/>
                <a:cs typeface="Calibri"/>
              </a:rPr>
              <a:t>Reported benefits concern the prototype workflow. Downtime reduction has not been measured.</a:t>
            </a:r>
          </a:p>
        </p:txBody>
      </p:sp>
    </p:spTree>
    <p:extLst>
      <p:ext uri="{BB962C8B-B14F-4D97-AF65-F5344CB8AC3E}">
        <p14:creationId xmlns:p14="http://schemas.microsoft.com/office/powerpoint/2010/main" val="42063983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196CCFF-82AE-0750-3211-D828833EE4B7}"/>
              </a:ext>
            </a:extLst>
          </p:cNvPr>
          <p:cNvSpPr>
            <a:spLocks xmlns:a="http://schemas.openxmlformats.org/drawingml/2006/main" noGrp="1"/>
          </p:cNvSpPr>
          <p:nvPr/>
        </p:nvSpPr>
        <p:spPr>
          <a:xfrm xmlns:a="http://schemas.openxmlformats.org/drawingml/2006/main">
            <a:off x="640080" y="411480"/>
            <a:ext cx="6153468"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Project contribution and next steps</a:t>
            </a:r>
            <a:endParaRPr/>
          </a:p>
        </p:txBody>
      </p:sp>
      <p:sp>
        <p:nvSpPr>
          <p:cNvPr id="3" name="Rounded Rectangle 2">
            <a:extLst xmlns:a="http://schemas.openxmlformats.org/drawingml/2006/main">
              <a:ext uri="{FF2B5EF4-FFF2-40B4-BE49-F238E27FC236}">
                <a16:creationId xmlns:a16="http://schemas.microsoft.com/office/drawing/2014/main" id="{43743A6E-35BB-7C06-ABDE-A6CF004945A3}"/>
              </a:ext>
            </a:extLst>
          </p:cNvPr>
          <p:cNvSpPr>
            <a:spLocks xmlns:a="http://schemas.openxmlformats.org/drawingml/2006/main" noGrp="1"/>
          </p:cNvSpPr>
          <p:nvPr/>
        </p:nvSpPr>
        <p:spPr>
          <a:xfrm xmlns:a="http://schemas.openxmlformats.org/drawingml/2006/main">
            <a:off x="731519" y="1325880"/>
            <a:ext cx="10687330" cy="4572000"/>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C4C530C1-0558-30FF-9E2E-1606BF0DDA5B}"/>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E8C922B9-7FB6-F5D1-5CB6-EFB4DF825650}"/>
              </a:ext>
            </a:extLst>
          </p:cNvPr>
          <p:cNvSpPr>
            <a:spLocks xmlns:a="http://schemas.openxmlformats.org/drawingml/2006/main" noGrp="1"/>
          </p:cNvSpPr>
          <p:nvPr/>
        </p:nvSpPr>
        <p:spPr>
          <a:xfrm xmlns:a="http://schemas.openxmlformats.org/drawingml/2006/main">
            <a:off x="11247120" y="6400800"/>
            <a:ext cx="141287"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17</a:t>
            </a:r>
          </a:p>
        </p:txBody>
      </p:sp>
      <p:sp>
        <p:nvSpPr>
          <p:cNvPr id="11" name="Implemented contribution">
            <a:extLst xmlns:a="http://schemas.openxmlformats.org/drawingml/2006/main">
              <a:ext uri="{FF2B5EF4-FFF2-40B4-BE49-F238E27FC236}">
                <a16:creationId xmlns:a16="http://schemas.microsoft.com/office/drawing/2014/main" id="{185AD21E-5397-4C5C-98CF-7B64ABDC9F37}"/>
              </a:ext>
            </a:extLst>
          </p:cNvPr>
          <p:cNvSpPr>
            <a:spLocks xmlns:a="http://schemas.openxmlformats.org/drawingml/2006/main" noGrp="1"/>
          </p:cNvSpPr>
          <p:nvPr/>
        </p:nvSpPr>
        <p:spPr>
          <a:xfrm xmlns:a="http://schemas.openxmlformats.org/drawingml/2006/main">
            <a:off x="1000125" y="1647825"/>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A4A"/>
                </a:solidFill>
                <a:latin typeface="Calibri"/>
                <a:ea typeface="Calibri"/>
                <a:cs typeface="Calibri"/>
              </a:defRPr>
            </a:defPPr>
          </a:lstStyle>
          <a:p xmlns:a="http://schemas.openxmlformats.org/drawingml/2006/main">
            <a:pPr algn="l">
              <a:defRPr sz="2100" b="1">
                <a:solidFill>
                  <a:srgbClr val="142A4A"/>
                </a:solidFill>
                <a:latin typeface="Calibri"/>
                <a:ea typeface="Calibri"/>
                <a:cs typeface="Calibri"/>
              </a:defRPr>
            </a:pPr>
            <a:r>
              <a:rPr sz="2100" b="1">
                <a:solidFill>
                  <a:srgbClr val="142A4A"/>
                </a:solidFill>
                <a:latin typeface="Calibri"/>
                <a:ea typeface="Calibri"/>
                <a:cs typeface="Calibri"/>
              </a:rPr>
              <a:t>Implemented contribution</a:t>
            </a:r>
          </a:p>
        </p:txBody>
      </p:sp>
      <p:sp>
        <p:nvSpPr>
          <p:cNvPr id="12" name="An editable machine state connects a trained class">
            <a:extLst xmlns:a="http://schemas.openxmlformats.org/drawingml/2006/main">
              <a:ext uri="{FF2B5EF4-FFF2-40B4-BE49-F238E27FC236}">
                <a16:creationId xmlns:a16="http://schemas.microsoft.com/office/drawing/2014/main" id="{D72FDAFC-2C81-422E-B2E0-68AF06AD73FA}"/>
              </a:ext>
            </a:extLst>
          </p:cNvPr>
          <p:cNvSpPr>
            <a:spLocks xmlns:a="http://schemas.openxmlformats.org/drawingml/2006/main" noGrp="1"/>
          </p:cNvSpPr>
          <p:nvPr/>
        </p:nvSpPr>
        <p:spPr>
          <a:xfrm xmlns:a="http://schemas.openxmlformats.org/drawingml/2006/main">
            <a:off x="1000125" y="2143125"/>
            <a:ext cx="1004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32323"/>
                </a:solidFill>
                <a:latin typeface="Calibri"/>
                <a:ea typeface="Calibri"/>
                <a:cs typeface="Calibri"/>
              </a:defRPr>
            </a:defPPr>
          </a:lstStyle>
          <a:p xmlns:a="http://schemas.openxmlformats.org/drawingml/2006/main">
            <a:pPr algn="l">
              <a:defRPr sz="1800" b="0">
                <a:solidFill>
                  <a:srgbClr val="232323"/>
                </a:solidFill>
                <a:latin typeface="Calibri"/>
                <a:ea typeface="Calibri"/>
                <a:cs typeface="Calibri"/>
              </a:defRPr>
            </a:pPr>
            <a:r>
              <a:rPr sz="1800" b="0">
                <a:solidFill>
                  <a:srgbClr val="232323"/>
                </a:solidFill>
                <a:latin typeface="Calibri"/>
                <a:ea typeface="Calibri"/>
                <a:cs typeface="Calibri"/>
              </a:rPr>
              <a:t>An editable machine state connects a trained classifier to conversational</a:t>
            </a:r>
          </a:p>
          <a:p xmlns:a="http://schemas.openxmlformats.org/drawingml/2006/main">
            <a:pPr algn="l">
              <a:defRPr sz="1800" b="0">
                <a:solidFill>
                  <a:srgbClr val="232323"/>
                </a:solidFill>
                <a:latin typeface="Calibri"/>
                <a:ea typeface="Calibri"/>
                <a:cs typeface="Calibri"/>
              </a:defRPr>
            </a:pPr>
            <a:r>
              <a:rPr sz="1800" b="0">
                <a:solidFill>
                  <a:srgbClr val="232323"/>
                </a:solidFill>
                <a:latin typeface="Calibri"/>
                <a:ea typeface="Calibri"/>
                <a:cs typeface="Calibri"/>
              </a:rPr>
              <a:t>scenario comparison, with saved evidence for each tool interaction.</a:t>
            </a:r>
          </a:p>
        </p:txBody>
      </p:sp>
      <p:sp>
        <p:nvSpPr>
          <p:cNvPr id="13" name="Recorded finding">
            <a:extLst xmlns:a="http://schemas.openxmlformats.org/drawingml/2006/main">
              <a:ext uri="{FF2B5EF4-FFF2-40B4-BE49-F238E27FC236}">
                <a16:creationId xmlns:a16="http://schemas.microsoft.com/office/drawing/2014/main" id="{341DDEC0-EF46-4393-9963-659ADD46AEDF}"/>
              </a:ext>
            </a:extLst>
          </p:cNvPr>
          <p:cNvSpPr>
            <a:spLocks xmlns:a="http://schemas.openxmlformats.org/drawingml/2006/main" noGrp="1"/>
          </p:cNvSpPr>
          <p:nvPr/>
        </p:nvSpPr>
        <p:spPr>
          <a:xfrm xmlns:a="http://schemas.openxmlformats.org/drawingml/2006/main">
            <a:off x="1000125" y="3076575"/>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A4A"/>
                </a:solidFill>
                <a:latin typeface="Calibri"/>
                <a:ea typeface="Calibri"/>
                <a:cs typeface="Calibri"/>
              </a:defRPr>
            </a:defPPr>
          </a:lstStyle>
          <a:p xmlns:a="http://schemas.openxmlformats.org/drawingml/2006/main">
            <a:pPr algn="l">
              <a:defRPr sz="2100" b="1">
                <a:solidFill>
                  <a:srgbClr val="142A4A"/>
                </a:solidFill>
                <a:latin typeface="Calibri"/>
                <a:ea typeface="Calibri"/>
                <a:cs typeface="Calibri"/>
              </a:defRPr>
            </a:pPr>
            <a:r>
              <a:rPr sz="2100" b="1">
                <a:solidFill>
                  <a:srgbClr val="142A4A"/>
                </a:solidFill>
                <a:latin typeface="Calibri"/>
                <a:ea typeface="Calibri"/>
                <a:cs typeface="Calibri"/>
              </a:rPr>
              <a:t>Recorded finding</a:t>
            </a:r>
          </a:p>
        </p:txBody>
      </p:sp>
      <p:sp>
        <p:nvSpPr>
          <p:cNvPr id="14" name="Random Forest reaches 85.94% failure F1. The copil">
            <a:extLst xmlns:a="http://schemas.openxmlformats.org/drawingml/2006/main">
              <a:ext uri="{FF2B5EF4-FFF2-40B4-BE49-F238E27FC236}">
                <a16:creationId xmlns:a16="http://schemas.microsoft.com/office/drawing/2014/main" id="{84171E8D-5033-4AFD-A1DA-B8526D67CA4C}"/>
              </a:ext>
            </a:extLst>
          </p:cNvPr>
          <p:cNvSpPr>
            <a:spLocks xmlns:a="http://schemas.openxmlformats.org/drawingml/2006/main" noGrp="1"/>
          </p:cNvSpPr>
          <p:nvPr/>
        </p:nvSpPr>
        <p:spPr>
          <a:xfrm xmlns:a="http://schemas.openxmlformats.org/drawingml/2006/main">
            <a:off x="1000125" y="3571875"/>
            <a:ext cx="1004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32323"/>
                </a:solidFill>
                <a:latin typeface="Calibri"/>
                <a:ea typeface="Calibri"/>
                <a:cs typeface="Calibri"/>
              </a:defRPr>
            </a:defPPr>
          </a:lstStyle>
          <a:p xmlns:a="http://schemas.openxmlformats.org/drawingml/2006/main">
            <a:pPr algn="l">
              <a:defRPr sz="1800" b="0">
                <a:solidFill>
                  <a:srgbClr val="232323"/>
                </a:solidFill>
                <a:latin typeface="Calibri"/>
                <a:ea typeface="Calibri"/>
                <a:cs typeface="Calibri"/>
              </a:defRPr>
            </a:pPr>
            <a:r>
              <a:rPr sz="1800" b="0">
                <a:solidFill>
                  <a:srgbClr val="232323"/>
                </a:solidFill>
                <a:latin typeface="Calibri"/>
                <a:ea typeface="Calibri"/>
                <a:cs typeface="Calibri"/>
              </a:rPr>
              <a:t>Random Forest reaches 85.94% failure F1. The copilot passes 80.56% of</a:t>
            </a:r>
          </a:p>
          <a:p xmlns:a="http://schemas.openxmlformats.org/drawingml/2006/main">
            <a:pPr algn="l">
              <a:defRPr sz="1800" b="0">
                <a:solidFill>
                  <a:srgbClr val="232323"/>
                </a:solidFill>
                <a:latin typeface="Calibri"/>
                <a:ea typeface="Calibri"/>
                <a:cs typeface="Calibri"/>
              </a:defRPr>
            </a:pPr>
            <a:r>
              <a:rPr sz="1800" b="0">
                <a:solidFill>
                  <a:srgbClr val="232323"/>
                </a:solidFill>
                <a:latin typeface="Calibri"/>
                <a:ea typeface="Calibri"/>
                <a:cs typeface="Calibri"/>
              </a:rPr>
              <a:t>strict execution trials, with the weakest behavior on ambiguous inputs.</a:t>
            </a:r>
          </a:p>
        </p:txBody>
      </p:sp>
      <p:sp>
        <p:nvSpPr>
          <p:cNvPr id="15" name="Next experiment">
            <a:extLst xmlns:a="http://schemas.openxmlformats.org/drawingml/2006/main">
              <a:ext uri="{FF2B5EF4-FFF2-40B4-BE49-F238E27FC236}">
                <a16:creationId xmlns:a16="http://schemas.microsoft.com/office/drawing/2014/main" id="{E04EB7D8-CB18-401A-8010-3F74DB395F28}"/>
              </a:ext>
            </a:extLst>
          </p:cNvPr>
          <p:cNvSpPr>
            <a:spLocks xmlns:a="http://schemas.openxmlformats.org/drawingml/2006/main" noGrp="1"/>
          </p:cNvSpPr>
          <p:nvPr/>
        </p:nvSpPr>
        <p:spPr>
          <a:xfrm xmlns:a="http://schemas.openxmlformats.org/drawingml/2006/main">
            <a:off x="1000125" y="4505325"/>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A4A"/>
                </a:solidFill>
                <a:latin typeface="Calibri"/>
                <a:ea typeface="Calibri"/>
                <a:cs typeface="Calibri"/>
              </a:defRPr>
            </a:defPPr>
          </a:lstStyle>
          <a:p xmlns:a="http://schemas.openxmlformats.org/drawingml/2006/main">
            <a:pPr algn="l">
              <a:defRPr sz="2100" b="1">
                <a:solidFill>
                  <a:srgbClr val="142A4A"/>
                </a:solidFill>
                <a:latin typeface="Calibri"/>
                <a:ea typeface="Calibri"/>
                <a:cs typeface="Calibri"/>
              </a:defRPr>
            </a:pPr>
            <a:r>
              <a:rPr sz="2100" b="1">
                <a:solidFill>
                  <a:srgbClr val="142A4A"/>
                </a:solidFill>
                <a:latin typeface="Calibri"/>
                <a:ea typeface="Calibri"/>
                <a:cs typeface="Calibri"/>
              </a:rPr>
              <a:t>Next experiment</a:t>
            </a:r>
          </a:p>
        </p:txBody>
      </p:sp>
      <p:sp>
        <p:nvSpPr>
          <p:cNvPr id="16" name="Require explicit scenario values and units, compar">
            <a:extLst xmlns:a="http://schemas.openxmlformats.org/drawingml/2006/main">
              <a:ext uri="{FF2B5EF4-FFF2-40B4-BE49-F238E27FC236}">
                <a16:creationId xmlns:a16="http://schemas.microsoft.com/office/drawing/2014/main" id="{78C5B4BA-28B2-40F2-8633-7A1F5A250047}"/>
              </a:ext>
            </a:extLst>
          </p:cNvPr>
          <p:cNvSpPr>
            <a:spLocks xmlns:a="http://schemas.openxmlformats.org/drawingml/2006/main" noGrp="1"/>
          </p:cNvSpPr>
          <p:nvPr/>
        </p:nvSpPr>
        <p:spPr>
          <a:xfrm xmlns:a="http://schemas.openxmlformats.org/drawingml/2006/main">
            <a:off x="1000125" y="5000625"/>
            <a:ext cx="1004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32323"/>
                </a:solidFill>
                <a:latin typeface="Calibri"/>
                <a:ea typeface="Calibri"/>
                <a:cs typeface="Calibri"/>
              </a:defRPr>
            </a:defPPr>
          </a:lstStyle>
          <a:p xmlns:a="http://schemas.openxmlformats.org/drawingml/2006/main">
            <a:pPr algn="l">
              <a:defRPr sz="1800" b="0">
                <a:solidFill>
                  <a:srgbClr val="232323"/>
                </a:solidFill>
                <a:latin typeface="Calibri"/>
                <a:ea typeface="Calibri"/>
                <a:cs typeface="Calibri"/>
              </a:defRPr>
            </a:pPr>
            <a:r>
              <a:rPr sz="1800" b="0">
                <a:solidFill>
                  <a:srgbClr val="232323"/>
                </a:solidFill>
                <a:latin typeface="Calibri"/>
                <a:ea typeface="Calibri"/>
                <a:cs typeface="Calibri"/>
              </a:rPr>
              <a:t>Require explicit scenario values and units, compare LLMs on development</a:t>
            </a:r>
          </a:p>
          <a:p xmlns:a="http://schemas.openxmlformats.org/drawingml/2006/main">
            <a:pPr algn="l">
              <a:defRPr sz="1800" b="0">
                <a:solidFill>
                  <a:srgbClr val="232323"/>
                </a:solidFill>
                <a:latin typeface="Calibri"/>
                <a:ea typeface="Calibri"/>
                <a:cs typeface="Calibri"/>
              </a:defRPr>
            </a:pPr>
            <a:r>
              <a:rPr sz="1800" b="0">
                <a:solidFill>
                  <a:srgbClr val="232323"/>
                </a:solidFill>
                <a:latin typeface="Calibri"/>
                <a:ea typeface="Calibri"/>
                <a:cs typeface="Calibri"/>
              </a:rPr>
              <a:t>cases, and collect a fresh final set before making improvement claims.</a:t>
            </a:r>
          </a:p>
        </p:txBody>
      </p:sp>
    </p:spTree>
    <p:extLst>
      <p:ext uri="{BB962C8B-B14F-4D97-AF65-F5344CB8AC3E}">
        <p14:creationId xmlns:p14="http://schemas.microsoft.com/office/powerpoint/2010/main" val="336852296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196CCFF-82AE-0750-3211-D828833EE4B7}"/>
              </a:ext>
            </a:extLst>
          </p:cNvPr>
          <p:cNvSpPr>
            <a:spLocks xmlns:a="http://schemas.openxmlformats.org/drawingml/2006/main" noGrp="1"/>
          </p:cNvSpPr>
          <p:nvPr/>
        </p:nvSpPr>
        <p:spPr>
          <a:xfrm xmlns:a="http://schemas.openxmlformats.org/drawingml/2006/main">
            <a:off x="640080" y="411480"/>
            <a:ext cx="6255067" cy="5181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defRPr sz="2800" b="1">
                <a:solidFill>
                  <a:srgbClr val="142A4A"/>
                </a:solidFill>
                <a:latin typeface="Calibri"/>
                <a:ea typeface="Calibri"/>
                <a:cs typeface="Calibri"/>
              </a:defRPr>
            </a:defPPr>
          </a:lstStyle>
          <a:p xmlns:a="http://schemas.openxmlformats.org/drawingml/2006/main">
            <a:pPr>
              <a:buNone/>
              <a:defRPr sz="2800" b="1">
                <a:solidFill>
                  <a:srgbClr val="142A4A"/>
                </a:solidFill>
                <a:latin typeface="Calibri"/>
                <a:ea typeface="Calibri"/>
                <a:cs typeface="Calibri"/>
              </a:defRPr>
            </a:pPr>
            <a:r>
              <a:rPr sz="2800" b="1">
                <a:solidFill>
                  <a:srgbClr val="142A4A"/>
                </a:solidFill>
                <a:latin typeface="Calibri"/>
                <a:ea typeface="Calibri"/>
                <a:cs typeface="Calibri"/>
              </a:rPr>
              <a:t>References and experiment records</a:t>
            </a:r>
            <a:endParaRPr/>
          </a:p>
        </p:txBody>
      </p:sp>
      <p:sp>
        <p:nvSpPr>
          <p:cNvPr id="3" name="Rounded Rectangle 2">
            <a:extLst xmlns:a="http://schemas.openxmlformats.org/drawingml/2006/main">
              <a:ext uri="{FF2B5EF4-FFF2-40B4-BE49-F238E27FC236}">
                <a16:creationId xmlns:a16="http://schemas.microsoft.com/office/drawing/2014/main" id="{43743A6E-35BB-7C06-ABDE-A6CF004945A3}"/>
              </a:ext>
            </a:extLst>
          </p:cNvPr>
          <p:cNvSpPr>
            <a:spLocks xmlns:a="http://schemas.openxmlformats.org/drawingml/2006/main" noGrp="1"/>
          </p:cNvSpPr>
          <p:nvPr/>
        </p:nvSpPr>
        <p:spPr>
          <a:xfrm xmlns:a="http://schemas.openxmlformats.org/drawingml/2006/main">
            <a:off x="731519" y="1325880"/>
            <a:ext cx="10687330" cy="3959798"/>
          </a:xfrm>
          <a:prstGeom xmlns:a="http://schemas.openxmlformats.org/drawingml/2006/main" prst="roundRect">
            <a:avLst/>
          </a:prstGeom>
          <a:solidFill xmlns:a="http://schemas.openxmlformats.org/drawingml/2006/main">
            <a:srgbClr val="F2F6FA"/>
          </a:solidFill>
          <a:ln xmlns:a="http://schemas.openxmlformats.org/drawingml/2006/main">
            <a:solidFill>
              <a:srgbClr val="D2DC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C4C530C1-0558-30FF-9E2E-1606BF0DDA5B}"/>
              </a:ext>
            </a:extLst>
          </p:cNvPr>
          <p:cNvSpPr>
            <a:spLocks xmlns:a="http://schemas.openxmlformats.org/drawingml/2006/main" noGrp="1"/>
          </p:cNvSpPr>
          <p:nvPr/>
        </p:nvSpPr>
        <p:spPr>
          <a:xfrm xmlns:a="http://schemas.openxmlformats.org/drawingml/2006/main">
            <a:off x="0" y="6656832"/>
            <a:ext cx="12191695" cy="201168"/>
          </a:xfrm>
          <a:prstGeom xmlns:a="http://schemas.openxmlformats.org/drawingml/2006/main" prst="rect">
            <a:avLst/>
          </a:prstGeom>
          <a:solidFill xmlns:a="http://schemas.openxmlformats.org/drawingml/2006/main">
            <a:srgbClr val="142A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E8C922B9-7FB6-F5D1-5CB6-EFB4DF825650}"/>
              </a:ext>
            </a:extLst>
          </p:cNvPr>
          <p:cNvSpPr>
            <a:spLocks xmlns:a="http://schemas.openxmlformats.org/drawingml/2006/main" noGrp="1"/>
          </p:cNvSpPr>
          <p:nvPr/>
        </p:nvSpPr>
        <p:spPr>
          <a:xfrm xmlns:a="http://schemas.openxmlformats.org/drawingml/2006/main">
            <a:off x="11247120" y="6400800"/>
            <a:ext cx="141287" cy="1524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000">
                <a:solidFill>
                  <a:srgbClr val="5F6973"/>
                </a:solidFill>
                <a:latin typeface="Calibri"/>
                <a:ea typeface="Calibri"/>
                <a:cs typeface="Calibri"/>
              </a:defRPr>
            </a:defPPr>
          </a:lstStyle>
          <a:p xmlns:a="http://schemas.openxmlformats.org/drawingml/2006/main">
            <a:pPr>
              <a:buNone/>
              <a:defRPr sz="1000">
                <a:solidFill>
                  <a:srgbClr val="5F6973"/>
                </a:solidFill>
                <a:latin typeface="Calibri"/>
                <a:ea typeface="Calibri"/>
                <a:cs typeface="Calibri"/>
              </a:defRPr>
            </a:pPr>
            <a:r>
              <a:rPr sz="1000">
                <a:solidFill>
                  <a:srgbClr val="5F6973"/>
                </a:solidFill>
                <a:latin typeface="Calibri"/>
                <a:ea typeface="Calibri"/>
                <a:cs typeface="Calibri"/>
              </a:rPr>
              <a:t>18</a:t>
            </a:r>
          </a:p>
        </p:txBody>
      </p:sp>
      <p:sp>
        <p:nvSpPr>
          <p:cNvPr id="11" name="AI4I 2020 Predictive Maintenance Dataset">
            <a:extLst xmlns:a="http://schemas.openxmlformats.org/drawingml/2006/main">
              <a:ext uri="{FF2B5EF4-FFF2-40B4-BE49-F238E27FC236}">
                <a16:creationId xmlns:a16="http://schemas.microsoft.com/office/drawing/2014/main" id="{3114191D-903F-453C-9426-061094CAA8B3}"/>
              </a:ext>
            </a:extLst>
          </p:cNvPr>
          <p:cNvSpPr>
            <a:spLocks xmlns:a="http://schemas.openxmlformats.org/drawingml/2006/main" noGrp="1"/>
          </p:cNvSpPr>
          <p:nvPr/>
        </p:nvSpPr>
        <p:spPr>
          <a:xfrm xmlns:a="http://schemas.openxmlformats.org/drawingml/2006/main">
            <a:off x="1000125" y="1638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142A4A"/>
                </a:solidFill>
                <a:latin typeface="Calibri"/>
                <a:ea typeface="Calibri"/>
                <a:cs typeface="Calibri"/>
              </a:defRPr>
            </a:defPPr>
          </a:lstStyle>
          <a:p xmlns:a="http://schemas.openxmlformats.org/drawingml/2006/main">
            <a:pPr algn="l">
              <a:defRPr sz="1900" b="1">
                <a:solidFill>
                  <a:srgbClr val="142A4A"/>
                </a:solidFill>
                <a:latin typeface="Calibri"/>
                <a:ea typeface="Calibri"/>
                <a:cs typeface="Calibri"/>
              </a:defRPr>
            </a:pPr>
            <a:r>
              <a:rPr sz="1900" b="1">
                <a:solidFill>
                  <a:srgbClr val="142A4A"/>
                </a:solidFill>
                <a:latin typeface="Calibri"/>
                <a:ea typeface="Calibri"/>
                <a:cs typeface="Calibri"/>
              </a:rPr>
              <a:t>AI4I 2020 Predictive Maintenance Dataset</a:t>
            </a:r>
          </a:p>
        </p:txBody>
      </p:sp>
      <p:sp>
        <p:nvSpPr>
          <p:cNvPr id="12" name="UCI Machine Learning Repository (2020)&#10;DOI: 10.244">
            <a:extLst xmlns:a="http://schemas.openxmlformats.org/drawingml/2006/main">
              <a:ext uri="{FF2B5EF4-FFF2-40B4-BE49-F238E27FC236}">
                <a16:creationId xmlns:a16="http://schemas.microsoft.com/office/drawing/2014/main" id="{C3B423FD-DF82-41E2-B37D-B2F2D3919FB3}"/>
              </a:ext>
            </a:extLst>
          </p:cNvPr>
          <p:cNvSpPr>
            <a:spLocks xmlns:a="http://schemas.openxmlformats.org/drawingml/2006/main" noGrp="1"/>
          </p:cNvSpPr>
          <p:nvPr/>
        </p:nvSpPr>
        <p:spPr>
          <a:xfrm xmlns:a="http://schemas.openxmlformats.org/drawingml/2006/main">
            <a:off x="1000125" y="2076450"/>
            <a:ext cx="1000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32323"/>
                </a:solidFill>
                <a:latin typeface="Calibri"/>
                <a:ea typeface="Calibri"/>
                <a:cs typeface="Calibri"/>
              </a:defRPr>
            </a:defPPr>
          </a:lstStyle>
          <a:p xmlns:a="http://schemas.openxmlformats.org/drawingml/2006/main">
            <a:pPr algn="l">
              <a:defRPr sz="1650" b="0">
                <a:solidFill>
                  <a:srgbClr val="232323"/>
                </a:solidFill>
                <a:latin typeface="Calibri"/>
                <a:ea typeface="Calibri"/>
                <a:cs typeface="Calibri"/>
              </a:defRPr>
            </a:pPr>
            <a:r>
              <a:rPr sz="1650" b="0">
                <a:solidFill>
                  <a:srgbClr val="232323"/>
                </a:solidFill>
                <a:latin typeface="Calibri"/>
                <a:ea typeface="Calibri"/>
                <a:cs typeface="Calibri"/>
              </a:rPr>
              <a:t>UCI Machine Learning Repository (2020)</a:t>
            </a:r>
          </a:p>
          <a:p xmlns:a="http://schemas.openxmlformats.org/drawingml/2006/main">
            <a:pPr algn="l">
              <a:defRPr sz="1650" b="0">
                <a:solidFill>
                  <a:srgbClr val="232323"/>
                </a:solidFill>
                <a:latin typeface="Calibri"/>
                <a:ea typeface="Calibri"/>
                <a:cs typeface="Calibri"/>
              </a:defRPr>
            </a:pPr>
            <a:r>
              <a:rPr sz="1650" b="0">
                <a:solidFill>
                  <a:srgbClr val="232323"/>
                </a:solidFill>
                <a:latin typeface="Calibri"/>
                <a:ea typeface="Calibri"/>
                <a:cs typeface="Calibri"/>
              </a:rPr>
              <a:t>DOI: 10.24432/C5HS5C</a:t>
            </a:r>
          </a:p>
        </p:txBody>
      </p:sp>
      <p:sp>
        <p:nvSpPr>
          <p:cNvPr id="13" name="τ-bench: Tool-Agent-User Interaction in Real-World">
            <a:extLst xmlns:a="http://schemas.openxmlformats.org/drawingml/2006/main">
              <a:ext uri="{FF2B5EF4-FFF2-40B4-BE49-F238E27FC236}">
                <a16:creationId xmlns:a16="http://schemas.microsoft.com/office/drawing/2014/main" id="{8F503E69-1AE9-4A44-8DFB-A8F218F27DF7}"/>
              </a:ext>
            </a:extLst>
          </p:cNvPr>
          <p:cNvSpPr>
            <a:spLocks xmlns:a="http://schemas.openxmlformats.org/drawingml/2006/main" noGrp="1"/>
          </p:cNvSpPr>
          <p:nvPr/>
        </p:nvSpPr>
        <p:spPr>
          <a:xfrm xmlns:a="http://schemas.openxmlformats.org/drawingml/2006/main">
            <a:off x="1000125" y="29337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142A4A"/>
                </a:solidFill>
                <a:latin typeface="Calibri"/>
                <a:ea typeface="Calibri"/>
                <a:cs typeface="Calibri"/>
              </a:defRPr>
            </a:defPPr>
          </a:lstStyle>
          <a:p xmlns:a="http://schemas.openxmlformats.org/drawingml/2006/main">
            <a:pPr algn="l">
              <a:defRPr sz="1900" b="1">
                <a:solidFill>
                  <a:srgbClr val="142A4A"/>
                </a:solidFill>
                <a:latin typeface="Calibri"/>
                <a:ea typeface="Calibri"/>
                <a:cs typeface="Calibri"/>
              </a:defRPr>
            </a:pPr>
            <a:r>
              <a:rPr sz="1900" b="1">
                <a:solidFill>
                  <a:srgbClr val="142A4A"/>
                </a:solidFill>
                <a:latin typeface="Calibri"/>
                <a:ea typeface="Calibri"/>
                <a:cs typeface="Calibri"/>
              </a:rPr>
              <a:t>τ-bench: Tool-Agent-User Interaction in Real-World Domains</a:t>
            </a:r>
          </a:p>
        </p:txBody>
      </p:sp>
      <p:sp>
        <p:nvSpPr>
          <p:cNvPr id="14" name="Yao, Shinn, Razavi and Narasimhan (2024)&#10;arXiv:240">
            <a:extLst xmlns:a="http://schemas.openxmlformats.org/drawingml/2006/main">
              <a:ext uri="{FF2B5EF4-FFF2-40B4-BE49-F238E27FC236}">
                <a16:creationId xmlns:a16="http://schemas.microsoft.com/office/drawing/2014/main" id="{E58982DC-C062-4DAD-9B00-5CB8D9AC0A2E}"/>
              </a:ext>
            </a:extLst>
          </p:cNvPr>
          <p:cNvSpPr>
            <a:spLocks xmlns:a="http://schemas.openxmlformats.org/drawingml/2006/main" noGrp="1"/>
          </p:cNvSpPr>
          <p:nvPr/>
        </p:nvSpPr>
        <p:spPr>
          <a:xfrm xmlns:a="http://schemas.openxmlformats.org/drawingml/2006/main">
            <a:off x="1000125" y="3371850"/>
            <a:ext cx="1000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32323"/>
                </a:solidFill>
                <a:latin typeface="Calibri"/>
                <a:ea typeface="Calibri"/>
                <a:cs typeface="Calibri"/>
              </a:defRPr>
            </a:defPPr>
          </a:lstStyle>
          <a:p xmlns:a="http://schemas.openxmlformats.org/drawingml/2006/main">
            <a:pPr algn="l">
              <a:defRPr sz="1650" b="0">
                <a:solidFill>
                  <a:srgbClr val="232323"/>
                </a:solidFill>
                <a:latin typeface="Calibri"/>
                <a:ea typeface="Calibri"/>
                <a:cs typeface="Calibri"/>
              </a:defRPr>
            </a:pPr>
            <a:r>
              <a:rPr sz="1650" b="0">
                <a:solidFill>
                  <a:srgbClr val="232323"/>
                </a:solidFill>
                <a:latin typeface="Calibri"/>
                <a:ea typeface="Calibri"/>
                <a:cs typeface="Calibri"/>
              </a:rPr>
              <a:t>Yao, Shinn, Razavi and Narasimhan (2024)</a:t>
            </a:r>
          </a:p>
          <a:p xmlns:a="http://schemas.openxmlformats.org/drawingml/2006/main">
            <a:pPr algn="l">
              <a:defRPr sz="1650" b="0">
                <a:solidFill>
                  <a:srgbClr val="232323"/>
                </a:solidFill>
                <a:latin typeface="Calibri"/>
                <a:ea typeface="Calibri"/>
                <a:cs typeface="Calibri"/>
              </a:defRPr>
            </a:pPr>
            <a:r>
              <a:rPr sz="1650" b="0">
                <a:solidFill>
                  <a:srgbClr val="232323"/>
                </a:solidFill>
                <a:latin typeface="Calibri"/>
                <a:ea typeface="Calibri"/>
                <a:cs typeface="Calibri"/>
              </a:rPr>
              <a:t>arXiv:2406.12045</a:t>
            </a:r>
          </a:p>
        </p:txBody>
      </p:sp>
      <p:sp>
        <p:nvSpPr>
          <p:cNvPr id="15" name="Project experiment records">
            <a:extLst xmlns:a="http://schemas.openxmlformats.org/drawingml/2006/main">
              <a:ext uri="{FF2B5EF4-FFF2-40B4-BE49-F238E27FC236}">
                <a16:creationId xmlns:a16="http://schemas.microsoft.com/office/drawing/2014/main" id="{4D960BDD-0E1F-4A76-9E93-55B8AB4C8FC6}"/>
              </a:ext>
            </a:extLst>
          </p:cNvPr>
          <p:cNvSpPr>
            <a:spLocks xmlns:a="http://schemas.openxmlformats.org/drawingml/2006/main" noGrp="1"/>
          </p:cNvSpPr>
          <p:nvPr/>
        </p:nvSpPr>
        <p:spPr>
          <a:xfrm xmlns:a="http://schemas.openxmlformats.org/drawingml/2006/main">
            <a:off x="1000125" y="42291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142A4A"/>
                </a:solidFill>
                <a:latin typeface="Calibri"/>
                <a:ea typeface="Calibri"/>
                <a:cs typeface="Calibri"/>
              </a:defRPr>
            </a:defPPr>
          </a:lstStyle>
          <a:p xmlns:a="http://schemas.openxmlformats.org/drawingml/2006/main">
            <a:pPr algn="l">
              <a:defRPr sz="1900" b="1">
                <a:solidFill>
                  <a:srgbClr val="142A4A"/>
                </a:solidFill>
                <a:latin typeface="Calibri"/>
                <a:ea typeface="Calibri"/>
                <a:cs typeface="Calibri"/>
              </a:defRPr>
            </a:pPr>
            <a:r>
              <a:rPr sz="1900" b="1">
                <a:solidFill>
                  <a:srgbClr val="142A4A"/>
                </a:solidFill>
                <a:latin typeface="Calibri"/>
                <a:ea typeface="Calibri"/>
                <a:cs typeface="Calibri"/>
              </a:rPr>
              <a:t>Project experiment records</a:t>
            </a:r>
          </a:p>
        </p:txBody>
      </p:sp>
      <p:sp>
        <p:nvSpPr>
          <p:cNvPr id="16" name="Saved model metadata and the 2,000-record test spl">
            <a:extLst xmlns:a="http://schemas.openxmlformats.org/drawingml/2006/main">
              <a:ext uri="{FF2B5EF4-FFF2-40B4-BE49-F238E27FC236}">
                <a16:creationId xmlns:a16="http://schemas.microsoft.com/office/drawing/2014/main" id="{0BC654B6-8AF1-42F9-A41E-036777EEE2C4}"/>
              </a:ext>
            </a:extLst>
          </p:cNvPr>
          <p:cNvSpPr>
            <a:spLocks xmlns:a="http://schemas.openxmlformats.org/drawingml/2006/main" noGrp="1"/>
          </p:cNvSpPr>
          <p:nvPr/>
        </p:nvSpPr>
        <p:spPr>
          <a:xfrm xmlns:a="http://schemas.openxmlformats.org/drawingml/2006/main">
            <a:off x="1000125" y="4667250"/>
            <a:ext cx="1000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32323"/>
                </a:solidFill>
                <a:latin typeface="Calibri"/>
                <a:ea typeface="Calibri"/>
                <a:cs typeface="Calibri"/>
              </a:defRPr>
            </a:defPPr>
          </a:lstStyle>
          <a:p xmlns:a="http://schemas.openxmlformats.org/drawingml/2006/main">
            <a:pPr algn="l">
              <a:defRPr sz="1650" b="0">
                <a:solidFill>
                  <a:srgbClr val="232323"/>
                </a:solidFill>
                <a:latin typeface="Calibri"/>
                <a:ea typeface="Calibri"/>
                <a:cs typeface="Calibri"/>
              </a:defRPr>
            </a:pPr>
            <a:r>
              <a:rPr sz="1650" b="0">
                <a:solidFill>
                  <a:srgbClr val="232323"/>
                </a:solidFill>
                <a:latin typeface="Calibri"/>
                <a:ea typeface="Calibri"/>
                <a:cs typeface="Calibri"/>
              </a:rPr>
              <a:t>Saved model metadata and the 2,000-record test split</a:t>
            </a:r>
          </a:p>
          <a:p xmlns:a="http://schemas.openxmlformats.org/drawingml/2006/main">
            <a:pPr algn="l">
              <a:defRPr sz="1650" b="0">
                <a:solidFill>
                  <a:srgbClr val="232323"/>
                </a:solidFill>
                <a:latin typeface="Calibri"/>
                <a:ea typeface="Calibri"/>
                <a:cs typeface="Calibri"/>
              </a:defRPr>
            </a:pPr>
            <a:r>
              <a:rPr sz="1650" b="0">
                <a:solidFill>
                  <a:srgbClr val="232323"/>
                </a:solidFill>
                <a:latin typeface="Calibri"/>
                <a:ea typeface="Calibri"/>
                <a:cs typeface="Calibri"/>
              </a:rPr>
              <a:t>GPT-4.1 mini evaluation: 60 tasks and 180 trials, October 17, 2026</a:t>
            </a:r>
          </a:p>
        </p:txBody>
      </p:sp>
      <p:sp>
        <p:nvSpPr>
          <p:cNvPr id="17" name="Questions">
            <a:extLst xmlns:a="http://schemas.openxmlformats.org/drawingml/2006/main">
              <a:ext uri="{FF2B5EF4-FFF2-40B4-BE49-F238E27FC236}">
                <a16:creationId xmlns:a16="http://schemas.microsoft.com/office/drawing/2014/main" id="{A863FF2C-2E4E-4C61-B2B0-D19772BB1061}"/>
              </a:ext>
            </a:extLst>
          </p:cNvPr>
          <p:cNvSpPr>
            <a:spLocks xmlns:a="http://schemas.openxmlformats.org/drawingml/2006/main" noGrp="1"/>
          </p:cNvSpPr>
          <p:nvPr/>
        </p:nvSpPr>
        <p:spPr>
          <a:xfrm xmlns:a="http://schemas.openxmlformats.org/drawingml/2006/main">
            <a:off x="914400" y="59531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F66AD"/>
                </a:solidFill>
                <a:latin typeface="Calibri"/>
                <a:ea typeface="Calibri"/>
                <a:cs typeface="Calibri"/>
              </a:defRPr>
            </a:defPPr>
          </a:lstStyle>
          <a:p xmlns:a="http://schemas.openxmlformats.org/drawingml/2006/main">
            <a:pPr algn="l">
              <a:defRPr sz="2100" b="1">
                <a:solidFill>
                  <a:srgbClr val="2F66AD"/>
                </a:solidFill>
                <a:latin typeface="Calibri"/>
                <a:ea typeface="Calibri"/>
                <a:cs typeface="Calibri"/>
              </a:defRPr>
            </a:pPr>
            <a:r>
              <a:rPr sz="2100" b="1">
                <a:solidFill>
                  <a:srgbClr val="2F66AD"/>
                </a:solidFill>
                <a:latin typeface="Calibri"/>
                <a:ea typeface="Calibri"/>
                <a:cs typeface="Calibri"/>
              </a:rPr>
              <a:t>Questions</a:t>
            </a:r>
          </a:p>
        </p:txBody>
      </p:sp>
    </p:spTree>
    <p:extLst>
      <p:ext uri="{BB962C8B-B14F-4D97-AF65-F5344CB8AC3E}">
        <p14:creationId xmlns:p14="http://schemas.microsoft.com/office/powerpoint/2010/main" val="336852296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2026-10-17T18:35:59.6460000Z</dcterms:created>
  <dcterms:modified xsi:type="dcterms:W3CDTF">2026-10-17T18:35:59.6460000Z</dcterms:modified>
</coreProperties>
</file>